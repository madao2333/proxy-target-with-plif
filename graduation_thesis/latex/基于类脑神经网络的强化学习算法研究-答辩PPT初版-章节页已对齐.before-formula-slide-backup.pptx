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6" r:id="rId3"/>
    <p:sldMasterId id="2147483669" r:id="rId4"/>
  </p:sldMasterIdLst>
  <p:notesMasterIdLst>
    <p:notesMasterId r:id="rId6"/>
  </p:notesMasterIdLst>
  <p:sldIdLst>
    <p:sldId id="289" r:id="rId5"/>
    <p:sldId id="257" r:id="rId7"/>
    <p:sldId id="290" r:id="rId8"/>
    <p:sldId id="4772" r:id="rId9"/>
    <p:sldId id="4774" r:id="rId10"/>
    <p:sldId id="4746" r:id="rId11"/>
    <p:sldId id="4786" r:id="rId12"/>
    <p:sldId id="4787" r:id="rId13"/>
    <p:sldId id="4788" r:id="rId14"/>
    <p:sldId id="4789" r:id="rId15"/>
    <p:sldId id="4758" r:id="rId16"/>
    <p:sldId id="4777" r:id="rId17"/>
    <p:sldId id="4779" r:id="rId18"/>
    <p:sldId id="4784" r:id="rId19"/>
    <p:sldId id="4783" r:id="rId20"/>
    <p:sldId id="4748" r:id="rId21"/>
    <p:sldId id="4762" r:id="rId22"/>
    <p:sldId id="4763" r:id="rId23"/>
    <p:sldId id="4764" r:id="rId24"/>
    <p:sldId id="4765" r:id="rId25"/>
    <p:sldId id="4766" r:id="rId26"/>
    <p:sldId id="4785" r:id="rId27"/>
    <p:sldId id="4767" r:id="rId28"/>
    <p:sldId id="4750" r:id="rId29"/>
    <p:sldId id="4790" r:id="rId30"/>
    <p:sldId id="4791" r:id="rId31"/>
    <p:sldId id="4792" r:id="rId32"/>
    <p:sldId id="4793" r:id="rId33"/>
    <p:sldId id="4769" r:id="rId34"/>
  </p:sldIdLst>
  <p:sldSz cx="12192000" cy="6858000"/>
  <p:notesSz cx="6858000" cy="9144000"/>
  <p:custDataLst>
    <p:tags r:id="rId3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F7FC"/>
    <a:srgbClr val="005DA2"/>
    <a:srgbClr val="0070C0"/>
    <a:srgbClr val="00467A"/>
    <a:srgbClr val="E6E6E6"/>
    <a:srgbClr val="F15F24"/>
    <a:srgbClr val="E62D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54" d="100"/>
          <a:sy n="54" d="100"/>
        </p:scale>
        <p:origin x="918" y="60"/>
      </p:cViewPr>
      <p:guideLst>
        <p:guide orient="horz" pos="220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ableStyles" Target="tableStyles.xml"/><Relationship Id="rId38" Type="http://schemas.openxmlformats.org/officeDocument/2006/relationships/tags" Target="tags/tag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5C74421-7DCD-4C8D-83B1-2DD55EC59F2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AD8B01-7A3C-40BC-ACCB-ED9631AA4F2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5E8DB0-55DC-4221-A99C-988BCD133B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5E8DB0-55DC-4221-A99C-988BCD133B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5E8DB0-55DC-4221-A99C-988BCD133B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5E8DB0-55DC-4221-A99C-988BCD133B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5E8DB0-55DC-4221-A99C-988BCD133B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A5E8DB0-55DC-4221-A99C-988BCD133BF3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1499AD4-E722-484B-9751-AA89CAA54D82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4C56-F4BD-4C5C-A7E8-742C07626D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27A4E-68D6-44C8-89A5-DB6B15B95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4C56-F4BD-4C5C-A7E8-742C07626D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27A4E-68D6-44C8-89A5-DB6B15B95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644C56-F4BD-4C5C-A7E8-742C07626D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E27A4E-68D6-44C8-89A5-DB6B15B9563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4"/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80C882-A448-4391-8676-F5947BC890DB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9DB73F-1E62-4448-A8B4-8FF89C1E191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1557" t="31222" r="15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/>
          <p:cNvPicPr>
            <a:picLocks noChangeAspect="1"/>
          </p:cNvPicPr>
          <p:nvPr userDrawn="1"/>
        </p:nvPicPr>
        <p:blipFill rotWithShape="1">
          <a:blip r:embed="rId2"/>
          <a:srcRect l="1557" t="31222" r="155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F8029C-151A-48BC-B67C-8922ECF5D4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3DF67D-0B83-4C59-AD06-564CAA773C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F8029C-151A-48BC-B67C-8922ECF5D4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3DF67D-0B83-4C59-AD06-564CAA773C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F8029C-151A-48BC-B67C-8922ECF5D4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3DF67D-0B83-4C59-AD06-564CAA773C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F8029C-151A-48BC-B67C-8922ECF5D4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3DF67D-0B83-4C59-AD06-564CAA773C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F8029C-151A-48BC-B67C-8922ECF5D4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3DF67D-0B83-4C59-AD06-564CAA773C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AF8029C-151A-48BC-B67C-8922ECF5D488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D3DF67D-0B83-4C59-AD06-564CAA773C0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7A775F-4E7C-4FCD-A6F2-7AA01A5C996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41FDC4-C78D-40ED-9A94-247FD0F6722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sp>
        <p:nvSpPr>
          <p:cNvPr id="5" name="文本框 32"/>
          <p:cNvSpPr txBox="1"/>
          <p:nvPr userDrawn="1"/>
        </p:nvSpPr>
        <p:spPr>
          <a:xfrm>
            <a:off x="353633" y="343462"/>
            <a:ext cx="2573094" cy="379441"/>
          </a:xfrm>
          <a:prstGeom prst="rect">
            <a:avLst/>
          </a:prstGeom>
          <a:noFill/>
        </p:spPr>
        <p:txBody>
          <a:bodyPr wrap="none" lIns="91417" tIns="45709" rIns="91417" bIns="45709" rtlCol="0">
            <a:spAutoFit/>
          </a:bodyPr>
          <a:lstStyle/>
          <a:p>
            <a:pPr defTabSz="914400"/>
            <a:r>
              <a:rPr lang="zh-CN" altLang="en-US" sz="1865" dirty="0">
                <a:solidFill>
                  <a:schemeClr val="tx1">
                    <a:lumMod val="50000"/>
                    <a:lumOff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点击添加相关标题文字</a:t>
            </a:r>
            <a:endParaRPr lang="zh-CN" altLang="en-US" sz="1865" dirty="0">
              <a:solidFill>
                <a:schemeClr val="tx1">
                  <a:lumMod val="50000"/>
                  <a:lumOff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6" name="文本框 33"/>
          <p:cNvSpPr txBox="1"/>
          <p:nvPr userDrawn="1"/>
        </p:nvSpPr>
        <p:spPr>
          <a:xfrm>
            <a:off x="353634" y="621032"/>
            <a:ext cx="2125087" cy="297432"/>
          </a:xfrm>
          <a:prstGeom prst="rect">
            <a:avLst/>
          </a:prstGeom>
          <a:noFill/>
        </p:spPr>
        <p:txBody>
          <a:bodyPr wrap="none" lIns="91417" tIns="45709" rIns="91417" bIns="45709" rtlCol="0">
            <a:spAutoFit/>
          </a:bodyPr>
          <a:lstStyle/>
          <a:p>
            <a:pPr defTabSz="914400"/>
            <a:r>
              <a:rPr lang="en-US" altLang="zh-CN" sz="1335" dirty="0">
                <a:solidFill>
                  <a:schemeClr val="tx1">
                    <a:lumMod val="50000"/>
                    <a:lumOff val="50000"/>
                  </a:schemeClr>
                </a:solidFill>
                <a:cs typeface="+mn-ea"/>
                <a:sym typeface="+mn-lt"/>
              </a:rPr>
              <a:t>ADD RELATED TITLE WORDS</a:t>
            </a:r>
            <a:endParaRPr lang="zh-CN" altLang="en-US" sz="1335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644C56-F4BD-4C5C-A7E8-742C07626DA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E27A4E-68D6-44C8-89A5-DB6B15B9563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390" y="365781"/>
            <a:ext cx="10515223" cy="1324635"/>
          </a:xfrm>
          <a:prstGeom prst="rect">
            <a:avLst/>
          </a:prstGeom>
        </p:spPr>
        <p:txBody>
          <a:bodyPr vert="horz" lIns="65032" tIns="32516" rIns="65032" bIns="32516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390" y="1825891"/>
            <a:ext cx="10515223" cy="4351728"/>
          </a:xfrm>
          <a:prstGeom prst="rect">
            <a:avLst/>
          </a:prstGeom>
        </p:spPr>
        <p:txBody>
          <a:bodyPr vert="horz" lIns="65032" tIns="32516" rIns="65032" bIns="32516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390" y="6356747"/>
            <a:ext cx="2742448" cy="364274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413" y="6356747"/>
            <a:ext cx="4115176" cy="364274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1166" y="6356747"/>
            <a:ext cx="2742448" cy="364274"/>
          </a:xfrm>
          <a:prstGeom prst="rect">
            <a:avLst/>
          </a:prstGeom>
        </p:spPr>
        <p:txBody>
          <a:bodyPr vert="horz" lIns="65032" tIns="32516" rIns="65032" bIns="32516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</p:sldLayoutIdLst>
  <p:txStyles>
    <p:titleStyle>
      <a:lvl1pPr algn="l" defTabSz="866775" rtl="0" eaLnBrk="1" latinLnBrk="0" hangingPunct="1">
        <a:lnSpc>
          <a:spcPct val="90000"/>
        </a:lnSpc>
        <a:spcBef>
          <a:spcPct val="0"/>
        </a:spcBef>
        <a:buNone/>
        <a:defRPr sz="41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16535" indent="-216535" algn="l" defTabSz="866775" rtl="0" eaLnBrk="1" latinLnBrk="0" hangingPunct="1">
        <a:lnSpc>
          <a:spcPct val="90000"/>
        </a:lnSpc>
        <a:spcBef>
          <a:spcPts val="95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1pPr>
      <a:lvl2pPr marL="65024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2265" kern="1200">
          <a:solidFill>
            <a:schemeClr val="tx1"/>
          </a:solidFill>
          <a:latin typeface="+mn-lt"/>
          <a:ea typeface="+mn-ea"/>
          <a:cs typeface="+mn-cs"/>
        </a:defRPr>
      </a:lvl2pPr>
      <a:lvl3pPr marL="108331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865" kern="1200">
          <a:solidFill>
            <a:schemeClr val="tx1"/>
          </a:solidFill>
          <a:latin typeface="+mn-lt"/>
          <a:ea typeface="+mn-ea"/>
          <a:cs typeface="+mn-cs"/>
        </a:defRPr>
      </a:lvl3pPr>
      <a:lvl4pPr marL="151701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4pPr>
      <a:lvl5pPr marL="195008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5pPr>
      <a:lvl6pPr marL="238379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6pPr>
      <a:lvl7pPr marL="281686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7pPr>
      <a:lvl8pPr marL="3250565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8pPr>
      <a:lvl9pPr marL="3684270" indent="-216535" algn="l" defTabSz="866775" rtl="0" eaLnBrk="1" latinLnBrk="0" hangingPunct="1">
        <a:lnSpc>
          <a:spcPct val="90000"/>
        </a:lnSpc>
        <a:spcBef>
          <a:spcPts val="475"/>
        </a:spcBef>
        <a:buFont typeface="Arial" panose="020B0604020202020204" pitchFamily="34" charset="0"/>
        <a:buChar char="•"/>
        <a:defRPr sz="17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1pPr>
      <a:lvl2pPr marL="433705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2pPr>
      <a:lvl3pPr marL="866775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3pPr>
      <a:lvl4pPr marL="1300480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4pPr>
      <a:lvl5pPr marL="1733550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5pPr>
      <a:lvl6pPr marL="2167255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6pPr>
      <a:lvl7pPr marL="2600325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7pPr>
      <a:lvl8pPr marL="3034030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8pPr>
      <a:lvl9pPr marL="3467100" algn="l" defTabSz="866775" rtl="0" eaLnBrk="1" latinLnBrk="0" hangingPunct="1">
        <a:defRPr sz="17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8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9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image" Target="../media/image12.png"/><Relationship Id="rId3" Type="http://schemas.openxmlformats.org/officeDocument/2006/relationships/image" Target="../media/image13.png"/><Relationship Id="rId4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7.xml"/><Relationship Id="rId4" Type="http://schemas.openxmlformats.org/officeDocument/2006/relationships/slide" Target="slide1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9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5.xml"/><Relationship Id="rId4" Type="http://schemas.openxmlformats.org/officeDocument/2006/relationships/slide" Target="slide1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image" Target="../media/image23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6.xml"/><Relationship Id="rId3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image" Target="../media/image27.png"/><Relationship Id="rId2" Type="http://schemas.openxmlformats.org/officeDocument/2006/relationships/image" Target="../media/image28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0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tags" Target="../tags/tag1.xml"/><Relationship Id="rId3" Type="http://schemas.openxmlformats.org/officeDocument/2006/relationships/tags" Target="../tags/tag2.xml"/><Relationship Id="rId4" Type="http://schemas.openxmlformats.org/officeDocument/2006/relationships/tags" Target="../tags/tag3.xml"/><Relationship Id="rId5" Type="http://schemas.openxmlformats.org/officeDocument/2006/relationships/tags" Target="../tags/tag4.xml"/><Relationship Id="rId6" Type="http://schemas.openxmlformats.org/officeDocument/2006/relationships/tags" Target="../tags/tag5.xml"/><Relationship Id="rId7" Type="http://schemas.openxmlformats.org/officeDocument/2006/relationships/tags" Target="../tags/tag6.xml"/><Relationship Id="rId8" Type="http://schemas.openxmlformats.org/officeDocument/2006/relationships/tags" Target="../tags/tag7.xml"/><Relationship Id="rId9" Type="http://schemas.openxmlformats.org/officeDocument/2006/relationships/tags" Target="../tags/tag8.xml"/><Relationship Id="rId10" Type="http://schemas.openxmlformats.org/officeDocument/2006/relationships/tags" Target="../tags/tag9.xml"/><Relationship Id="rId11" Type="http://schemas.openxmlformats.org/officeDocument/2006/relationships/tags" Target="../tags/tag10.xml"/><Relationship Id="rId12" Type="http://schemas.openxmlformats.org/officeDocument/2006/relationships/tags" Target="../tags/tag11.xml"/><Relationship Id="rId13" Type="http://schemas.openxmlformats.org/officeDocument/2006/relationships/tags" Target="../tags/tag12.xml"/><Relationship Id="rId14" Type="http://schemas.openxmlformats.org/officeDocument/2006/relationships/tags" Target="../tags/tag13.xml"/><Relationship Id="rId15" Type="http://schemas.openxmlformats.org/officeDocument/2006/relationships/tags" Target="../tags/tag14.xml"/><Relationship Id="rId16" Type="http://schemas.openxmlformats.org/officeDocument/2006/relationships/tags" Target="../tags/tag15.xml"/><Relationship Id="rId17" Type="http://schemas.openxmlformats.org/officeDocument/2006/relationships/tags" Target="../tags/tag16.xml"/><Relationship Id="rId18" Type="http://schemas.openxmlformats.org/officeDocument/2006/relationships/tags" Target="../tags/tag17.xml"/><Relationship Id="rId19" Type="http://schemas.openxmlformats.org/officeDocument/2006/relationships/tags" Target="../tags/tag18.xml"/><Relationship Id="rId20" Type="http://schemas.openxmlformats.org/officeDocument/2006/relationships/tags" Target="../tags/tag19.xml"/><Relationship Id="rId21" Type="http://schemas.openxmlformats.org/officeDocument/2006/relationships/tags" Target="../tags/tag20.xml"/><Relationship Id="rId22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0"/>
          <p:cNvSpPr txBox="1"/>
          <p:nvPr/>
        </p:nvSpPr>
        <p:spPr>
          <a:xfrm>
            <a:off x="2805366" y="2308383"/>
            <a:ext cx="6882173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sz="2700" b="1">
                <a:solidFill>
                  <a:srgbClr val="00528A"/>
                </a:solidFill>
                <a:latin typeface="方正正大黑简体"/>
              </a:rPr>
              <a:t>基于类脑神经网络的
强化学习算法研究</a:t>
            </a:r>
            <a:endParaRPr sz="2700" b="1">
              <a:solidFill>
                <a:srgbClr val="00528A"/>
              </a:solidFill>
              <a:latin typeface="方正正大黑简体"/>
            </a:endParaRPr>
          </a:p>
        </p:txBody>
      </p:sp>
      <p:sp>
        <p:nvSpPr>
          <p:cNvPr id="9" name="student-graduation-cap-shape_52041"/>
          <p:cNvSpPr>
            <a:spLocks noChangeAspect="1"/>
          </p:cNvSpPr>
          <p:nvPr/>
        </p:nvSpPr>
        <p:spPr bwMode="auto">
          <a:xfrm>
            <a:off x="4213653" y="4445425"/>
            <a:ext cx="332015" cy="350126"/>
          </a:xfrm>
          <a:custGeom>
            <a:avLst/>
            <a:gdLst>
              <a:gd name="connsiteX0" fmla="*/ 329990 w 574402"/>
              <a:gd name="connsiteY0" fmla="*/ 329823 h 605734"/>
              <a:gd name="connsiteX1" fmla="*/ 574402 w 574402"/>
              <a:gd name="connsiteY1" fmla="*/ 573910 h 605734"/>
              <a:gd name="connsiteX2" fmla="*/ 542536 w 574402"/>
              <a:gd name="connsiteY2" fmla="*/ 605734 h 605734"/>
              <a:gd name="connsiteX3" fmla="*/ 117603 w 574402"/>
              <a:gd name="connsiteY3" fmla="*/ 605734 h 605734"/>
              <a:gd name="connsiteX4" fmla="*/ 85737 w 574402"/>
              <a:gd name="connsiteY4" fmla="*/ 573910 h 605734"/>
              <a:gd name="connsiteX5" fmla="*/ 101192 w 574402"/>
              <a:gd name="connsiteY5" fmla="*/ 488782 h 605734"/>
              <a:gd name="connsiteX6" fmla="*/ 276614 w 574402"/>
              <a:gd name="connsiteY6" fmla="*/ 335710 h 605734"/>
              <a:gd name="connsiteX7" fmla="*/ 329990 w 574402"/>
              <a:gd name="connsiteY7" fmla="*/ 329823 h 605734"/>
              <a:gd name="connsiteX8" fmla="*/ 164945 w 574402"/>
              <a:gd name="connsiteY8" fmla="*/ 292282 h 605734"/>
              <a:gd name="connsiteX9" fmla="*/ 198571 w 574402"/>
              <a:gd name="connsiteY9" fmla="*/ 295781 h 605734"/>
              <a:gd name="connsiteX10" fmla="*/ 34104 w 574402"/>
              <a:gd name="connsiteY10" fmla="*/ 488736 h 605734"/>
              <a:gd name="connsiteX11" fmla="*/ 31873 w 574402"/>
              <a:gd name="connsiteY11" fmla="*/ 488736 h 605734"/>
              <a:gd name="connsiteX12" fmla="*/ 0 w 574402"/>
              <a:gd name="connsiteY12" fmla="*/ 456922 h 605734"/>
              <a:gd name="connsiteX13" fmla="*/ 164945 w 574402"/>
              <a:gd name="connsiteY13" fmla="*/ 292282 h 605734"/>
              <a:gd name="connsiteX14" fmla="*/ 157572 w 574402"/>
              <a:gd name="connsiteY14" fmla="*/ 38035 h 605734"/>
              <a:gd name="connsiteX15" fmla="*/ 133033 w 574402"/>
              <a:gd name="connsiteY15" fmla="*/ 133157 h 605734"/>
              <a:gd name="connsiteX16" fmla="*/ 157572 w 574402"/>
              <a:gd name="connsiteY16" fmla="*/ 228280 h 605734"/>
              <a:gd name="connsiteX17" fmla="*/ 69295 w 574402"/>
              <a:gd name="connsiteY17" fmla="*/ 133157 h 605734"/>
              <a:gd name="connsiteX18" fmla="*/ 157572 w 574402"/>
              <a:gd name="connsiteY18" fmla="*/ 38035 h 605734"/>
              <a:gd name="connsiteX19" fmla="*/ 329990 w 574402"/>
              <a:gd name="connsiteY19" fmla="*/ 0 h 605734"/>
              <a:gd name="connsiteX20" fmla="*/ 463332 w 574402"/>
              <a:gd name="connsiteY20" fmla="*/ 133166 h 605734"/>
              <a:gd name="connsiteX21" fmla="*/ 329990 w 574402"/>
              <a:gd name="connsiteY21" fmla="*/ 266173 h 605734"/>
              <a:gd name="connsiteX22" fmla="*/ 221341 w 574402"/>
              <a:gd name="connsiteY22" fmla="*/ 210011 h 605734"/>
              <a:gd name="connsiteX23" fmla="*/ 196807 w 574402"/>
              <a:gd name="connsiteY23" fmla="*/ 133166 h 605734"/>
              <a:gd name="connsiteX24" fmla="*/ 221341 w 574402"/>
              <a:gd name="connsiteY24" fmla="*/ 56162 h 605734"/>
              <a:gd name="connsiteX25" fmla="*/ 329990 w 574402"/>
              <a:gd name="connsiteY25" fmla="*/ 0 h 60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74402" h="605734">
                <a:moveTo>
                  <a:pt x="329990" y="329823"/>
                </a:moveTo>
                <a:cubicBezTo>
                  <a:pt x="464783" y="329823"/>
                  <a:pt x="574402" y="439296"/>
                  <a:pt x="574402" y="573910"/>
                </a:cubicBezTo>
                <a:cubicBezTo>
                  <a:pt x="574402" y="591413"/>
                  <a:pt x="560062" y="605734"/>
                  <a:pt x="542536" y="605734"/>
                </a:cubicBezTo>
                <a:lnTo>
                  <a:pt x="117603" y="605734"/>
                </a:lnTo>
                <a:cubicBezTo>
                  <a:pt x="100077" y="605734"/>
                  <a:pt x="85737" y="591413"/>
                  <a:pt x="85737" y="573910"/>
                </a:cubicBezTo>
                <a:cubicBezTo>
                  <a:pt x="85737" y="543996"/>
                  <a:pt x="91154" y="515196"/>
                  <a:pt x="101192" y="488782"/>
                </a:cubicBezTo>
                <a:cubicBezTo>
                  <a:pt x="129712" y="412246"/>
                  <a:pt x="195675" y="353850"/>
                  <a:pt x="276614" y="335710"/>
                </a:cubicBezTo>
                <a:cubicBezTo>
                  <a:pt x="293822" y="331892"/>
                  <a:pt x="311667" y="329823"/>
                  <a:pt x="329990" y="329823"/>
                </a:cubicBezTo>
                <a:close/>
                <a:moveTo>
                  <a:pt x="164945" y="292282"/>
                </a:moveTo>
                <a:cubicBezTo>
                  <a:pt x="176419" y="292282"/>
                  <a:pt x="187575" y="293395"/>
                  <a:pt x="198571" y="295781"/>
                </a:cubicBezTo>
                <a:cubicBezTo>
                  <a:pt x="119366" y="333164"/>
                  <a:pt x="58647" y="403314"/>
                  <a:pt x="34104" y="488736"/>
                </a:cubicBezTo>
                <a:lnTo>
                  <a:pt x="31873" y="488736"/>
                </a:lnTo>
                <a:cubicBezTo>
                  <a:pt x="14184" y="488736"/>
                  <a:pt x="0" y="474420"/>
                  <a:pt x="0" y="456922"/>
                </a:cubicBezTo>
                <a:cubicBezTo>
                  <a:pt x="0" y="366092"/>
                  <a:pt x="73946" y="292282"/>
                  <a:pt x="164945" y="292282"/>
                </a:cubicBezTo>
                <a:close/>
                <a:moveTo>
                  <a:pt x="157572" y="38035"/>
                </a:moveTo>
                <a:cubicBezTo>
                  <a:pt x="141956" y="66190"/>
                  <a:pt x="133033" y="98640"/>
                  <a:pt x="133033" y="133157"/>
                </a:cubicBezTo>
                <a:cubicBezTo>
                  <a:pt x="133033" y="167516"/>
                  <a:pt x="141956" y="199966"/>
                  <a:pt x="157572" y="228280"/>
                </a:cubicBezTo>
                <a:cubicBezTo>
                  <a:pt x="108335" y="224462"/>
                  <a:pt x="69295" y="183264"/>
                  <a:pt x="69295" y="133157"/>
                </a:cubicBezTo>
                <a:cubicBezTo>
                  <a:pt x="69295" y="82892"/>
                  <a:pt x="108335" y="41693"/>
                  <a:pt x="157572" y="38035"/>
                </a:cubicBezTo>
                <a:close/>
                <a:moveTo>
                  <a:pt x="329990" y="0"/>
                </a:moveTo>
                <a:cubicBezTo>
                  <a:pt x="403591" y="0"/>
                  <a:pt x="463332" y="59662"/>
                  <a:pt x="463332" y="133166"/>
                </a:cubicBezTo>
                <a:cubicBezTo>
                  <a:pt x="463332" y="206511"/>
                  <a:pt x="403591" y="266173"/>
                  <a:pt x="329990" y="266173"/>
                </a:cubicBezTo>
                <a:cubicBezTo>
                  <a:pt x="285224" y="266173"/>
                  <a:pt x="245556" y="244058"/>
                  <a:pt x="221341" y="210011"/>
                </a:cubicBezTo>
                <a:cubicBezTo>
                  <a:pt x="205888" y="188373"/>
                  <a:pt x="196807" y="161804"/>
                  <a:pt x="196807" y="133166"/>
                </a:cubicBezTo>
                <a:cubicBezTo>
                  <a:pt x="196807" y="104528"/>
                  <a:pt x="205888" y="77958"/>
                  <a:pt x="221341" y="56162"/>
                </a:cubicBezTo>
                <a:cubicBezTo>
                  <a:pt x="245556" y="22274"/>
                  <a:pt x="285224" y="0"/>
                  <a:pt x="329990" y="0"/>
                </a:cubicBezTo>
                <a:close/>
              </a:path>
            </a:pathLst>
          </a:custGeom>
          <a:solidFill>
            <a:srgbClr val="005DA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ker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91362" y="4445424"/>
            <a:ext cx="25481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sz="1100">
                <a:solidFill>
                  <a:srgbClr val="2A2A2A"/>
                </a:solidFill>
                <a:latin typeface="方正正粗黑简体"/>
              </a:rPr>
              <a:t>陈俊为</a:t>
            </a:r>
            <a:endParaRPr kumimoji="0" lang="zh-CN" altLang="en-US" sz="16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11" name="student-graduation-cap-shape_52041"/>
          <p:cNvSpPr>
            <a:spLocks noChangeAspect="1"/>
          </p:cNvSpPr>
          <p:nvPr/>
        </p:nvSpPr>
        <p:spPr bwMode="auto">
          <a:xfrm>
            <a:off x="4204596" y="5117659"/>
            <a:ext cx="350128" cy="309162"/>
          </a:xfrm>
          <a:custGeom>
            <a:avLst/>
            <a:gdLst>
              <a:gd name="connsiteX0" fmla="*/ 198438 w 331788"/>
              <a:gd name="connsiteY0" fmla="*/ 207244 h 292969"/>
              <a:gd name="connsiteX1" fmla="*/ 301626 w 331788"/>
              <a:gd name="connsiteY1" fmla="*/ 207244 h 292969"/>
              <a:gd name="connsiteX2" fmla="*/ 301626 w 331788"/>
              <a:gd name="connsiteY2" fmla="*/ 215182 h 292969"/>
              <a:gd name="connsiteX3" fmla="*/ 198438 w 331788"/>
              <a:gd name="connsiteY3" fmla="*/ 215182 h 292969"/>
              <a:gd name="connsiteX4" fmla="*/ 198438 w 331788"/>
              <a:gd name="connsiteY4" fmla="*/ 178669 h 292969"/>
              <a:gd name="connsiteX5" fmla="*/ 301626 w 331788"/>
              <a:gd name="connsiteY5" fmla="*/ 178669 h 292969"/>
              <a:gd name="connsiteX6" fmla="*/ 301626 w 331788"/>
              <a:gd name="connsiteY6" fmla="*/ 185019 h 292969"/>
              <a:gd name="connsiteX7" fmla="*/ 198438 w 331788"/>
              <a:gd name="connsiteY7" fmla="*/ 185019 h 292969"/>
              <a:gd name="connsiteX8" fmla="*/ 50800 w 331788"/>
              <a:gd name="connsiteY8" fmla="*/ 172319 h 292969"/>
              <a:gd name="connsiteX9" fmla="*/ 139700 w 331788"/>
              <a:gd name="connsiteY9" fmla="*/ 199306 h 292969"/>
              <a:gd name="connsiteX10" fmla="*/ 139700 w 331788"/>
              <a:gd name="connsiteY10" fmla="*/ 207244 h 292969"/>
              <a:gd name="connsiteX11" fmla="*/ 50800 w 331788"/>
              <a:gd name="connsiteY11" fmla="*/ 180256 h 292969"/>
              <a:gd name="connsiteX12" fmla="*/ 198438 w 331788"/>
              <a:gd name="connsiteY12" fmla="*/ 148506 h 292969"/>
              <a:gd name="connsiteX13" fmla="*/ 301626 w 331788"/>
              <a:gd name="connsiteY13" fmla="*/ 148506 h 292969"/>
              <a:gd name="connsiteX14" fmla="*/ 301626 w 331788"/>
              <a:gd name="connsiteY14" fmla="*/ 156444 h 292969"/>
              <a:gd name="connsiteX15" fmla="*/ 198438 w 331788"/>
              <a:gd name="connsiteY15" fmla="*/ 156444 h 292969"/>
              <a:gd name="connsiteX16" fmla="*/ 50800 w 331788"/>
              <a:gd name="connsiteY16" fmla="*/ 142156 h 292969"/>
              <a:gd name="connsiteX17" fmla="*/ 139700 w 331788"/>
              <a:gd name="connsiteY17" fmla="*/ 169143 h 292969"/>
              <a:gd name="connsiteX18" fmla="*/ 139700 w 331788"/>
              <a:gd name="connsiteY18" fmla="*/ 177081 h 292969"/>
              <a:gd name="connsiteX19" fmla="*/ 50800 w 331788"/>
              <a:gd name="connsiteY19" fmla="*/ 150093 h 292969"/>
              <a:gd name="connsiteX20" fmla="*/ 196850 w 331788"/>
              <a:gd name="connsiteY20" fmla="*/ 118344 h 292969"/>
              <a:gd name="connsiteX21" fmla="*/ 301625 w 331788"/>
              <a:gd name="connsiteY21" fmla="*/ 118344 h 292969"/>
              <a:gd name="connsiteX22" fmla="*/ 301625 w 331788"/>
              <a:gd name="connsiteY22" fmla="*/ 126282 h 292969"/>
              <a:gd name="connsiteX23" fmla="*/ 196850 w 331788"/>
              <a:gd name="connsiteY23" fmla="*/ 126282 h 292969"/>
              <a:gd name="connsiteX24" fmla="*/ 50800 w 331788"/>
              <a:gd name="connsiteY24" fmla="*/ 113581 h 292969"/>
              <a:gd name="connsiteX25" fmla="*/ 139700 w 331788"/>
              <a:gd name="connsiteY25" fmla="*/ 140568 h 292969"/>
              <a:gd name="connsiteX26" fmla="*/ 139700 w 331788"/>
              <a:gd name="connsiteY26" fmla="*/ 148506 h 292969"/>
              <a:gd name="connsiteX27" fmla="*/ 50800 w 331788"/>
              <a:gd name="connsiteY27" fmla="*/ 121518 h 292969"/>
              <a:gd name="connsiteX28" fmla="*/ 95250 w 331788"/>
              <a:gd name="connsiteY28" fmla="*/ 97706 h 292969"/>
              <a:gd name="connsiteX29" fmla="*/ 139700 w 331788"/>
              <a:gd name="connsiteY29" fmla="*/ 110406 h 292969"/>
              <a:gd name="connsiteX30" fmla="*/ 139700 w 331788"/>
              <a:gd name="connsiteY30" fmla="*/ 118344 h 292969"/>
              <a:gd name="connsiteX31" fmla="*/ 95250 w 331788"/>
              <a:gd name="connsiteY31" fmla="*/ 105643 h 292969"/>
              <a:gd name="connsiteX32" fmla="*/ 196850 w 331788"/>
              <a:gd name="connsiteY32" fmla="*/ 89769 h 292969"/>
              <a:gd name="connsiteX33" fmla="*/ 301625 w 331788"/>
              <a:gd name="connsiteY33" fmla="*/ 89769 h 292969"/>
              <a:gd name="connsiteX34" fmla="*/ 301625 w 331788"/>
              <a:gd name="connsiteY34" fmla="*/ 97707 h 292969"/>
              <a:gd name="connsiteX35" fmla="*/ 196850 w 331788"/>
              <a:gd name="connsiteY35" fmla="*/ 97707 h 292969"/>
              <a:gd name="connsiteX36" fmla="*/ 95250 w 331788"/>
              <a:gd name="connsiteY36" fmla="*/ 67544 h 292969"/>
              <a:gd name="connsiteX37" fmla="*/ 139700 w 331788"/>
              <a:gd name="connsiteY37" fmla="*/ 81831 h 292969"/>
              <a:gd name="connsiteX38" fmla="*/ 139700 w 331788"/>
              <a:gd name="connsiteY38" fmla="*/ 89769 h 292969"/>
              <a:gd name="connsiteX39" fmla="*/ 95250 w 331788"/>
              <a:gd name="connsiteY39" fmla="*/ 75481 h 292969"/>
              <a:gd name="connsiteX40" fmla="*/ 68263 w 331788"/>
              <a:gd name="connsiteY40" fmla="*/ 67544 h 292969"/>
              <a:gd name="connsiteX41" fmla="*/ 61913 w 331788"/>
              <a:gd name="connsiteY41" fmla="*/ 81832 h 292969"/>
              <a:gd name="connsiteX42" fmla="*/ 71438 w 331788"/>
              <a:gd name="connsiteY42" fmla="*/ 85007 h 292969"/>
              <a:gd name="connsiteX43" fmla="*/ 61913 w 331788"/>
              <a:gd name="connsiteY43" fmla="*/ 56431 h 292969"/>
              <a:gd name="connsiteX44" fmla="*/ 71438 w 331788"/>
              <a:gd name="connsiteY44" fmla="*/ 59606 h 292969"/>
              <a:gd name="connsiteX45" fmla="*/ 84138 w 331788"/>
              <a:gd name="connsiteY45" fmla="*/ 104056 h 292969"/>
              <a:gd name="connsiteX46" fmla="*/ 76200 w 331788"/>
              <a:gd name="connsiteY46" fmla="*/ 102468 h 292969"/>
              <a:gd name="connsiteX47" fmla="*/ 74613 w 331788"/>
              <a:gd name="connsiteY47" fmla="*/ 92943 h 292969"/>
              <a:gd name="connsiteX48" fmla="*/ 60325 w 331788"/>
              <a:gd name="connsiteY48" fmla="*/ 89768 h 292969"/>
              <a:gd name="connsiteX49" fmla="*/ 58737 w 331788"/>
              <a:gd name="connsiteY49" fmla="*/ 96118 h 292969"/>
              <a:gd name="connsiteX50" fmla="*/ 53975 w 331788"/>
              <a:gd name="connsiteY50" fmla="*/ 96118 h 292969"/>
              <a:gd name="connsiteX51" fmla="*/ 50800 w 331788"/>
              <a:gd name="connsiteY51" fmla="*/ 94531 h 292969"/>
              <a:gd name="connsiteX52" fmla="*/ 171450 w 331788"/>
              <a:gd name="connsiteY52" fmla="*/ 54844 h 292969"/>
              <a:gd name="connsiteX53" fmla="*/ 171450 w 331788"/>
              <a:gd name="connsiteY53" fmla="*/ 248519 h 292969"/>
              <a:gd name="connsiteX54" fmla="*/ 320675 w 331788"/>
              <a:gd name="connsiteY54" fmla="*/ 248519 h 292969"/>
              <a:gd name="connsiteX55" fmla="*/ 320675 w 331788"/>
              <a:gd name="connsiteY55" fmla="*/ 54844 h 292969"/>
              <a:gd name="connsiteX56" fmla="*/ 215900 w 331788"/>
              <a:gd name="connsiteY56" fmla="*/ 54844 h 292969"/>
              <a:gd name="connsiteX57" fmla="*/ 215900 w 331788"/>
              <a:gd name="connsiteY57" fmla="*/ 75481 h 292969"/>
              <a:gd name="connsiteX58" fmla="*/ 206375 w 331788"/>
              <a:gd name="connsiteY58" fmla="*/ 67544 h 292969"/>
              <a:gd name="connsiteX59" fmla="*/ 195262 w 331788"/>
              <a:gd name="connsiteY59" fmla="*/ 75481 h 292969"/>
              <a:gd name="connsiteX60" fmla="*/ 195262 w 331788"/>
              <a:gd name="connsiteY60" fmla="*/ 54844 h 292969"/>
              <a:gd name="connsiteX61" fmla="*/ 33338 w 331788"/>
              <a:gd name="connsiteY61" fmla="*/ 13569 h 292969"/>
              <a:gd name="connsiteX62" fmla="*/ 33338 w 331788"/>
              <a:gd name="connsiteY62" fmla="*/ 42144 h 292969"/>
              <a:gd name="connsiteX63" fmla="*/ 33338 w 331788"/>
              <a:gd name="connsiteY63" fmla="*/ 207244 h 292969"/>
              <a:gd name="connsiteX64" fmla="*/ 160338 w 331788"/>
              <a:gd name="connsiteY64" fmla="*/ 245344 h 292969"/>
              <a:gd name="connsiteX65" fmla="*/ 160338 w 331788"/>
              <a:gd name="connsiteY65" fmla="*/ 53256 h 292969"/>
              <a:gd name="connsiteX66" fmla="*/ 146050 w 331788"/>
              <a:gd name="connsiteY66" fmla="*/ 48494 h 292969"/>
              <a:gd name="connsiteX67" fmla="*/ 128588 w 331788"/>
              <a:gd name="connsiteY67" fmla="*/ 42144 h 292969"/>
              <a:gd name="connsiteX68" fmla="*/ 23329 w 331788"/>
              <a:gd name="connsiteY68" fmla="*/ 575 h 292969"/>
              <a:gd name="connsiteX69" fmla="*/ 28513 w 331788"/>
              <a:gd name="connsiteY69" fmla="*/ 575 h 292969"/>
              <a:gd name="connsiteX70" fmla="*/ 167190 w 331788"/>
              <a:gd name="connsiteY70" fmla="*/ 41975 h 292969"/>
              <a:gd name="connsiteX71" fmla="*/ 326604 w 331788"/>
              <a:gd name="connsiteY71" fmla="*/ 41975 h 292969"/>
              <a:gd name="connsiteX72" fmla="*/ 331788 w 331788"/>
              <a:gd name="connsiteY72" fmla="*/ 48444 h 292969"/>
              <a:gd name="connsiteX73" fmla="*/ 331788 w 331788"/>
              <a:gd name="connsiteY73" fmla="*/ 252862 h 292969"/>
              <a:gd name="connsiteX74" fmla="*/ 326604 w 331788"/>
              <a:gd name="connsiteY74" fmla="*/ 258037 h 292969"/>
              <a:gd name="connsiteX75" fmla="*/ 206072 w 331788"/>
              <a:gd name="connsiteY75" fmla="*/ 258037 h 292969"/>
              <a:gd name="connsiteX76" fmla="*/ 206072 w 331788"/>
              <a:gd name="connsiteY76" fmla="*/ 281325 h 292969"/>
              <a:gd name="connsiteX77" fmla="*/ 228104 w 331788"/>
              <a:gd name="connsiteY77" fmla="*/ 281325 h 292969"/>
              <a:gd name="connsiteX78" fmla="*/ 228104 w 331788"/>
              <a:gd name="connsiteY78" fmla="*/ 292969 h 292969"/>
              <a:gd name="connsiteX79" fmla="*/ 103684 w 331788"/>
              <a:gd name="connsiteY79" fmla="*/ 292969 h 292969"/>
              <a:gd name="connsiteX80" fmla="*/ 103684 w 331788"/>
              <a:gd name="connsiteY80" fmla="*/ 281325 h 292969"/>
              <a:gd name="connsiteX81" fmla="*/ 125716 w 331788"/>
              <a:gd name="connsiteY81" fmla="*/ 281325 h 292969"/>
              <a:gd name="connsiteX82" fmla="*/ 125716 w 331788"/>
              <a:gd name="connsiteY82" fmla="*/ 258037 h 292969"/>
              <a:gd name="connsiteX83" fmla="*/ 5184 w 331788"/>
              <a:gd name="connsiteY83" fmla="*/ 258037 h 292969"/>
              <a:gd name="connsiteX84" fmla="*/ 0 w 331788"/>
              <a:gd name="connsiteY84" fmla="*/ 252862 h 292969"/>
              <a:gd name="connsiteX85" fmla="*/ 0 w 331788"/>
              <a:gd name="connsiteY85" fmla="*/ 48444 h 292969"/>
              <a:gd name="connsiteX86" fmla="*/ 5184 w 331788"/>
              <a:gd name="connsiteY86" fmla="*/ 41975 h 292969"/>
              <a:gd name="connsiteX87" fmla="*/ 20737 w 331788"/>
              <a:gd name="connsiteY87" fmla="*/ 41975 h 292969"/>
              <a:gd name="connsiteX88" fmla="*/ 20737 w 331788"/>
              <a:gd name="connsiteY88" fmla="*/ 5750 h 292969"/>
              <a:gd name="connsiteX89" fmla="*/ 23329 w 331788"/>
              <a:gd name="connsiteY89" fmla="*/ 575 h 29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331788" h="292969">
                <a:moveTo>
                  <a:pt x="198438" y="207244"/>
                </a:moveTo>
                <a:lnTo>
                  <a:pt x="301626" y="207244"/>
                </a:lnTo>
                <a:lnTo>
                  <a:pt x="301626" y="215182"/>
                </a:lnTo>
                <a:lnTo>
                  <a:pt x="198438" y="215182"/>
                </a:lnTo>
                <a:close/>
                <a:moveTo>
                  <a:pt x="198438" y="178669"/>
                </a:moveTo>
                <a:lnTo>
                  <a:pt x="301626" y="178669"/>
                </a:lnTo>
                <a:lnTo>
                  <a:pt x="301626" y="185019"/>
                </a:lnTo>
                <a:lnTo>
                  <a:pt x="198438" y="185019"/>
                </a:lnTo>
                <a:close/>
                <a:moveTo>
                  <a:pt x="50800" y="172319"/>
                </a:moveTo>
                <a:lnTo>
                  <a:pt x="139700" y="199306"/>
                </a:lnTo>
                <a:lnTo>
                  <a:pt x="139700" y="207244"/>
                </a:lnTo>
                <a:lnTo>
                  <a:pt x="50800" y="180256"/>
                </a:lnTo>
                <a:close/>
                <a:moveTo>
                  <a:pt x="198438" y="148506"/>
                </a:moveTo>
                <a:lnTo>
                  <a:pt x="301626" y="148506"/>
                </a:lnTo>
                <a:lnTo>
                  <a:pt x="301626" y="156444"/>
                </a:lnTo>
                <a:lnTo>
                  <a:pt x="198438" y="156444"/>
                </a:lnTo>
                <a:close/>
                <a:moveTo>
                  <a:pt x="50800" y="142156"/>
                </a:moveTo>
                <a:lnTo>
                  <a:pt x="139700" y="169143"/>
                </a:lnTo>
                <a:lnTo>
                  <a:pt x="139700" y="177081"/>
                </a:lnTo>
                <a:lnTo>
                  <a:pt x="50800" y="150093"/>
                </a:lnTo>
                <a:close/>
                <a:moveTo>
                  <a:pt x="196850" y="118344"/>
                </a:moveTo>
                <a:lnTo>
                  <a:pt x="301625" y="118344"/>
                </a:lnTo>
                <a:lnTo>
                  <a:pt x="301625" y="126282"/>
                </a:lnTo>
                <a:lnTo>
                  <a:pt x="196850" y="126282"/>
                </a:lnTo>
                <a:close/>
                <a:moveTo>
                  <a:pt x="50800" y="113581"/>
                </a:moveTo>
                <a:lnTo>
                  <a:pt x="139700" y="140568"/>
                </a:lnTo>
                <a:lnTo>
                  <a:pt x="139700" y="148506"/>
                </a:lnTo>
                <a:lnTo>
                  <a:pt x="50800" y="121518"/>
                </a:lnTo>
                <a:close/>
                <a:moveTo>
                  <a:pt x="95250" y="97706"/>
                </a:moveTo>
                <a:lnTo>
                  <a:pt x="139700" y="110406"/>
                </a:lnTo>
                <a:lnTo>
                  <a:pt x="139700" y="118344"/>
                </a:lnTo>
                <a:lnTo>
                  <a:pt x="95250" y="105643"/>
                </a:lnTo>
                <a:close/>
                <a:moveTo>
                  <a:pt x="196850" y="89769"/>
                </a:moveTo>
                <a:lnTo>
                  <a:pt x="301625" y="89769"/>
                </a:lnTo>
                <a:lnTo>
                  <a:pt x="301625" y="97707"/>
                </a:lnTo>
                <a:lnTo>
                  <a:pt x="196850" y="97707"/>
                </a:lnTo>
                <a:close/>
                <a:moveTo>
                  <a:pt x="95250" y="67544"/>
                </a:moveTo>
                <a:lnTo>
                  <a:pt x="139700" y="81831"/>
                </a:lnTo>
                <a:lnTo>
                  <a:pt x="139700" y="89769"/>
                </a:lnTo>
                <a:lnTo>
                  <a:pt x="95250" y="75481"/>
                </a:lnTo>
                <a:close/>
                <a:moveTo>
                  <a:pt x="68263" y="67544"/>
                </a:moveTo>
                <a:lnTo>
                  <a:pt x="61913" y="81832"/>
                </a:lnTo>
                <a:lnTo>
                  <a:pt x="71438" y="85007"/>
                </a:lnTo>
                <a:close/>
                <a:moveTo>
                  <a:pt x="61913" y="56431"/>
                </a:moveTo>
                <a:lnTo>
                  <a:pt x="71438" y="59606"/>
                </a:lnTo>
                <a:lnTo>
                  <a:pt x="84138" y="104056"/>
                </a:lnTo>
                <a:lnTo>
                  <a:pt x="76200" y="102468"/>
                </a:lnTo>
                <a:lnTo>
                  <a:pt x="74613" y="92943"/>
                </a:lnTo>
                <a:lnTo>
                  <a:pt x="60325" y="89768"/>
                </a:lnTo>
                <a:lnTo>
                  <a:pt x="58737" y="96118"/>
                </a:lnTo>
                <a:lnTo>
                  <a:pt x="53975" y="96118"/>
                </a:lnTo>
                <a:lnTo>
                  <a:pt x="50800" y="94531"/>
                </a:lnTo>
                <a:close/>
                <a:moveTo>
                  <a:pt x="171450" y="54844"/>
                </a:moveTo>
                <a:lnTo>
                  <a:pt x="171450" y="248519"/>
                </a:lnTo>
                <a:lnTo>
                  <a:pt x="320675" y="248519"/>
                </a:lnTo>
                <a:lnTo>
                  <a:pt x="320675" y="54844"/>
                </a:lnTo>
                <a:lnTo>
                  <a:pt x="215900" y="54844"/>
                </a:lnTo>
                <a:lnTo>
                  <a:pt x="215900" y="75481"/>
                </a:lnTo>
                <a:lnTo>
                  <a:pt x="206375" y="67544"/>
                </a:lnTo>
                <a:lnTo>
                  <a:pt x="195262" y="75481"/>
                </a:lnTo>
                <a:lnTo>
                  <a:pt x="195262" y="54844"/>
                </a:lnTo>
                <a:close/>
                <a:moveTo>
                  <a:pt x="33338" y="13569"/>
                </a:moveTo>
                <a:lnTo>
                  <a:pt x="33338" y="42144"/>
                </a:lnTo>
                <a:lnTo>
                  <a:pt x="33338" y="207244"/>
                </a:lnTo>
                <a:lnTo>
                  <a:pt x="160338" y="245344"/>
                </a:lnTo>
                <a:lnTo>
                  <a:pt x="160338" y="53256"/>
                </a:lnTo>
                <a:lnTo>
                  <a:pt x="146050" y="48494"/>
                </a:lnTo>
                <a:lnTo>
                  <a:pt x="128588" y="42144"/>
                </a:lnTo>
                <a:close/>
                <a:moveTo>
                  <a:pt x="23329" y="575"/>
                </a:moveTo>
                <a:cubicBezTo>
                  <a:pt x="24625" y="575"/>
                  <a:pt x="27217" y="-719"/>
                  <a:pt x="28513" y="575"/>
                </a:cubicBezTo>
                <a:cubicBezTo>
                  <a:pt x="28513" y="575"/>
                  <a:pt x="28513" y="575"/>
                  <a:pt x="167190" y="41975"/>
                </a:cubicBezTo>
                <a:cubicBezTo>
                  <a:pt x="167190" y="41975"/>
                  <a:pt x="167190" y="41975"/>
                  <a:pt x="326604" y="41975"/>
                </a:cubicBezTo>
                <a:cubicBezTo>
                  <a:pt x="329196" y="41975"/>
                  <a:pt x="331788" y="44563"/>
                  <a:pt x="331788" y="48444"/>
                </a:cubicBezTo>
                <a:cubicBezTo>
                  <a:pt x="331788" y="48444"/>
                  <a:pt x="331788" y="48444"/>
                  <a:pt x="331788" y="252862"/>
                </a:cubicBezTo>
                <a:cubicBezTo>
                  <a:pt x="331788" y="255450"/>
                  <a:pt x="329196" y="258037"/>
                  <a:pt x="326604" y="258037"/>
                </a:cubicBezTo>
                <a:cubicBezTo>
                  <a:pt x="326604" y="258037"/>
                  <a:pt x="326604" y="258037"/>
                  <a:pt x="206072" y="258037"/>
                </a:cubicBezTo>
                <a:cubicBezTo>
                  <a:pt x="206072" y="258037"/>
                  <a:pt x="206072" y="258037"/>
                  <a:pt x="206072" y="281325"/>
                </a:cubicBezTo>
                <a:cubicBezTo>
                  <a:pt x="206072" y="281325"/>
                  <a:pt x="206072" y="281325"/>
                  <a:pt x="228104" y="281325"/>
                </a:cubicBezTo>
                <a:cubicBezTo>
                  <a:pt x="228104" y="281325"/>
                  <a:pt x="228104" y="281325"/>
                  <a:pt x="228104" y="292969"/>
                </a:cubicBezTo>
                <a:cubicBezTo>
                  <a:pt x="228104" y="292969"/>
                  <a:pt x="228104" y="292969"/>
                  <a:pt x="103684" y="292969"/>
                </a:cubicBezTo>
                <a:cubicBezTo>
                  <a:pt x="103684" y="292969"/>
                  <a:pt x="103684" y="292969"/>
                  <a:pt x="103684" y="281325"/>
                </a:cubicBezTo>
                <a:cubicBezTo>
                  <a:pt x="103684" y="281325"/>
                  <a:pt x="103684" y="281325"/>
                  <a:pt x="125716" y="281325"/>
                </a:cubicBezTo>
                <a:cubicBezTo>
                  <a:pt x="125716" y="281325"/>
                  <a:pt x="125716" y="281325"/>
                  <a:pt x="125716" y="258037"/>
                </a:cubicBezTo>
                <a:cubicBezTo>
                  <a:pt x="125716" y="258037"/>
                  <a:pt x="125716" y="258037"/>
                  <a:pt x="5184" y="258037"/>
                </a:cubicBezTo>
                <a:cubicBezTo>
                  <a:pt x="2592" y="258037"/>
                  <a:pt x="0" y="255450"/>
                  <a:pt x="0" y="252862"/>
                </a:cubicBezTo>
                <a:cubicBezTo>
                  <a:pt x="0" y="252862"/>
                  <a:pt x="0" y="252862"/>
                  <a:pt x="0" y="48444"/>
                </a:cubicBezTo>
                <a:cubicBezTo>
                  <a:pt x="0" y="44563"/>
                  <a:pt x="2592" y="41975"/>
                  <a:pt x="5184" y="41975"/>
                </a:cubicBezTo>
                <a:cubicBezTo>
                  <a:pt x="5184" y="41975"/>
                  <a:pt x="5184" y="41975"/>
                  <a:pt x="20737" y="41975"/>
                </a:cubicBezTo>
                <a:cubicBezTo>
                  <a:pt x="20737" y="41975"/>
                  <a:pt x="20737" y="41975"/>
                  <a:pt x="20737" y="5750"/>
                </a:cubicBezTo>
                <a:cubicBezTo>
                  <a:pt x="20737" y="4456"/>
                  <a:pt x="22033" y="1868"/>
                  <a:pt x="23329" y="575"/>
                </a:cubicBezTo>
                <a:close/>
              </a:path>
            </a:pathLst>
          </a:cu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91362" y="5097177"/>
            <a:ext cx="25481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sz="1100">
                <a:solidFill>
                  <a:srgbClr val="2A2A2A"/>
                </a:solidFill>
                <a:latin typeface="方正正粗黑简体"/>
              </a:rPr>
              <a:t>软件工程</a:t>
            </a:r>
            <a:endParaRPr sz="1100">
              <a:solidFill>
                <a:srgbClr val="2A2A2A"/>
              </a:solidFill>
              <a:latin typeface="方正正粗黑简体"/>
            </a:endParaRPr>
          </a:p>
        </p:txBody>
      </p:sp>
      <p:sp>
        <p:nvSpPr>
          <p:cNvPr id="13" name="student-graduation-cap-shape_52041"/>
          <p:cNvSpPr>
            <a:spLocks noChangeAspect="1"/>
          </p:cNvSpPr>
          <p:nvPr/>
        </p:nvSpPr>
        <p:spPr bwMode="auto">
          <a:xfrm>
            <a:off x="6789346" y="4445651"/>
            <a:ext cx="276839" cy="350126"/>
          </a:xfrm>
          <a:custGeom>
            <a:avLst/>
            <a:gdLst>
              <a:gd name="connsiteX0" fmla="*/ 147390 w 478363"/>
              <a:gd name="connsiteY0" fmla="*/ 384975 h 604998"/>
              <a:gd name="connsiteX1" fmla="*/ 120362 w 478363"/>
              <a:gd name="connsiteY1" fmla="*/ 463235 h 604998"/>
              <a:gd name="connsiteX2" fmla="*/ 157397 w 478363"/>
              <a:gd name="connsiteY2" fmla="*/ 460340 h 604998"/>
              <a:gd name="connsiteX3" fmla="*/ 239173 w 478363"/>
              <a:gd name="connsiteY3" fmla="*/ 560851 h 604998"/>
              <a:gd name="connsiteX4" fmla="*/ 239188 w 478363"/>
              <a:gd name="connsiteY4" fmla="*/ 560895 h 604998"/>
              <a:gd name="connsiteX5" fmla="*/ 239194 w 478363"/>
              <a:gd name="connsiteY5" fmla="*/ 560877 h 604998"/>
              <a:gd name="connsiteX6" fmla="*/ 239228 w 478363"/>
              <a:gd name="connsiteY6" fmla="*/ 560919 h 604998"/>
              <a:gd name="connsiteX7" fmla="*/ 320966 w 478363"/>
              <a:gd name="connsiteY7" fmla="*/ 460433 h 604998"/>
              <a:gd name="connsiteX8" fmla="*/ 358001 w 478363"/>
              <a:gd name="connsiteY8" fmla="*/ 463328 h 604998"/>
              <a:gd name="connsiteX9" fmla="*/ 331441 w 478363"/>
              <a:gd name="connsiteY9" fmla="*/ 385162 h 604998"/>
              <a:gd name="connsiteX10" fmla="*/ 345843 w 478363"/>
              <a:gd name="connsiteY10" fmla="*/ 392726 h 604998"/>
              <a:gd name="connsiteX11" fmla="*/ 430012 w 478363"/>
              <a:gd name="connsiteY11" fmla="*/ 434191 h 604998"/>
              <a:gd name="connsiteX12" fmla="*/ 471910 w 478363"/>
              <a:gd name="connsiteY12" fmla="*/ 489570 h 604998"/>
              <a:gd name="connsiteX13" fmla="*/ 478363 w 478363"/>
              <a:gd name="connsiteY13" fmla="*/ 525338 h 604998"/>
              <a:gd name="connsiteX14" fmla="*/ 239228 w 478363"/>
              <a:gd name="connsiteY14" fmla="*/ 604998 h 604998"/>
              <a:gd name="connsiteX15" fmla="*/ 0 w 478363"/>
              <a:gd name="connsiteY15" fmla="*/ 525338 h 604998"/>
              <a:gd name="connsiteX16" fmla="*/ 6547 w 478363"/>
              <a:gd name="connsiteY16" fmla="*/ 489570 h 604998"/>
              <a:gd name="connsiteX17" fmla="*/ 48444 w 478363"/>
              <a:gd name="connsiteY17" fmla="*/ 434191 h 604998"/>
              <a:gd name="connsiteX18" fmla="*/ 130556 w 478363"/>
              <a:gd name="connsiteY18" fmla="*/ 393567 h 604998"/>
              <a:gd name="connsiteX19" fmla="*/ 229992 w 478363"/>
              <a:gd name="connsiteY19" fmla="*/ 14 h 604998"/>
              <a:gd name="connsiteX20" fmla="*/ 286137 w 478363"/>
              <a:gd name="connsiteY20" fmla="*/ 23255 h 604998"/>
              <a:gd name="connsiteX21" fmla="*/ 374985 w 478363"/>
              <a:gd name="connsiteY21" fmla="*/ 195621 h 604998"/>
              <a:gd name="connsiteX22" fmla="*/ 418100 w 478363"/>
              <a:gd name="connsiteY22" fmla="*/ 306081 h 604998"/>
              <a:gd name="connsiteX23" fmla="*/ 305777 w 478363"/>
              <a:gd name="connsiteY23" fmla="*/ 340535 h 604998"/>
              <a:gd name="connsiteX24" fmla="*/ 305777 w 478363"/>
              <a:gd name="connsiteY24" fmla="*/ 364625 h 604998"/>
              <a:gd name="connsiteX25" fmla="*/ 305871 w 478363"/>
              <a:gd name="connsiteY25" fmla="*/ 366306 h 604998"/>
              <a:gd name="connsiteX26" fmla="*/ 239194 w 478363"/>
              <a:gd name="connsiteY26" fmla="*/ 560877 h 604998"/>
              <a:gd name="connsiteX27" fmla="*/ 239173 w 478363"/>
              <a:gd name="connsiteY27" fmla="*/ 560851 h 604998"/>
              <a:gd name="connsiteX28" fmla="*/ 172318 w 478363"/>
              <a:gd name="connsiteY28" fmla="*/ 365933 h 604998"/>
              <a:gd name="connsiteX29" fmla="*/ 172318 w 478363"/>
              <a:gd name="connsiteY29" fmla="*/ 341282 h 604998"/>
              <a:gd name="connsiteX30" fmla="*/ 58499 w 478363"/>
              <a:gd name="connsiteY30" fmla="*/ 304493 h 604998"/>
              <a:gd name="connsiteX31" fmla="*/ 105635 w 478363"/>
              <a:gd name="connsiteY31" fmla="*/ 171251 h 604998"/>
              <a:gd name="connsiteX32" fmla="*/ 186440 w 478363"/>
              <a:gd name="connsiteY32" fmla="*/ 8315 h 604998"/>
              <a:gd name="connsiteX33" fmla="*/ 229992 w 478363"/>
              <a:gd name="connsiteY33" fmla="*/ 14 h 60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78363" h="604998">
                <a:moveTo>
                  <a:pt x="147390" y="384975"/>
                </a:moveTo>
                <a:lnTo>
                  <a:pt x="120362" y="463235"/>
                </a:lnTo>
                <a:lnTo>
                  <a:pt x="157397" y="460340"/>
                </a:lnTo>
                <a:lnTo>
                  <a:pt x="239173" y="560851"/>
                </a:lnTo>
                <a:lnTo>
                  <a:pt x="239188" y="560895"/>
                </a:lnTo>
                <a:lnTo>
                  <a:pt x="239194" y="560877"/>
                </a:lnTo>
                <a:lnTo>
                  <a:pt x="239228" y="560919"/>
                </a:lnTo>
                <a:lnTo>
                  <a:pt x="320966" y="460433"/>
                </a:lnTo>
                <a:lnTo>
                  <a:pt x="358001" y="463328"/>
                </a:lnTo>
                <a:lnTo>
                  <a:pt x="331441" y="385162"/>
                </a:lnTo>
                <a:cubicBezTo>
                  <a:pt x="336210" y="387777"/>
                  <a:pt x="340980" y="390392"/>
                  <a:pt x="345843" y="392726"/>
                </a:cubicBezTo>
                <a:lnTo>
                  <a:pt x="430012" y="434191"/>
                </a:lnTo>
                <a:cubicBezTo>
                  <a:pt x="451896" y="445024"/>
                  <a:pt x="467514" y="465569"/>
                  <a:pt x="471910" y="489570"/>
                </a:cubicBezTo>
                <a:lnTo>
                  <a:pt x="478363" y="525338"/>
                </a:lnTo>
                <a:cubicBezTo>
                  <a:pt x="416265" y="574647"/>
                  <a:pt x="332002" y="604998"/>
                  <a:pt x="239228" y="604998"/>
                </a:cubicBezTo>
                <a:cubicBezTo>
                  <a:pt x="146455" y="604998"/>
                  <a:pt x="62098" y="574647"/>
                  <a:pt x="0" y="525338"/>
                </a:cubicBezTo>
                <a:lnTo>
                  <a:pt x="6547" y="489570"/>
                </a:lnTo>
                <a:cubicBezTo>
                  <a:pt x="10849" y="465569"/>
                  <a:pt x="26467" y="445024"/>
                  <a:pt x="48444" y="434191"/>
                </a:cubicBezTo>
                <a:lnTo>
                  <a:pt x="130556" y="393567"/>
                </a:lnTo>
                <a:close/>
                <a:moveTo>
                  <a:pt x="229992" y="14"/>
                </a:moveTo>
                <a:cubicBezTo>
                  <a:pt x="267356" y="670"/>
                  <a:pt x="286137" y="23255"/>
                  <a:pt x="286137" y="23255"/>
                </a:cubicBezTo>
                <a:cubicBezTo>
                  <a:pt x="363108" y="16159"/>
                  <a:pt x="384431" y="100007"/>
                  <a:pt x="374985" y="195621"/>
                </a:cubicBezTo>
                <a:cubicBezTo>
                  <a:pt x="365446" y="291141"/>
                  <a:pt x="418100" y="306081"/>
                  <a:pt x="418100" y="306081"/>
                </a:cubicBezTo>
                <a:cubicBezTo>
                  <a:pt x="381906" y="342963"/>
                  <a:pt x="305777" y="340535"/>
                  <a:pt x="305777" y="340535"/>
                </a:cubicBezTo>
                <a:lnTo>
                  <a:pt x="305777" y="364625"/>
                </a:lnTo>
                <a:lnTo>
                  <a:pt x="305871" y="366306"/>
                </a:lnTo>
                <a:lnTo>
                  <a:pt x="239194" y="560877"/>
                </a:lnTo>
                <a:lnTo>
                  <a:pt x="239173" y="560851"/>
                </a:lnTo>
                <a:lnTo>
                  <a:pt x="172318" y="365933"/>
                </a:lnTo>
                <a:lnTo>
                  <a:pt x="172318" y="341282"/>
                </a:lnTo>
                <a:cubicBezTo>
                  <a:pt x="84405" y="342029"/>
                  <a:pt x="58499" y="304493"/>
                  <a:pt x="58499" y="304493"/>
                </a:cubicBezTo>
                <a:cubicBezTo>
                  <a:pt x="58499" y="304493"/>
                  <a:pt x="108722" y="303746"/>
                  <a:pt x="105635" y="171251"/>
                </a:cubicBezTo>
                <a:cubicBezTo>
                  <a:pt x="102455" y="38755"/>
                  <a:pt x="163620" y="16999"/>
                  <a:pt x="186440" y="8315"/>
                </a:cubicBezTo>
                <a:cubicBezTo>
                  <a:pt x="203017" y="2013"/>
                  <a:pt x="217537" y="-205"/>
                  <a:pt x="229992" y="14"/>
                </a:cubicBezTo>
                <a:close/>
              </a:path>
            </a:pathLst>
          </a:custGeom>
          <a:solidFill>
            <a:srgbClr val="005DA2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6610"/>
            <a:endParaRPr lang="zh-CN" altLang="en-US" sz="1600" ker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39468" y="4445650"/>
            <a:ext cx="25481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sz="1100">
                <a:solidFill>
                  <a:srgbClr val="2A2A2A"/>
                </a:solidFill>
                <a:latin typeface="方正正粗黑简体"/>
              </a:rPr>
              <a:t>3022234171</a:t>
            </a:r>
            <a:endParaRPr sz="1100">
              <a:solidFill>
                <a:srgbClr val="2A2A2A"/>
              </a:solidFill>
              <a:latin typeface="方正正粗黑简体"/>
            </a:endParaRPr>
          </a:p>
        </p:txBody>
      </p:sp>
      <p:sp>
        <p:nvSpPr>
          <p:cNvPr id="15" name="student-graduation-cap-shape_52041"/>
          <p:cNvSpPr>
            <a:spLocks noChangeAspect="1"/>
          </p:cNvSpPr>
          <p:nvPr/>
        </p:nvSpPr>
        <p:spPr bwMode="auto">
          <a:xfrm>
            <a:off x="6752703" y="5099049"/>
            <a:ext cx="350126" cy="346838"/>
          </a:xfrm>
          <a:custGeom>
            <a:avLst/>
            <a:gdLst>
              <a:gd name="connsiteX0" fmla="*/ 248024 w 338138"/>
              <a:gd name="connsiteY0" fmla="*/ 246062 h 334963"/>
              <a:gd name="connsiteX1" fmla="*/ 266327 w 338138"/>
              <a:gd name="connsiteY1" fmla="*/ 246062 h 334963"/>
              <a:gd name="connsiteX2" fmla="*/ 279400 w 338138"/>
              <a:gd name="connsiteY2" fmla="*/ 260350 h 334963"/>
              <a:gd name="connsiteX3" fmla="*/ 266327 w 338138"/>
              <a:gd name="connsiteY3" fmla="*/ 274637 h 334963"/>
              <a:gd name="connsiteX4" fmla="*/ 248024 w 338138"/>
              <a:gd name="connsiteY4" fmla="*/ 274637 h 334963"/>
              <a:gd name="connsiteX5" fmla="*/ 234950 w 338138"/>
              <a:gd name="connsiteY5" fmla="*/ 260350 h 334963"/>
              <a:gd name="connsiteX6" fmla="*/ 248024 w 338138"/>
              <a:gd name="connsiteY6" fmla="*/ 246062 h 334963"/>
              <a:gd name="connsiteX7" fmla="*/ 160519 w 338138"/>
              <a:gd name="connsiteY7" fmla="*/ 246062 h 334963"/>
              <a:gd name="connsiteX8" fmla="*/ 177619 w 338138"/>
              <a:gd name="connsiteY8" fmla="*/ 246062 h 334963"/>
              <a:gd name="connsiteX9" fmla="*/ 192088 w 338138"/>
              <a:gd name="connsiteY9" fmla="*/ 260350 h 334963"/>
              <a:gd name="connsiteX10" fmla="*/ 177619 w 338138"/>
              <a:gd name="connsiteY10" fmla="*/ 274637 h 334963"/>
              <a:gd name="connsiteX11" fmla="*/ 160519 w 338138"/>
              <a:gd name="connsiteY11" fmla="*/ 274637 h 334963"/>
              <a:gd name="connsiteX12" fmla="*/ 146050 w 338138"/>
              <a:gd name="connsiteY12" fmla="*/ 260350 h 334963"/>
              <a:gd name="connsiteX13" fmla="*/ 160519 w 338138"/>
              <a:gd name="connsiteY13" fmla="*/ 246062 h 334963"/>
              <a:gd name="connsiteX14" fmla="*/ 71811 w 338138"/>
              <a:gd name="connsiteY14" fmla="*/ 246062 h 334963"/>
              <a:gd name="connsiteX15" fmla="*/ 90114 w 338138"/>
              <a:gd name="connsiteY15" fmla="*/ 246062 h 334963"/>
              <a:gd name="connsiteX16" fmla="*/ 103188 w 338138"/>
              <a:gd name="connsiteY16" fmla="*/ 260350 h 334963"/>
              <a:gd name="connsiteX17" fmla="*/ 90114 w 338138"/>
              <a:gd name="connsiteY17" fmla="*/ 274637 h 334963"/>
              <a:gd name="connsiteX18" fmla="*/ 71811 w 338138"/>
              <a:gd name="connsiteY18" fmla="*/ 274637 h 334963"/>
              <a:gd name="connsiteX19" fmla="*/ 58738 w 338138"/>
              <a:gd name="connsiteY19" fmla="*/ 260350 h 334963"/>
              <a:gd name="connsiteX20" fmla="*/ 71811 w 338138"/>
              <a:gd name="connsiteY20" fmla="*/ 246062 h 334963"/>
              <a:gd name="connsiteX21" fmla="*/ 248024 w 338138"/>
              <a:gd name="connsiteY21" fmla="*/ 185737 h 334963"/>
              <a:gd name="connsiteX22" fmla="*/ 266327 w 338138"/>
              <a:gd name="connsiteY22" fmla="*/ 185737 h 334963"/>
              <a:gd name="connsiteX23" fmla="*/ 279400 w 338138"/>
              <a:gd name="connsiteY23" fmla="*/ 200024 h 334963"/>
              <a:gd name="connsiteX24" fmla="*/ 266327 w 338138"/>
              <a:gd name="connsiteY24" fmla="*/ 214312 h 334963"/>
              <a:gd name="connsiteX25" fmla="*/ 248024 w 338138"/>
              <a:gd name="connsiteY25" fmla="*/ 214312 h 334963"/>
              <a:gd name="connsiteX26" fmla="*/ 234950 w 338138"/>
              <a:gd name="connsiteY26" fmla="*/ 200024 h 334963"/>
              <a:gd name="connsiteX27" fmla="*/ 248024 w 338138"/>
              <a:gd name="connsiteY27" fmla="*/ 185737 h 334963"/>
              <a:gd name="connsiteX28" fmla="*/ 160519 w 338138"/>
              <a:gd name="connsiteY28" fmla="*/ 185737 h 334963"/>
              <a:gd name="connsiteX29" fmla="*/ 177619 w 338138"/>
              <a:gd name="connsiteY29" fmla="*/ 185737 h 334963"/>
              <a:gd name="connsiteX30" fmla="*/ 192088 w 338138"/>
              <a:gd name="connsiteY30" fmla="*/ 200024 h 334963"/>
              <a:gd name="connsiteX31" fmla="*/ 177619 w 338138"/>
              <a:gd name="connsiteY31" fmla="*/ 214312 h 334963"/>
              <a:gd name="connsiteX32" fmla="*/ 160519 w 338138"/>
              <a:gd name="connsiteY32" fmla="*/ 214312 h 334963"/>
              <a:gd name="connsiteX33" fmla="*/ 146050 w 338138"/>
              <a:gd name="connsiteY33" fmla="*/ 200024 h 334963"/>
              <a:gd name="connsiteX34" fmla="*/ 160519 w 338138"/>
              <a:gd name="connsiteY34" fmla="*/ 185737 h 334963"/>
              <a:gd name="connsiteX35" fmla="*/ 71811 w 338138"/>
              <a:gd name="connsiteY35" fmla="*/ 185737 h 334963"/>
              <a:gd name="connsiteX36" fmla="*/ 90114 w 338138"/>
              <a:gd name="connsiteY36" fmla="*/ 185737 h 334963"/>
              <a:gd name="connsiteX37" fmla="*/ 103188 w 338138"/>
              <a:gd name="connsiteY37" fmla="*/ 200024 h 334963"/>
              <a:gd name="connsiteX38" fmla="*/ 90114 w 338138"/>
              <a:gd name="connsiteY38" fmla="*/ 214312 h 334963"/>
              <a:gd name="connsiteX39" fmla="*/ 71811 w 338138"/>
              <a:gd name="connsiteY39" fmla="*/ 214312 h 334963"/>
              <a:gd name="connsiteX40" fmla="*/ 58738 w 338138"/>
              <a:gd name="connsiteY40" fmla="*/ 200024 h 334963"/>
              <a:gd name="connsiteX41" fmla="*/ 71811 w 338138"/>
              <a:gd name="connsiteY41" fmla="*/ 185737 h 334963"/>
              <a:gd name="connsiteX42" fmla="*/ 248024 w 338138"/>
              <a:gd name="connsiteY42" fmla="*/ 125412 h 334963"/>
              <a:gd name="connsiteX43" fmla="*/ 266327 w 338138"/>
              <a:gd name="connsiteY43" fmla="*/ 125412 h 334963"/>
              <a:gd name="connsiteX44" fmla="*/ 279400 w 338138"/>
              <a:gd name="connsiteY44" fmla="*/ 139699 h 334963"/>
              <a:gd name="connsiteX45" fmla="*/ 266327 w 338138"/>
              <a:gd name="connsiteY45" fmla="*/ 153987 h 334963"/>
              <a:gd name="connsiteX46" fmla="*/ 248024 w 338138"/>
              <a:gd name="connsiteY46" fmla="*/ 153987 h 334963"/>
              <a:gd name="connsiteX47" fmla="*/ 234950 w 338138"/>
              <a:gd name="connsiteY47" fmla="*/ 139699 h 334963"/>
              <a:gd name="connsiteX48" fmla="*/ 248024 w 338138"/>
              <a:gd name="connsiteY48" fmla="*/ 125412 h 334963"/>
              <a:gd name="connsiteX49" fmla="*/ 160519 w 338138"/>
              <a:gd name="connsiteY49" fmla="*/ 125412 h 334963"/>
              <a:gd name="connsiteX50" fmla="*/ 177619 w 338138"/>
              <a:gd name="connsiteY50" fmla="*/ 125412 h 334963"/>
              <a:gd name="connsiteX51" fmla="*/ 192088 w 338138"/>
              <a:gd name="connsiteY51" fmla="*/ 139699 h 334963"/>
              <a:gd name="connsiteX52" fmla="*/ 177619 w 338138"/>
              <a:gd name="connsiteY52" fmla="*/ 153987 h 334963"/>
              <a:gd name="connsiteX53" fmla="*/ 160519 w 338138"/>
              <a:gd name="connsiteY53" fmla="*/ 153987 h 334963"/>
              <a:gd name="connsiteX54" fmla="*/ 146050 w 338138"/>
              <a:gd name="connsiteY54" fmla="*/ 139699 h 334963"/>
              <a:gd name="connsiteX55" fmla="*/ 160519 w 338138"/>
              <a:gd name="connsiteY55" fmla="*/ 125412 h 334963"/>
              <a:gd name="connsiteX56" fmla="*/ 71811 w 338138"/>
              <a:gd name="connsiteY56" fmla="*/ 125412 h 334963"/>
              <a:gd name="connsiteX57" fmla="*/ 90114 w 338138"/>
              <a:gd name="connsiteY57" fmla="*/ 125412 h 334963"/>
              <a:gd name="connsiteX58" fmla="*/ 103188 w 338138"/>
              <a:gd name="connsiteY58" fmla="*/ 139699 h 334963"/>
              <a:gd name="connsiteX59" fmla="*/ 90114 w 338138"/>
              <a:gd name="connsiteY59" fmla="*/ 153987 h 334963"/>
              <a:gd name="connsiteX60" fmla="*/ 71811 w 338138"/>
              <a:gd name="connsiteY60" fmla="*/ 153987 h 334963"/>
              <a:gd name="connsiteX61" fmla="*/ 58738 w 338138"/>
              <a:gd name="connsiteY61" fmla="*/ 139699 h 334963"/>
              <a:gd name="connsiteX62" fmla="*/ 71811 w 338138"/>
              <a:gd name="connsiteY62" fmla="*/ 125412 h 334963"/>
              <a:gd name="connsiteX63" fmla="*/ 51107 w 338138"/>
              <a:gd name="connsiteY63" fmla="*/ 52387 h 334963"/>
              <a:gd name="connsiteX64" fmla="*/ 28575 w 338138"/>
              <a:gd name="connsiteY64" fmla="*/ 73466 h 334963"/>
              <a:gd name="connsiteX65" fmla="*/ 28575 w 338138"/>
              <a:gd name="connsiteY65" fmla="*/ 285578 h 334963"/>
              <a:gd name="connsiteX66" fmla="*/ 51107 w 338138"/>
              <a:gd name="connsiteY66" fmla="*/ 307975 h 334963"/>
              <a:gd name="connsiteX67" fmla="*/ 287031 w 338138"/>
              <a:gd name="connsiteY67" fmla="*/ 307975 h 334963"/>
              <a:gd name="connsiteX68" fmla="*/ 309563 w 338138"/>
              <a:gd name="connsiteY68" fmla="*/ 285578 h 334963"/>
              <a:gd name="connsiteX69" fmla="*/ 309563 w 338138"/>
              <a:gd name="connsiteY69" fmla="*/ 74784 h 334963"/>
              <a:gd name="connsiteX70" fmla="*/ 287031 w 338138"/>
              <a:gd name="connsiteY70" fmla="*/ 52387 h 334963"/>
              <a:gd name="connsiteX71" fmla="*/ 264499 w 338138"/>
              <a:gd name="connsiteY71" fmla="*/ 52387 h 334963"/>
              <a:gd name="connsiteX72" fmla="*/ 264499 w 338138"/>
              <a:gd name="connsiteY72" fmla="*/ 61609 h 334963"/>
              <a:gd name="connsiteX73" fmla="*/ 249919 w 338138"/>
              <a:gd name="connsiteY73" fmla="*/ 74784 h 334963"/>
              <a:gd name="connsiteX74" fmla="*/ 235340 w 338138"/>
              <a:gd name="connsiteY74" fmla="*/ 61609 h 334963"/>
              <a:gd name="connsiteX75" fmla="*/ 235340 w 338138"/>
              <a:gd name="connsiteY75" fmla="*/ 52387 h 334963"/>
              <a:gd name="connsiteX76" fmla="*/ 101473 w 338138"/>
              <a:gd name="connsiteY76" fmla="*/ 52387 h 334963"/>
              <a:gd name="connsiteX77" fmla="*/ 101473 w 338138"/>
              <a:gd name="connsiteY77" fmla="*/ 61609 h 334963"/>
              <a:gd name="connsiteX78" fmla="*/ 86893 w 338138"/>
              <a:gd name="connsiteY78" fmla="*/ 74784 h 334963"/>
              <a:gd name="connsiteX79" fmla="*/ 73639 w 338138"/>
              <a:gd name="connsiteY79" fmla="*/ 61609 h 334963"/>
              <a:gd name="connsiteX80" fmla="*/ 73639 w 338138"/>
              <a:gd name="connsiteY80" fmla="*/ 52387 h 334963"/>
              <a:gd name="connsiteX81" fmla="*/ 51107 w 338138"/>
              <a:gd name="connsiteY81" fmla="*/ 52387 h 334963"/>
              <a:gd name="connsiteX82" fmla="*/ 87176 w 338138"/>
              <a:gd name="connsiteY82" fmla="*/ 0 h 334963"/>
              <a:gd name="connsiteX83" fmla="*/ 101706 w 338138"/>
              <a:gd name="connsiteY83" fmla="*/ 14449 h 334963"/>
              <a:gd name="connsiteX84" fmla="*/ 101706 w 338138"/>
              <a:gd name="connsiteY84" fmla="*/ 23644 h 334963"/>
              <a:gd name="connsiteX85" fmla="*/ 235112 w 338138"/>
              <a:gd name="connsiteY85" fmla="*/ 23644 h 334963"/>
              <a:gd name="connsiteX86" fmla="*/ 235112 w 338138"/>
              <a:gd name="connsiteY86" fmla="*/ 14449 h 334963"/>
              <a:gd name="connsiteX87" fmla="*/ 249641 w 338138"/>
              <a:gd name="connsiteY87" fmla="*/ 0 h 334963"/>
              <a:gd name="connsiteX88" fmla="*/ 264170 w 338138"/>
              <a:gd name="connsiteY88" fmla="*/ 14449 h 334963"/>
              <a:gd name="connsiteX89" fmla="*/ 264170 w 338138"/>
              <a:gd name="connsiteY89" fmla="*/ 23644 h 334963"/>
              <a:gd name="connsiteX90" fmla="*/ 286625 w 338138"/>
              <a:gd name="connsiteY90" fmla="*/ 23644 h 334963"/>
              <a:gd name="connsiteX91" fmla="*/ 338138 w 338138"/>
              <a:gd name="connsiteY91" fmla="*/ 74874 h 334963"/>
              <a:gd name="connsiteX92" fmla="*/ 338138 w 338138"/>
              <a:gd name="connsiteY92" fmla="*/ 285047 h 334963"/>
              <a:gd name="connsiteX93" fmla="*/ 286625 w 338138"/>
              <a:gd name="connsiteY93" fmla="*/ 334963 h 334963"/>
              <a:gd name="connsiteX94" fmla="*/ 51513 w 338138"/>
              <a:gd name="connsiteY94" fmla="*/ 334963 h 334963"/>
              <a:gd name="connsiteX95" fmla="*/ 0 w 338138"/>
              <a:gd name="connsiteY95" fmla="*/ 285047 h 334963"/>
              <a:gd name="connsiteX96" fmla="*/ 0 w 338138"/>
              <a:gd name="connsiteY96" fmla="*/ 74874 h 334963"/>
              <a:gd name="connsiteX97" fmla="*/ 51513 w 338138"/>
              <a:gd name="connsiteY97" fmla="*/ 23644 h 334963"/>
              <a:gd name="connsiteX98" fmla="*/ 73968 w 338138"/>
              <a:gd name="connsiteY98" fmla="*/ 23644 h 334963"/>
              <a:gd name="connsiteX99" fmla="*/ 73968 w 338138"/>
              <a:gd name="connsiteY99" fmla="*/ 14449 h 334963"/>
              <a:gd name="connsiteX100" fmla="*/ 87176 w 338138"/>
              <a:gd name="connsiteY100" fmla="*/ 0 h 334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38138" h="334963">
                <a:moveTo>
                  <a:pt x="248024" y="246062"/>
                </a:moveTo>
                <a:cubicBezTo>
                  <a:pt x="248024" y="246062"/>
                  <a:pt x="248024" y="246062"/>
                  <a:pt x="266327" y="246062"/>
                </a:cubicBezTo>
                <a:cubicBezTo>
                  <a:pt x="272863" y="246062"/>
                  <a:pt x="279400" y="252557"/>
                  <a:pt x="279400" y="260350"/>
                </a:cubicBezTo>
                <a:cubicBezTo>
                  <a:pt x="279400" y="268143"/>
                  <a:pt x="272863" y="274637"/>
                  <a:pt x="266327" y="274637"/>
                </a:cubicBezTo>
                <a:cubicBezTo>
                  <a:pt x="266327" y="274637"/>
                  <a:pt x="266327" y="274637"/>
                  <a:pt x="248024" y="274637"/>
                </a:cubicBezTo>
                <a:cubicBezTo>
                  <a:pt x="241487" y="274637"/>
                  <a:pt x="234950" y="268143"/>
                  <a:pt x="234950" y="260350"/>
                </a:cubicBezTo>
                <a:cubicBezTo>
                  <a:pt x="234950" y="252557"/>
                  <a:pt x="241487" y="246062"/>
                  <a:pt x="248024" y="246062"/>
                </a:cubicBezTo>
                <a:close/>
                <a:moveTo>
                  <a:pt x="160519" y="246062"/>
                </a:moveTo>
                <a:cubicBezTo>
                  <a:pt x="160519" y="246062"/>
                  <a:pt x="160519" y="246062"/>
                  <a:pt x="177619" y="246062"/>
                </a:cubicBezTo>
                <a:cubicBezTo>
                  <a:pt x="185511" y="246062"/>
                  <a:pt x="192088" y="252557"/>
                  <a:pt x="192088" y="260350"/>
                </a:cubicBezTo>
                <a:cubicBezTo>
                  <a:pt x="192088" y="268143"/>
                  <a:pt x="185511" y="274637"/>
                  <a:pt x="177619" y="274637"/>
                </a:cubicBezTo>
                <a:cubicBezTo>
                  <a:pt x="177619" y="274637"/>
                  <a:pt x="177619" y="274637"/>
                  <a:pt x="160519" y="274637"/>
                </a:cubicBezTo>
                <a:cubicBezTo>
                  <a:pt x="152627" y="274637"/>
                  <a:pt x="146050" y="268143"/>
                  <a:pt x="146050" y="260350"/>
                </a:cubicBezTo>
                <a:cubicBezTo>
                  <a:pt x="146050" y="252557"/>
                  <a:pt x="152627" y="246062"/>
                  <a:pt x="160519" y="246062"/>
                </a:cubicBezTo>
                <a:close/>
                <a:moveTo>
                  <a:pt x="71811" y="246062"/>
                </a:moveTo>
                <a:cubicBezTo>
                  <a:pt x="71811" y="246062"/>
                  <a:pt x="71811" y="246062"/>
                  <a:pt x="90114" y="246062"/>
                </a:cubicBezTo>
                <a:cubicBezTo>
                  <a:pt x="96651" y="246062"/>
                  <a:pt x="103188" y="252557"/>
                  <a:pt x="103188" y="260350"/>
                </a:cubicBezTo>
                <a:cubicBezTo>
                  <a:pt x="103188" y="268143"/>
                  <a:pt x="96651" y="274637"/>
                  <a:pt x="90114" y="274637"/>
                </a:cubicBezTo>
                <a:cubicBezTo>
                  <a:pt x="90114" y="274637"/>
                  <a:pt x="90114" y="274637"/>
                  <a:pt x="71811" y="274637"/>
                </a:cubicBezTo>
                <a:cubicBezTo>
                  <a:pt x="65275" y="274637"/>
                  <a:pt x="58738" y="268143"/>
                  <a:pt x="58738" y="260350"/>
                </a:cubicBezTo>
                <a:cubicBezTo>
                  <a:pt x="58738" y="252557"/>
                  <a:pt x="65275" y="246062"/>
                  <a:pt x="71811" y="246062"/>
                </a:cubicBezTo>
                <a:close/>
                <a:moveTo>
                  <a:pt x="248024" y="185737"/>
                </a:moveTo>
                <a:cubicBezTo>
                  <a:pt x="248024" y="185737"/>
                  <a:pt x="248024" y="185737"/>
                  <a:pt x="266327" y="185737"/>
                </a:cubicBezTo>
                <a:cubicBezTo>
                  <a:pt x="272863" y="185737"/>
                  <a:pt x="279400" y="192231"/>
                  <a:pt x="279400" y="200024"/>
                </a:cubicBezTo>
                <a:cubicBezTo>
                  <a:pt x="279400" y="209116"/>
                  <a:pt x="272863" y="214312"/>
                  <a:pt x="266327" y="214312"/>
                </a:cubicBezTo>
                <a:cubicBezTo>
                  <a:pt x="266327" y="214312"/>
                  <a:pt x="266327" y="214312"/>
                  <a:pt x="248024" y="214312"/>
                </a:cubicBezTo>
                <a:cubicBezTo>
                  <a:pt x="241487" y="214312"/>
                  <a:pt x="234950" y="207817"/>
                  <a:pt x="234950" y="200024"/>
                </a:cubicBezTo>
                <a:cubicBezTo>
                  <a:pt x="234950" y="192231"/>
                  <a:pt x="241487" y="185737"/>
                  <a:pt x="248024" y="185737"/>
                </a:cubicBezTo>
                <a:close/>
                <a:moveTo>
                  <a:pt x="160519" y="185737"/>
                </a:moveTo>
                <a:cubicBezTo>
                  <a:pt x="160519" y="185737"/>
                  <a:pt x="160519" y="185737"/>
                  <a:pt x="177619" y="185737"/>
                </a:cubicBezTo>
                <a:cubicBezTo>
                  <a:pt x="185511" y="185737"/>
                  <a:pt x="192088" y="192231"/>
                  <a:pt x="192088" y="200024"/>
                </a:cubicBezTo>
                <a:cubicBezTo>
                  <a:pt x="192088" y="209116"/>
                  <a:pt x="185511" y="214312"/>
                  <a:pt x="177619" y="214312"/>
                </a:cubicBezTo>
                <a:cubicBezTo>
                  <a:pt x="177619" y="214312"/>
                  <a:pt x="177619" y="214312"/>
                  <a:pt x="160519" y="214312"/>
                </a:cubicBezTo>
                <a:cubicBezTo>
                  <a:pt x="152627" y="214312"/>
                  <a:pt x="146050" y="207817"/>
                  <a:pt x="146050" y="200024"/>
                </a:cubicBezTo>
                <a:cubicBezTo>
                  <a:pt x="146050" y="192231"/>
                  <a:pt x="152627" y="185737"/>
                  <a:pt x="160519" y="185737"/>
                </a:cubicBezTo>
                <a:close/>
                <a:moveTo>
                  <a:pt x="71811" y="185737"/>
                </a:moveTo>
                <a:cubicBezTo>
                  <a:pt x="71811" y="185737"/>
                  <a:pt x="71811" y="185737"/>
                  <a:pt x="90114" y="185737"/>
                </a:cubicBezTo>
                <a:cubicBezTo>
                  <a:pt x="96651" y="185737"/>
                  <a:pt x="103188" y="192231"/>
                  <a:pt x="103188" y="200024"/>
                </a:cubicBezTo>
                <a:cubicBezTo>
                  <a:pt x="103188" y="209116"/>
                  <a:pt x="96651" y="214312"/>
                  <a:pt x="90114" y="214312"/>
                </a:cubicBezTo>
                <a:cubicBezTo>
                  <a:pt x="90114" y="214312"/>
                  <a:pt x="90114" y="214312"/>
                  <a:pt x="71811" y="214312"/>
                </a:cubicBezTo>
                <a:cubicBezTo>
                  <a:pt x="65275" y="214312"/>
                  <a:pt x="58738" y="207817"/>
                  <a:pt x="58738" y="200024"/>
                </a:cubicBezTo>
                <a:cubicBezTo>
                  <a:pt x="58738" y="192231"/>
                  <a:pt x="65275" y="185737"/>
                  <a:pt x="71811" y="185737"/>
                </a:cubicBezTo>
                <a:close/>
                <a:moveTo>
                  <a:pt x="248024" y="125412"/>
                </a:moveTo>
                <a:cubicBezTo>
                  <a:pt x="248024" y="125412"/>
                  <a:pt x="248024" y="125412"/>
                  <a:pt x="266327" y="125412"/>
                </a:cubicBezTo>
                <a:cubicBezTo>
                  <a:pt x="272863" y="125412"/>
                  <a:pt x="279400" y="131906"/>
                  <a:pt x="279400" y="139699"/>
                </a:cubicBezTo>
                <a:cubicBezTo>
                  <a:pt x="279400" y="147492"/>
                  <a:pt x="272863" y="153987"/>
                  <a:pt x="266327" y="153987"/>
                </a:cubicBezTo>
                <a:cubicBezTo>
                  <a:pt x="266327" y="153987"/>
                  <a:pt x="266327" y="153987"/>
                  <a:pt x="248024" y="153987"/>
                </a:cubicBezTo>
                <a:cubicBezTo>
                  <a:pt x="241487" y="153987"/>
                  <a:pt x="234950" y="147492"/>
                  <a:pt x="234950" y="139699"/>
                </a:cubicBezTo>
                <a:cubicBezTo>
                  <a:pt x="234950" y="131906"/>
                  <a:pt x="241487" y="125412"/>
                  <a:pt x="248024" y="125412"/>
                </a:cubicBezTo>
                <a:close/>
                <a:moveTo>
                  <a:pt x="160519" y="125412"/>
                </a:moveTo>
                <a:cubicBezTo>
                  <a:pt x="160519" y="125412"/>
                  <a:pt x="160519" y="125412"/>
                  <a:pt x="177619" y="125412"/>
                </a:cubicBezTo>
                <a:cubicBezTo>
                  <a:pt x="185511" y="125412"/>
                  <a:pt x="192088" y="131906"/>
                  <a:pt x="192088" y="139699"/>
                </a:cubicBezTo>
                <a:cubicBezTo>
                  <a:pt x="192088" y="147492"/>
                  <a:pt x="185511" y="153987"/>
                  <a:pt x="177619" y="153987"/>
                </a:cubicBezTo>
                <a:cubicBezTo>
                  <a:pt x="177619" y="153987"/>
                  <a:pt x="177619" y="153987"/>
                  <a:pt x="160519" y="153987"/>
                </a:cubicBezTo>
                <a:cubicBezTo>
                  <a:pt x="152627" y="153987"/>
                  <a:pt x="146050" y="147492"/>
                  <a:pt x="146050" y="139699"/>
                </a:cubicBezTo>
                <a:cubicBezTo>
                  <a:pt x="146050" y="131906"/>
                  <a:pt x="152627" y="125412"/>
                  <a:pt x="160519" y="125412"/>
                </a:cubicBezTo>
                <a:close/>
                <a:moveTo>
                  <a:pt x="71811" y="125412"/>
                </a:moveTo>
                <a:cubicBezTo>
                  <a:pt x="71811" y="125412"/>
                  <a:pt x="71811" y="125412"/>
                  <a:pt x="90114" y="125412"/>
                </a:cubicBezTo>
                <a:cubicBezTo>
                  <a:pt x="96651" y="125412"/>
                  <a:pt x="103188" y="131906"/>
                  <a:pt x="103188" y="139699"/>
                </a:cubicBezTo>
                <a:cubicBezTo>
                  <a:pt x="103188" y="147492"/>
                  <a:pt x="96651" y="153987"/>
                  <a:pt x="90114" y="153987"/>
                </a:cubicBezTo>
                <a:cubicBezTo>
                  <a:pt x="90114" y="153987"/>
                  <a:pt x="90114" y="153987"/>
                  <a:pt x="71811" y="153987"/>
                </a:cubicBezTo>
                <a:cubicBezTo>
                  <a:pt x="65275" y="153987"/>
                  <a:pt x="58738" y="147492"/>
                  <a:pt x="58738" y="139699"/>
                </a:cubicBezTo>
                <a:cubicBezTo>
                  <a:pt x="58738" y="131906"/>
                  <a:pt x="65275" y="125412"/>
                  <a:pt x="71811" y="125412"/>
                </a:cubicBezTo>
                <a:close/>
                <a:moveTo>
                  <a:pt x="51107" y="52387"/>
                </a:moveTo>
                <a:cubicBezTo>
                  <a:pt x="39178" y="52387"/>
                  <a:pt x="28575" y="61609"/>
                  <a:pt x="28575" y="73466"/>
                </a:cubicBezTo>
                <a:cubicBezTo>
                  <a:pt x="28575" y="73466"/>
                  <a:pt x="28575" y="73466"/>
                  <a:pt x="28575" y="285578"/>
                </a:cubicBezTo>
                <a:cubicBezTo>
                  <a:pt x="28575" y="297436"/>
                  <a:pt x="39178" y="307975"/>
                  <a:pt x="51107" y="307975"/>
                </a:cubicBezTo>
                <a:cubicBezTo>
                  <a:pt x="51107" y="307975"/>
                  <a:pt x="51107" y="307975"/>
                  <a:pt x="287031" y="307975"/>
                </a:cubicBezTo>
                <a:cubicBezTo>
                  <a:pt x="298960" y="307975"/>
                  <a:pt x="309563" y="297436"/>
                  <a:pt x="309563" y="285578"/>
                </a:cubicBezTo>
                <a:cubicBezTo>
                  <a:pt x="309563" y="285578"/>
                  <a:pt x="309563" y="285578"/>
                  <a:pt x="309563" y="74784"/>
                </a:cubicBezTo>
                <a:cubicBezTo>
                  <a:pt x="309563" y="62926"/>
                  <a:pt x="298960" y="52387"/>
                  <a:pt x="287031" y="52387"/>
                </a:cubicBezTo>
                <a:cubicBezTo>
                  <a:pt x="287031" y="52387"/>
                  <a:pt x="287031" y="52387"/>
                  <a:pt x="264499" y="52387"/>
                </a:cubicBezTo>
                <a:cubicBezTo>
                  <a:pt x="264499" y="52387"/>
                  <a:pt x="264499" y="52387"/>
                  <a:pt x="264499" y="61609"/>
                </a:cubicBezTo>
                <a:cubicBezTo>
                  <a:pt x="263174" y="69514"/>
                  <a:pt x="256546" y="74784"/>
                  <a:pt x="249919" y="74784"/>
                </a:cubicBezTo>
                <a:cubicBezTo>
                  <a:pt x="241967" y="74784"/>
                  <a:pt x="235340" y="69514"/>
                  <a:pt x="235340" y="61609"/>
                </a:cubicBezTo>
                <a:cubicBezTo>
                  <a:pt x="235340" y="61609"/>
                  <a:pt x="235340" y="61609"/>
                  <a:pt x="235340" y="52387"/>
                </a:cubicBezTo>
                <a:cubicBezTo>
                  <a:pt x="235340" y="52387"/>
                  <a:pt x="235340" y="52387"/>
                  <a:pt x="101473" y="52387"/>
                </a:cubicBezTo>
                <a:cubicBezTo>
                  <a:pt x="101473" y="52387"/>
                  <a:pt x="101473" y="52387"/>
                  <a:pt x="101473" y="61609"/>
                </a:cubicBezTo>
                <a:cubicBezTo>
                  <a:pt x="101473" y="69514"/>
                  <a:pt x="94846" y="74784"/>
                  <a:pt x="86893" y="74784"/>
                </a:cubicBezTo>
                <a:cubicBezTo>
                  <a:pt x="80266" y="74784"/>
                  <a:pt x="73639" y="68196"/>
                  <a:pt x="73639" y="61609"/>
                </a:cubicBezTo>
                <a:cubicBezTo>
                  <a:pt x="73639" y="61609"/>
                  <a:pt x="73639" y="61609"/>
                  <a:pt x="73639" y="52387"/>
                </a:cubicBezTo>
                <a:cubicBezTo>
                  <a:pt x="73639" y="52387"/>
                  <a:pt x="73639" y="52387"/>
                  <a:pt x="51107" y="52387"/>
                </a:cubicBezTo>
                <a:close/>
                <a:moveTo>
                  <a:pt x="87176" y="0"/>
                </a:moveTo>
                <a:cubicBezTo>
                  <a:pt x="95101" y="0"/>
                  <a:pt x="101706" y="6568"/>
                  <a:pt x="101706" y="14449"/>
                </a:cubicBezTo>
                <a:cubicBezTo>
                  <a:pt x="101706" y="14449"/>
                  <a:pt x="101706" y="14449"/>
                  <a:pt x="101706" y="23644"/>
                </a:cubicBezTo>
                <a:cubicBezTo>
                  <a:pt x="101706" y="23644"/>
                  <a:pt x="101706" y="23644"/>
                  <a:pt x="235112" y="23644"/>
                </a:cubicBezTo>
                <a:cubicBezTo>
                  <a:pt x="235112" y="23644"/>
                  <a:pt x="235112" y="23644"/>
                  <a:pt x="235112" y="14449"/>
                </a:cubicBezTo>
                <a:cubicBezTo>
                  <a:pt x="235112" y="6568"/>
                  <a:pt x="241716" y="0"/>
                  <a:pt x="249641" y="0"/>
                </a:cubicBezTo>
                <a:cubicBezTo>
                  <a:pt x="257566" y="0"/>
                  <a:pt x="264170" y="6568"/>
                  <a:pt x="264170" y="14449"/>
                </a:cubicBezTo>
                <a:cubicBezTo>
                  <a:pt x="264170" y="14449"/>
                  <a:pt x="264170" y="14449"/>
                  <a:pt x="264170" y="23644"/>
                </a:cubicBezTo>
                <a:cubicBezTo>
                  <a:pt x="264170" y="23644"/>
                  <a:pt x="264170" y="23644"/>
                  <a:pt x="286625" y="23644"/>
                </a:cubicBezTo>
                <a:cubicBezTo>
                  <a:pt x="314363" y="23644"/>
                  <a:pt x="338138" y="47289"/>
                  <a:pt x="338138" y="74874"/>
                </a:cubicBezTo>
                <a:cubicBezTo>
                  <a:pt x="338138" y="74874"/>
                  <a:pt x="338138" y="74874"/>
                  <a:pt x="338138" y="285047"/>
                </a:cubicBezTo>
                <a:cubicBezTo>
                  <a:pt x="336817" y="312632"/>
                  <a:pt x="314363" y="334963"/>
                  <a:pt x="286625" y="334963"/>
                </a:cubicBezTo>
                <a:cubicBezTo>
                  <a:pt x="286625" y="334963"/>
                  <a:pt x="286625" y="334963"/>
                  <a:pt x="51513" y="334963"/>
                </a:cubicBezTo>
                <a:cubicBezTo>
                  <a:pt x="23775" y="334963"/>
                  <a:pt x="0" y="312632"/>
                  <a:pt x="0" y="285047"/>
                </a:cubicBezTo>
                <a:cubicBezTo>
                  <a:pt x="0" y="285047"/>
                  <a:pt x="0" y="285047"/>
                  <a:pt x="0" y="74874"/>
                </a:cubicBezTo>
                <a:cubicBezTo>
                  <a:pt x="0" y="47289"/>
                  <a:pt x="23775" y="23644"/>
                  <a:pt x="51513" y="23644"/>
                </a:cubicBezTo>
                <a:cubicBezTo>
                  <a:pt x="51513" y="23644"/>
                  <a:pt x="51513" y="23644"/>
                  <a:pt x="73968" y="23644"/>
                </a:cubicBezTo>
                <a:cubicBezTo>
                  <a:pt x="73968" y="23644"/>
                  <a:pt x="73968" y="23644"/>
                  <a:pt x="73968" y="14449"/>
                </a:cubicBezTo>
                <a:cubicBezTo>
                  <a:pt x="73968" y="6568"/>
                  <a:pt x="79251" y="0"/>
                  <a:pt x="87176" y="0"/>
                </a:cubicBezTo>
                <a:close/>
              </a:path>
            </a:pathLst>
          </a:custGeom>
          <a:solidFill>
            <a:srgbClr val="005DA2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39468" y="5097403"/>
            <a:ext cx="25481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>
              <a:defRPr/>
            </a:pPr>
            <a:r>
              <a:rPr sz="1100">
                <a:solidFill>
                  <a:srgbClr val="2A2A2A"/>
                </a:solidFill>
                <a:latin typeface="方正正粗黑简体"/>
              </a:rPr>
              <a:t>指导教师：于强</a:t>
            </a:r>
            <a:endParaRPr sz="1100">
              <a:solidFill>
                <a:srgbClr val="2A2A2A"/>
              </a:solidFill>
              <a:latin typeface="方正正粗黑简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472" y="535252"/>
            <a:ext cx="1528713" cy="153126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4663440" y="3593592"/>
            <a:ext cx="288036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0528A"/>
                </a:solidFill>
                <a:latin typeface="微软雅黑" panose="020B0503020204020204" pitchFamily="34" charset="-122"/>
              </a:rPr>
              <a:t>本科毕业论文答辩</a:t>
            </a:r>
            <a:endParaRPr sz="1400" b="1">
              <a:solidFill>
                <a:srgbClr val="00528A"/>
              </a:solidFill>
              <a:latin typeface="微软雅黑" panose="020B0503020204020204" pitchFamily="3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590288" y="5504688"/>
            <a:ext cx="3108960" cy="21945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0">
                <a:solidFill>
                  <a:srgbClr val="626C76"/>
                </a:solidFill>
                <a:latin typeface="微软雅黑" panose="020B0503020204020204" pitchFamily="34" charset="-122"/>
              </a:rPr>
              <a:t>天津大学    2026 年 5 月</a:t>
            </a:r>
            <a:endParaRPr sz="1100" b="0">
              <a:solidFill>
                <a:srgbClr val="626C7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774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2274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74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3274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774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4274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4774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5274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toc_6chapters_imagege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395413"/>
            <a:ext cx="12192000" cy="4392612"/>
            <a:chOff x="0" y="1395413"/>
            <a:chExt cx="12192000" cy="4392612"/>
          </a:xfrm>
        </p:grpSpPr>
        <p:sp>
          <p:nvSpPr>
            <p:cNvPr id="8" name="Freeform 5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3308645" y="1395413"/>
              <a:ext cx="8883355" cy="1881187"/>
            </a:xfrm>
            <a:custGeom>
              <a:avLst/>
              <a:gdLst>
                <a:gd name="T0" fmla="*/ 11567 w 11567"/>
                <a:gd name="T1" fmla="*/ 2441 h 2441"/>
                <a:gd name="T2" fmla="*/ 0 w 11567"/>
                <a:gd name="T3" fmla="*/ 2441 h 2441"/>
                <a:gd name="T4" fmla="*/ 1542 w 11567"/>
                <a:gd name="T5" fmla="*/ 0 h 2441"/>
                <a:gd name="T6" fmla="*/ 11567 w 11567"/>
                <a:gd name="T7" fmla="*/ 0 h 2441"/>
                <a:gd name="T8" fmla="*/ 11567 w 11567"/>
                <a:gd name="T9" fmla="*/ 2441 h 2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67" h="2441">
                  <a:moveTo>
                    <a:pt x="11567" y="2441"/>
                  </a:moveTo>
                  <a:lnTo>
                    <a:pt x="0" y="2441"/>
                  </a:lnTo>
                  <a:lnTo>
                    <a:pt x="1542" y="0"/>
                  </a:lnTo>
                  <a:lnTo>
                    <a:pt x="11567" y="0"/>
                  </a:lnTo>
                  <a:lnTo>
                    <a:pt x="11567" y="2441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Freeform 6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4075113"/>
              <a:ext cx="5693725" cy="1712912"/>
            </a:xfrm>
            <a:custGeom>
              <a:avLst/>
              <a:gdLst>
                <a:gd name="T0" fmla="*/ 0 w 7413"/>
                <a:gd name="T1" fmla="*/ 0 h 2222"/>
                <a:gd name="T2" fmla="*/ 7413 w 7413"/>
                <a:gd name="T3" fmla="*/ 0 h 2222"/>
                <a:gd name="T4" fmla="*/ 6010 w 7413"/>
                <a:gd name="T5" fmla="*/ 2222 h 2222"/>
                <a:gd name="T6" fmla="*/ 0 w 7413"/>
                <a:gd name="T7" fmla="*/ 2222 h 2222"/>
                <a:gd name="T8" fmla="*/ 0 w 7413"/>
                <a:gd name="T9" fmla="*/ 0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3" h="2222">
                  <a:moveTo>
                    <a:pt x="0" y="0"/>
                  </a:moveTo>
                  <a:lnTo>
                    <a:pt x="7413" y="0"/>
                  </a:lnTo>
                  <a:lnTo>
                    <a:pt x="6010" y="2222"/>
                  </a:lnTo>
                  <a:lnTo>
                    <a:pt x="0" y="2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Freeform 7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2052639"/>
              <a:ext cx="10728896" cy="2981325"/>
            </a:xfrm>
            <a:custGeom>
              <a:avLst/>
              <a:gdLst>
                <a:gd name="T0" fmla="*/ 0 w 13970"/>
                <a:gd name="T1" fmla="*/ 0 h 3869"/>
                <a:gd name="T2" fmla="*/ 13970 w 13970"/>
                <a:gd name="T3" fmla="*/ 0 h 3869"/>
                <a:gd name="T4" fmla="*/ 11527 w 13970"/>
                <a:gd name="T5" fmla="*/ 3869 h 3869"/>
                <a:gd name="T6" fmla="*/ 0 w 13970"/>
                <a:gd name="T7" fmla="*/ 3869 h 3869"/>
                <a:gd name="T8" fmla="*/ 0 w 13970"/>
                <a:gd name="T9" fmla="*/ 0 h 3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70" h="3869">
                  <a:moveTo>
                    <a:pt x="0" y="0"/>
                  </a:moveTo>
                  <a:lnTo>
                    <a:pt x="13970" y="0"/>
                  </a:lnTo>
                  <a:lnTo>
                    <a:pt x="11527" y="3869"/>
                  </a:lnTo>
                  <a:lnTo>
                    <a:pt x="0" y="3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文本框 12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 txBox="1"/>
          <p:nvPr/>
        </p:nvSpPr>
        <p:spPr>
          <a:xfrm>
            <a:off x="1106396" y="2670509"/>
            <a:ext cx="1478290" cy="1630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lang="en-US" sz="10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4094798"/>
            <a:ext cx="8255000" cy="30670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l"/>
            <a:r>
              <a:rPr lang="zh-CN" sz="14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研究背景、问题提出</a:t>
            </a:r>
            <a:endParaRPr lang="zh-CN" sz="140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2694940"/>
            <a:ext cx="7747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/>
            <a:r>
              <a:rPr lang="zh-CN" sz="34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34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/>
          <p:nvPr/>
        </p:nvSpPr>
        <p:spPr>
          <a:xfrm>
            <a:off x="2956560" y="3467100"/>
            <a:ext cx="566420" cy="6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8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/>
          <p:nvPr/>
        </p:nvSpPr>
        <p:spPr bwMode="auto">
          <a:xfrm>
            <a:off x="11227177" y="1908176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01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" name="矩形 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研究背景</a:t>
            </a:r>
            <a:endParaRPr lang="zh-CN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8814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5D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020" y="80982"/>
            <a:ext cx="1024089" cy="1025799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ch1_bg_diagram_background"/>
          <p:cNvSpPr/>
          <p:nvPr/>
        </p:nvSpPr>
        <p:spPr>
          <a:xfrm>
            <a:off x="1092200" y="1295400"/>
            <a:ext cx="10591800" cy="4381500"/>
          </a:xfrm>
          <a:prstGeom prst="rect">
            <a:avLst/>
          </a:prstGeom>
          <a:solidFill>
            <a:srgbClr val="ECF6FD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ch1_bg_diagram_box"/>
          <p:cNvSpPr/>
          <p:nvPr/>
        </p:nvSpPr>
        <p:spPr>
          <a:xfrm>
            <a:off x="1422400" y="2108200"/>
            <a:ext cx="2794000" cy="2159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5C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ch1_bg_diagram_title"/>
          <p:cNvSpPr txBox="1"/>
          <p:nvPr/>
        </p:nvSpPr>
        <p:spPr>
          <a:xfrm>
            <a:off x="1651000" y="2413000"/>
            <a:ext cx="23368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zh-CN" altLang="en-US" b="1">
                <a:solidFill>
                  <a:srgbClr val="005C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连续控制任务</a:t>
            </a:r>
            <a:endParaRPr lang="zh-CN" altLang="en-US" b="1">
              <a:solidFill>
                <a:srgbClr val="005C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h1_bg_diagram_body"/>
          <p:cNvSpPr txBox="1"/>
          <p:nvPr/>
        </p:nvSpPr>
        <p:spPr>
          <a:xfrm>
            <a:off x="1651000" y="3048000"/>
            <a:ext cx="2336800" cy="66167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100"/>
              </a:spcAft>
            </a:pPr>
            <a:r>
              <a:rPr lang="zh-CN" altLang="en-US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机器人与仿真运动控制中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100"/>
              </a:spcAft>
            </a:pPr>
            <a:r>
              <a:rPr lang="zh-CN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状态、动作均为连续变量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100"/>
              </a:spcAft>
            </a:pPr>
            <a:r>
              <a:rPr lang="en-US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actor </a:t>
            </a:r>
            <a:r>
              <a:rPr lang="zh-CN" altLang="en-US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需输出稳定实值动作</a:t>
            </a:r>
            <a:endParaRPr lang="zh-CN" altLang="en-US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7" name="ch1_bg_diagram_box"/>
          <p:cNvSpPr/>
          <p:nvPr/>
        </p:nvSpPr>
        <p:spPr>
          <a:xfrm>
            <a:off x="4699000" y="2108200"/>
            <a:ext cx="2794000" cy="2159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5C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ch1_bg_diagram_title"/>
          <p:cNvSpPr txBox="1"/>
          <p:nvPr/>
        </p:nvSpPr>
        <p:spPr>
          <a:xfrm>
            <a:off x="4927600" y="2413000"/>
            <a:ext cx="23368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b="1">
                <a:solidFill>
                  <a:srgbClr val="005C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SNN Actor</a:t>
            </a:r>
            <a:endParaRPr lang="en-US" altLang="en-US" b="1">
              <a:solidFill>
                <a:srgbClr val="005C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ch1_bg_diagram_body"/>
          <p:cNvSpPr txBox="1"/>
          <p:nvPr/>
        </p:nvSpPr>
        <p:spPr>
          <a:xfrm>
            <a:off x="4927600" y="3048000"/>
            <a:ext cx="2336800" cy="85852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100"/>
              </a:spcAft>
            </a:pPr>
            <a:r>
              <a:rPr lang="zh-CN" altLang="en-US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事件驱动脉冲计算具备低功耗潜力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00"/>
              </a:spcAft>
            </a:pPr>
            <a:r>
              <a:rPr lang="zh-CN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但离散脉冲使连续动作读出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spcAft>
                <a:spcPts val="100"/>
              </a:spcAft>
            </a:pPr>
            <a:r>
              <a:rPr lang="zh-CN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和梯度传播更加困难</a:t>
            </a:r>
            <a:endParaRPr lang="zh-CN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ch1_bg_diagram_box"/>
          <p:cNvSpPr/>
          <p:nvPr/>
        </p:nvSpPr>
        <p:spPr>
          <a:xfrm>
            <a:off x="7975600" y="2108200"/>
            <a:ext cx="2794000" cy="21590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05CA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ch1_bg_diagram_title"/>
          <p:cNvSpPr txBox="1"/>
          <p:nvPr/>
        </p:nvSpPr>
        <p:spPr>
          <a:xfrm>
            <a:off x="8204200" y="2413000"/>
            <a:ext cx="2336800" cy="32258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r>
              <a:rPr lang="en-US" altLang="en-US" b="1">
                <a:solidFill>
                  <a:srgbClr val="005CA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Proxy Target</a:t>
            </a:r>
            <a:endParaRPr lang="en-US" altLang="en-US" b="1">
              <a:solidFill>
                <a:srgbClr val="005CAA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ch1_bg_diagram_body"/>
          <p:cNvSpPr txBox="1"/>
          <p:nvPr/>
        </p:nvSpPr>
        <p:spPr>
          <a:xfrm>
            <a:off x="8204200" y="3048000"/>
            <a:ext cx="2336800" cy="858520"/>
          </a:xfrm>
          <a:prstGeom prst="rect">
            <a:avLst/>
          </a:prstGeom>
          <a:noFill/>
        </p:spPr>
        <p:txBody>
          <a:bodyPr wrap="square" lIns="0" tIns="0" rIns="0" rtlCol="0" anchor="t">
            <a:spAutoFit/>
          </a:bodyPr>
          <a:p>
            <a:pPr>
              <a:spcAft>
                <a:spcPts val="100"/>
              </a:spcAft>
            </a:pPr>
            <a:r>
              <a:rPr lang="zh-CN" altLang="en-US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用连续可微代理目标拟合</a:t>
            </a:r>
            <a:r>
              <a:rPr lang="en-US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SNN actor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100"/>
              </a:spcAft>
            </a:pPr>
            <a:r>
              <a:rPr lang="zh-CN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为</a:t>
            </a:r>
            <a:r>
              <a:rPr lang="en-US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TD3 </a:t>
            </a:r>
            <a:r>
              <a:rPr lang="zh-CN" altLang="en-US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提供更平滑目标动作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>
              <a:spcAft>
                <a:spcPts val="100"/>
              </a:spcAft>
            </a:pPr>
            <a:r>
              <a:rPr lang="zh-CN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部署阶段仍保留脉冲</a:t>
            </a:r>
            <a:r>
              <a:rPr lang="en-US" altLang="zh-CN" sz="1280">
                <a:solidFill>
                  <a:srgbClr val="303A48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actor</a:t>
            </a:r>
            <a:endParaRPr lang="en-US" altLang="zh-CN" sz="1280">
              <a:solidFill>
                <a:srgbClr val="303A48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cxnSp>
        <p:nvCxnSpPr>
          <p:cNvPr id="23" name="ch1_bg_diagram_arrow"/>
          <p:cNvCxnSpPr/>
          <p:nvPr/>
        </p:nvCxnSpPr>
        <p:spPr>
          <a:xfrm>
            <a:off x="4318000" y="3175000"/>
            <a:ext cx="304800" cy="0"/>
          </a:xfrm>
          <a:prstGeom prst="line">
            <a:avLst/>
          </a:prstGeom>
          <a:ln w="38100">
            <a:solidFill>
              <a:srgbClr val="005CA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4" name="ch1_bg_diagram_arrow"/>
          <p:cNvCxnSpPr/>
          <p:nvPr/>
        </p:nvCxnSpPr>
        <p:spPr>
          <a:xfrm>
            <a:off x="7594600" y="3175000"/>
            <a:ext cx="304800" cy="0"/>
          </a:xfrm>
          <a:prstGeom prst="line">
            <a:avLst/>
          </a:prstGeom>
          <a:ln w="38100">
            <a:solidFill>
              <a:srgbClr val="005CAA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01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" name="矩形 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问题提出</a:t>
            </a:r>
            <a:endParaRPr lang="zh-CN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8814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5D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pic>
        <p:nvPicPr>
          <p:cNvPr id="45" name="图片 4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26020" y="80982"/>
            <a:ext cx="1024089" cy="1025799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codex_slide5_lif_block"/>
          <p:cNvSpPr/>
          <p:nvPr/>
        </p:nvSpPr>
        <p:spPr>
          <a:xfrm>
            <a:off x="1498600" y="1701800"/>
            <a:ext cx="3708400" cy="1346200"/>
          </a:xfrm>
          <a:prstGeom prst="roundRect">
            <a:avLst/>
          </a:prstGeom>
          <a:solidFill>
            <a:srgbClr val="EEF5FC"/>
          </a:solidFill>
          <a:ln w="15240">
            <a:solidFill>
              <a:srgbClr val="BFD4E7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codex_slide5_text"/>
          <p:cNvSpPr txBox="1"/>
          <p:nvPr/>
        </p:nvSpPr>
        <p:spPr>
          <a:xfrm>
            <a:off x="1765300" y="1917700"/>
            <a:ext cx="3111500" cy="31940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ctr"/>
            <a:r>
              <a:rPr lang="en-US" altLang="en-US" sz="1700" b="1">
                <a:solidFill>
                  <a:srgbClr val="006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</a:t>
            </a:r>
            <a:r>
              <a:rPr lang="zh-CN" altLang="en-US" sz="1700" b="1">
                <a:solidFill>
                  <a:srgbClr val="006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：固定时间尺度</a:t>
            </a:r>
            <a:endParaRPr lang="zh-CN" altLang="en-US" sz="1700" b="1">
              <a:solidFill>
                <a:srgbClr val="006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codex_slide5_text"/>
          <p:cNvSpPr txBox="1"/>
          <p:nvPr/>
        </p:nvSpPr>
        <p:spPr>
          <a:xfrm>
            <a:off x="1828800" y="2336800"/>
            <a:ext cx="2997200" cy="42735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ctr"/>
            <a:r>
              <a:rPr lang="zh-CN" altLang="en-US" sz="1200">
                <a:solidFill>
                  <a:srgbClr val="5363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各层使用固定保留系数，结构简单、可解释，但难以适应不同层和任务的记忆长度。</a:t>
            </a:r>
            <a:endParaRPr lang="zh-CN" altLang="en-US" sz="1200">
              <a:solidFill>
                <a:srgbClr val="5363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codex_slide5_arrow"/>
          <p:cNvSpPr/>
          <p:nvPr/>
        </p:nvSpPr>
        <p:spPr>
          <a:xfrm>
            <a:off x="5461000" y="2146300"/>
            <a:ext cx="914400" cy="482600"/>
          </a:xfrm>
          <a:prstGeom prst="rightArrow">
            <a:avLst/>
          </a:prstGeom>
          <a:solidFill>
            <a:srgbClr val="0060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codex_slide5_plif_block"/>
          <p:cNvSpPr/>
          <p:nvPr/>
        </p:nvSpPr>
        <p:spPr>
          <a:xfrm>
            <a:off x="6629400" y="1701800"/>
            <a:ext cx="3708400" cy="1346200"/>
          </a:xfrm>
          <a:prstGeom prst="roundRect">
            <a:avLst/>
          </a:prstGeom>
          <a:solidFill>
            <a:srgbClr val="F6FAF7"/>
          </a:solidFill>
          <a:ln w="15240">
            <a:solidFill>
              <a:srgbClr val="BFDEC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codex_slide5_text"/>
          <p:cNvSpPr txBox="1"/>
          <p:nvPr/>
        </p:nvSpPr>
        <p:spPr>
          <a:xfrm>
            <a:off x="6896100" y="1917700"/>
            <a:ext cx="3111500" cy="31940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ctr"/>
            <a:r>
              <a:rPr lang="en-US" altLang="en-US" sz="1700" b="1">
                <a:solidFill>
                  <a:srgbClr val="1987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</a:t>
            </a:r>
            <a:r>
              <a:rPr lang="zh-CN" altLang="en-US" sz="1700" b="1">
                <a:solidFill>
                  <a:srgbClr val="198754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：可学习时间尺度</a:t>
            </a:r>
            <a:endParaRPr lang="zh-CN" altLang="en-US" sz="1700" b="1">
              <a:solidFill>
                <a:srgbClr val="198754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9" name="codex_slide5_text"/>
          <p:cNvSpPr txBox="1"/>
          <p:nvPr/>
        </p:nvSpPr>
        <p:spPr>
          <a:xfrm>
            <a:off x="6959600" y="2336800"/>
            <a:ext cx="2997200" cy="42735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ctr"/>
            <a:r>
              <a:rPr lang="zh-CN" altLang="en-US" sz="1200">
                <a:solidFill>
                  <a:srgbClr val="5363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将膜电位保留能力设为可学习参数，为连续控制中的层间自适应提供可能。</a:t>
            </a:r>
            <a:endParaRPr lang="zh-CN" altLang="en-US" sz="1200">
              <a:solidFill>
                <a:srgbClr val="5363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codex_slide5_text"/>
          <p:cNvSpPr txBox="1"/>
          <p:nvPr/>
        </p:nvSpPr>
        <p:spPr>
          <a:xfrm>
            <a:off x="1498600" y="3429000"/>
            <a:ext cx="2794000" cy="28892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zh-CN" altLang="en-US" sz="1500" b="1">
                <a:solidFill>
                  <a:srgbClr val="1B3D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本文进一步回答三个问题</a:t>
            </a:r>
            <a:endParaRPr lang="zh-CN" altLang="en-US" sz="1500" b="1">
              <a:solidFill>
                <a:srgbClr val="1B3D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codex_slide5_rule"/>
          <p:cNvSpPr/>
          <p:nvPr/>
        </p:nvSpPr>
        <p:spPr>
          <a:xfrm>
            <a:off x="4292600" y="3556000"/>
            <a:ext cx="6121400" cy="25400"/>
          </a:xfrm>
          <a:prstGeom prst="rect">
            <a:avLst/>
          </a:prstGeom>
          <a:solidFill>
            <a:srgbClr val="E2E8F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codex_slide5_problem_card"/>
          <p:cNvSpPr/>
          <p:nvPr/>
        </p:nvSpPr>
        <p:spPr>
          <a:xfrm>
            <a:off x="1498600" y="3937000"/>
            <a:ext cx="2870200" cy="147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codex_slide5_problem_card_bar"/>
          <p:cNvSpPr/>
          <p:nvPr/>
        </p:nvSpPr>
        <p:spPr>
          <a:xfrm>
            <a:off x="1498600" y="3937000"/>
            <a:ext cx="2870200" cy="63500"/>
          </a:xfrm>
          <a:prstGeom prst="rect">
            <a:avLst/>
          </a:prstGeom>
          <a:solidFill>
            <a:srgbClr val="0060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codex_slide5_text"/>
          <p:cNvSpPr txBox="1"/>
          <p:nvPr/>
        </p:nvSpPr>
        <p:spPr>
          <a:xfrm>
            <a:off x="1676400" y="4127500"/>
            <a:ext cx="571500" cy="27368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en-US" altLang="en-US" sz="1400" b="1">
                <a:solidFill>
                  <a:srgbClr val="0060A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lang="en-US" altLang="en-US" sz="1400" b="1">
              <a:solidFill>
                <a:srgbClr val="0060A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codex_slide5_text"/>
          <p:cNvSpPr txBox="1"/>
          <p:nvPr/>
        </p:nvSpPr>
        <p:spPr>
          <a:xfrm>
            <a:off x="2235200" y="4127500"/>
            <a:ext cx="1955800" cy="28892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zh-CN" altLang="en-US" sz="1500" b="1">
                <a:solidFill>
                  <a:srgbClr val="1B3D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性能是否提升？</a:t>
            </a:r>
            <a:endParaRPr lang="zh-CN" altLang="en-US" sz="1500" b="1">
              <a:solidFill>
                <a:srgbClr val="1B3D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codex_slide5_text"/>
          <p:cNvSpPr txBox="1"/>
          <p:nvPr/>
        </p:nvSpPr>
        <p:spPr>
          <a:xfrm>
            <a:off x="1727200" y="4508500"/>
            <a:ext cx="2413000" cy="39687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en-US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 </a:t>
            </a:r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相较于固定时间常数的</a:t>
            </a:r>
            <a:r>
              <a:rPr lang="en-US" altLang="zh-CN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LIF</a:t>
            </a:r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，是否能够带来更稳定的训练回报。</a:t>
            </a:r>
            <a:endParaRPr lang="zh-CN" altLang="en-US" sz="1100">
              <a:solidFill>
                <a:srgbClr val="46556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7" name="codex_slide5_problem_card"/>
          <p:cNvSpPr/>
          <p:nvPr/>
        </p:nvSpPr>
        <p:spPr>
          <a:xfrm>
            <a:off x="4699000" y="3937000"/>
            <a:ext cx="2870200" cy="147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codex_slide5_problem_card_bar"/>
          <p:cNvSpPr/>
          <p:nvPr/>
        </p:nvSpPr>
        <p:spPr>
          <a:xfrm>
            <a:off x="4699000" y="3937000"/>
            <a:ext cx="2870200" cy="63500"/>
          </a:xfrm>
          <a:prstGeom prst="rect">
            <a:avLst/>
          </a:prstGeom>
          <a:solidFill>
            <a:srgbClr val="19875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codex_slide5_text"/>
          <p:cNvSpPr txBox="1"/>
          <p:nvPr/>
        </p:nvSpPr>
        <p:spPr>
          <a:xfrm>
            <a:off x="4876800" y="4127500"/>
            <a:ext cx="571500" cy="27368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en-US" altLang="en-US" sz="1400" b="1">
                <a:solidFill>
                  <a:srgbClr val="19875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lang="en-US" altLang="en-US" sz="1400" b="1">
              <a:solidFill>
                <a:srgbClr val="19875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codex_slide5_text"/>
          <p:cNvSpPr txBox="1"/>
          <p:nvPr/>
        </p:nvSpPr>
        <p:spPr>
          <a:xfrm>
            <a:off x="5435600" y="4127500"/>
            <a:ext cx="1955800" cy="28892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zh-CN" altLang="en-US" sz="1500" b="1">
                <a:solidFill>
                  <a:srgbClr val="1B3D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时间常数如何演化？</a:t>
            </a:r>
            <a:endParaRPr lang="zh-CN" altLang="en-US" sz="1500" b="1">
              <a:solidFill>
                <a:srgbClr val="1B3D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codex_slide5_text"/>
          <p:cNvSpPr txBox="1"/>
          <p:nvPr/>
        </p:nvSpPr>
        <p:spPr>
          <a:xfrm>
            <a:off x="4927600" y="4508500"/>
            <a:ext cx="2413000" cy="39687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成功训练中，</a:t>
            </a:r>
            <a:r>
              <a:rPr lang="en-US" altLang="zh-CN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 </a:t>
            </a:r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时间常数是否呈现可解释的层间调节。</a:t>
            </a:r>
            <a:endParaRPr lang="zh-CN" altLang="en-US" sz="1100">
              <a:solidFill>
                <a:srgbClr val="46556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2" name="codex_slide5_problem_card"/>
          <p:cNvSpPr/>
          <p:nvPr/>
        </p:nvSpPr>
        <p:spPr>
          <a:xfrm>
            <a:off x="7899400" y="3937000"/>
            <a:ext cx="2870200" cy="1473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codex_slide5_problem_card_bar"/>
          <p:cNvSpPr/>
          <p:nvPr/>
        </p:nvSpPr>
        <p:spPr>
          <a:xfrm>
            <a:off x="7899400" y="3937000"/>
            <a:ext cx="2870200" cy="63500"/>
          </a:xfrm>
          <a:prstGeom prst="rect">
            <a:avLst/>
          </a:prstGeom>
          <a:solidFill>
            <a:srgbClr val="D17B2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4" name="codex_slide5_text"/>
          <p:cNvSpPr txBox="1"/>
          <p:nvPr/>
        </p:nvSpPr>
        <p:spPr>
          <a:xfrm>
            <a:off x="8077200" y="4127500"/>
            <a:ext cx="571500" cy="27368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en-US" altLang="en-US" sz="1400" b="1">
                <a:solidFill>
                  <a:srgbClr val="D17B2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lang="en-US" altLang="en-US" sz="1400" b="1">
              <a:solidFill>
                <a:srgbClr val="D17B2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codex_slide5_text"/>
          <p:cNvSpPr txBox="1"/>
          <p:nvPr/>
        </p:nvSpPr>
        <p:spPr>
          <a:xfrm>
            <a:off x="8636000" y="4127500"/>
            <a:ext cx="1955800" cy="28892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zh-CN" altLang="en-US" sz="1500" b="1">
                <a:solidFill>
                  <a:srgbClr val="1B3D5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内部机制是否不同？</a:t>
            </a:r>
            <a:endParaRPr lang="zh-CN" altLang="en-US" sz="1500" b="1">
              <a:solidFill>
                <a:srgbClr val="1B3D5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codex_slide5_text"/>
          <p:cNvSpPr txBox="1"/>
          <p:nvPr/>
        </p:nvSpPr>
        <p:spPr>
          <a:xfrm>
            <a:off x="8128000" y="4508500"/>
            <a:ext cx="2413000" cy="39687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/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在相近性能条件下，</a:t>
            </a:r>
            <a:r>
              <a:rPr lang="en-US" altLang="zh-CN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 </a:t>
            </a:r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PLIF </a:t>
            </a:r>
            <a:r>
              <a:rPr lang="zh-CN" altLang="en-US" sz="1100">
                <a:solidFill>
                  <a:srgbClr val="46556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是否形成显著不同的内部训练机制。</a:t>
            </a:r>
            <a:endParaRPr lang="zh-CN" altLang="en-US" sz="1100">
              <a:solidFill>
                <a:srgbClr val="46556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395413"/>
            <a:ext cx="12192000" cy="4392612"/>
            <a:chOff x="0" y="1395413"/>
            <a:chExt cx="12192000" cy="4392612"/>
          </a:xfrm>
        </p:grpSpPr>
        <p:sp>
          <p:nvSpPr>
            <p:cNvPr id="8" name="Freeform 5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3308645" y="1395413"/>
              <a:ext cx="8883355" cy="1881187"/>
            </a:xfrm>
            <a:custGeom>
              <a:avLst/>
              <a:gdLst>
                <a:gd name="T0" fmla="*/ 11567 w 11567"/>
                <a:gd name="T1" fmla="*/ 2441 h 2441"/>
                <a:gd name="T2" fmla="*/ 0 w 11567"/>
                <a:gd name="T3" fmla="*/ 2441 h 2441"/>
                <a:gd name="T4" fmla="*/ 1542 w 11567"/>
                <a:gd name="T5" fmla="*/ 0 h 2441"/>
                <a:gd name="T6" fmla="*/ 11567 w 11567"/>
                <a:gd name="T7" fmla="*/ 0 h 2441"/>
                <a:gd name="T8" fmla="*/ 11567 w 11567"/>
                <a:gd name="T9" fmla="*/ 2441 h 2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67" h="2441">
                  <a:moveTo>
                    <a:pt x="11567" y="2441"/>
                  </a:moveTo>
                  <a:lnTo>
                    <a:pt x="0" y="2441"/>
                  </a:lnTo>
                  <a:lnTo>
                    <a:pt x="1542" y="0"/>
                  </a:lnTo>
                  <a:lnTo>
                    <a:pt x="11567" y="0"/>
                  </a:lnTo>
                  <a:lnTo>
                    <a:pt x="11567" y="2441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Freeform 6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4075113"/>
              <a:ext cx="5693725" cy="1712912"/>
            </a:xfrm>
            <a:custGeom>
              <a:avLst/>
              <a:gdLst>
                <a:gd name="T0" fmla="*/ 0 w 7413"/>
                <a:gd name="T1" fmla="*/ 0 h 2222"/>
                <a:gd name="T2" fmla="*/ 7413 w 7413"/>
                <a:gd name="T3" fmla="*/ 0 h 2222"/>
                <a:gd name="T4" fmla="*/ 6010 w 7413"/>
                <a:gd name="T5" fmla="*/ 2222 h 2222"/>
                <a:gd name="T6" fmla="*/ 0 w 7413"/>
                <a:gd name="T7" fmla="*/ 2222 h 2222"/>
                <a:gd name="T8" fmla="*/ 0 w 7413"/>
                <a:gd name="T9" fmla="*/ 0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3" h="2222">
                  <a:moveTo>
                    <a:pt x="0" y="0"/>
                  </a:moveTo>
                  <a:lnTo>
                    <a:pt x="7413" y="0"/>
                  </a:lnTo>
                  <a:lnTo>
                    <a:pt x="6010" y="2222"/>
                  </a:lnTo>
                  <a:lnTo>
                    <a:pt x="0" y="2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Freeform 7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2052639"/>
              <a:ext cx="10728896" cy="2981325"/>
            </a:xfrm>
            <a:custGeom>
              <a:avLst/>
              <a:gdLst>
                <a:gd name="T0" fmla="*/ 0 w 13970"/>
                <a:gd name="T1" fmla="*/ 0 h 3869"/>
                <a:gd name="T2" fmla="*/ 13970 w 13970"/>
                <a:gd name="T3" fmla="*/ 0 h 3869"/>
                <a:gd name="T4" fmla="*/ 11527 w 13970"/>
                <a:gd name="T5" fmla="*/ 3869 h 3869"/>
                <a:gd name="T6" fmla="*/ 0 w 13970"/>
                <a:gd name="T7" fmla="*/ 3869 h 3869"/>
                <a:gd name="T8" fmla="*/ 0 w 13970"/>
                <a:gd name="T9" fmla="*/ 0 h 3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70" h="3869">
                  <a:moveTo>
                    <a:pt x="0" y="0"/>
                  </a:moveTo>
                  <a:lnTo>
                    <a:pt x="13970" y="0"/>
                  </a:lnTo>
                  <a:lnTo>
                    <a:pt x="11527" y="3869"/>
                  </a:lnTo>
                  <a:lnTo>
                    <a:pt x="0" y="3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文本框 12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 txBox="1"/>
          <p:nvPr/>
        </p:nvSpPr>
        <p:spPr>
          <a:xfrm>
            <a:off x="1106396" y="2670509"/>
            <a:ext cx="1478290" cy="1630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endParaRPr lang="en-US" sz="10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3644900"/>
            <a:ext cx="8255000" cy="12065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强化学习与连续控制、脉冲神经网络、</a:t>
            </a:r>
            <a:r>
              <a:rPr lang="en-US" altLang="zh-CN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 </a:t>
            </a:r>
            <a:r>
              <a:rPr lang="zh-CN" altLang="en-US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神经元</a:t>
            </a:r>
            <a:endParaRPr lang="en-US" altLang="zh-CN" sz="12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zh-CN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代理梯度与</a:t>
            </a:r>
            <a:r>
              <a:rPr lang="en-US" altLang="zh-CN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STBP</a:t>
            </a:r>
            <a:r>
              <a:rPr lang="zh-CN" altLang="en-US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Proxy Target </a:t>
            </a:r>
            <a:r>
              <a:rPr lang="zh-CN" altLang="en-US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</a:t>
            </a:r>
            <a:endParaRPr lang="zh-CN" altLang="en-US" sz="12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2694940"/>
            <a:ext cx="7747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lang="zh-CN" sz="3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相关理论与方法基础</a:t>
            </a:r>
            <a:endParaRPr lang="zh-CN" sz="3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/>
          <p:nvPr/>
        </p:nvSpPr>
        <p:spPr>
          <a:xfrm>
            <a:off x="2956560" y="3467100"/>
            <a:ext cx="566420" cy="6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8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/>
          <p:nvPr/>
        </p:nvSpPr>
        <p:spPr bwMode="auto">
          <a:xfrm>
            <a:off x="11227177" y="1908176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4" name="formula_plain_white_background"/>
          <p:cNvSpPr/>
          <p:nvPr/>
        </p:nvSpPr>
        <p:spPr>
          <a:xfrm>
            <a:off x="566928" y="548640"/>
            <a:ext cx="11622024" cy="6309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矩形 4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02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05CAB"/>
                </a:solidFill>
                <a:latin typeface="微软雅黑" panose="020B0503020204020204" pitchFamily="34" charset="-122"/>
              </a:rPr>
              <a:t>强化学习与连续控制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17196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078992" y="969264"/>
            <a:ext cx="48920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078992" y="969264"/>
            <a:ext cx="73152" cy="141732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243584" y="1115568"/>
            <a:ext cx="123444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MDP 建模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1" name="Picture 60" descr="rl_mdp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8520" y="1517904"/>
            <a:ext cx="3647846" cy="704088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6327648" y="969264"/>
            <a:ext cx="489204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327648" y="969264"/>
            <a:ext cx="73152" cy="141732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6492240" y="1115568"/>
            <a:ext cx="123444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回报目标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5" name="Picture 64" descr="rl_retur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0751" y="1517904"/>
            <a:ext cx="1880697" cy="704088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1078992" y="2670048"/>
            <a:ext cx="10140696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8992" y="2670048"/>
            <a:ext cx="73152" cy="141732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243584" y="2816352"/>
            <a:ext cx="132588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Actor 更新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9" name="Picture 68" descr="rl_actor_gr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836" y="3218688"/>
            <a:ext cx="5549870" cy="704088"/>
          </a:xfrm>
          <a:prstGeom prst="rect">
            <a:avLst/>
          </a:prstGeom>
        </p:spPr>
      </p:pic>
      <p:sp>
        <p:nvSpPr>
          <p:cNvPr id="70" name="Rectangle 69"/>
          <p:cNvSpPr/>
          <p:nvPr/>
        </p:nvSpPr>
        <p:spPr>
          <a:xfrm>
            <a:off x="1078992" y="4370832"/>
            <a:ext cx="10140696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078992" y="4370832"/>
            <a:ext cx="73152" cy="141732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243584" y="4517136"/>
            <a:ext cx="123444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TD3 目标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73" name="Picture 72" descr="rl_td3_targ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97205" y="4919472"/>
            <a:ext cx="4359133" cy="70408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" name="formula_plain_white_background"/>
          <p:cNvSpPr/>
          <p:nvPr/>
        </p:nvSpPr>
        <p:spPr>
          <a:xfrm>
            <a:off x="566928" y="548640"/>
            <a:ext cx="11622024" cy="6309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矩形 4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02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05CAB"/>
                </a:solidFill>
                <a:latin typeface="微软雅黑" panose="020B0503020204020204" pitchFamily="34" charset="-122"/>
              </a:rPr>
              <a:t>脉冲神经网络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17196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43000" y="1042415"/>
            <a:ext cx="10058400" cy="15544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3000" y="1042415"/>
            <a:ext cx="73152" cy="155448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07592" y="1188719"/>
            <a:ext cx="132588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脉冲触发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1" name="Picture 60" descr="snn_spik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0874" y="1591055"/>
            <a:ext cx="3717514" cy="841247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1143000" y="2880360"/>
            <a:ext cx="10058400" cy="27889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43000" y="2880360"/>
            <a:ext cx="73152" cy="278892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307592" y="3026664"/>
            <a:ext cx="123444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LIF 递推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5" name="Picture 64" descr="snn_lif_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1637" y="3429000"/>
            <a:ext cx="3915988" cy="207568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0" name="formula_plain_white_background"/>
          <p:cNvSpPr/>
          <p:nvPr/>
        </p:nvSpPr>
        <p:spPr>
          <a:xfrm>
            <a:off x="566928" y="548640"/>
            <a:ext cx="11622024" cy="6309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矩形 4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02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05CAB"/>
                </a:solidFill>
                <a:latin typeface="微软雅黑" panose="020B0503020204020204" pitchFamily="34" charset="-122"/>
              </a:rPr>
              <a:t>PLIF 神经元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17196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43000" y="932688"/>
            <a:ext cx="10058400" cy="141732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3000" y="932688"/>
            <a:ext cx="73152" cy="141732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07592" y="1078992"/>
            <a:ext cx="141732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膜电位更新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1" name="Picture 60" descr="plif_upd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71620" y="1481328"/>
            <a:ext cx="5056022" cy="704088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1143000" y="2615184"/>
            <a:ext cx="10058400" cy="150876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43000" y="2615184"/>
            <a:ext cx="73152" cy="150876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307592" y="2761488"/>
            <a:ext cx="1627632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时间常数映射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5" name="Picture 64" descr="plif_ta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7148" y="3163824"/>
            <a:ext cx="3464966" cy="795527"/>
          </a:xfrm>
          <a:prstGeom prst="rect">
            <a:avLst/>
          </a:prstGeom>
        </p:spPr>
      </p:pic>
      <p:sp>
        <p:nvSpPr>
          <p:cNvPr id="66" name="Rectangle 65"/>
          <p:cNvSpPr/>
          <p:nvPr/>
        </p:nvSpPr>
        <p:spPr>
          <a:xfrm>
            <a:off x="1143000" y="4407408"/>
            <a:ext cx="10058400" cy="132588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143000" y="4407408"/>
            <a:ext cx="73152" cy="132588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307592" y="4553712"/>
            <a:ext cx="123444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初始对齐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9" name="Picture 68" descr="plif_in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48732" y="4956048"/>
            <a:ext cx="1701799" cy="61264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6" name="formula_plain_white_background"/>
          <p:cNvSpPr/>
          <p:nvPr/>
        </p:nvSpPr>
        <p:spPr>
          <a:xfrm>
            <a:off x="566928" y="548640"/>
            <a:ext cx="11622024" cy="6309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矩形 4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02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b="1">
                <a:solidFill>
                  <a:srgbClr val="005CAB"/>
                </a:solidFill>
                <a:latin typeface="微软雅黑" panose="020B0503020204020204" pitchFamily="34" charset="-122"/>
              </a:rPr>
              <a:t>代理梯度与 STBP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17196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1143000" y="1097280"/>
            <a:ext cx="10058400" cy="2148840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43000" y="1097280"/>
            <a:ext cx="73152" cy="2148840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307592" y="1243584"/>
            <a:ext cx="169164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代理梯度窗口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1" name="Picture 60" descr="surrogate_gra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34078" y="1645919"/>
            <a:ext cx="5331106" cy="1435608"/>
          </a:xfrm>
          <a:prstGeom prst="rect">
            <a:avLst/>
          </a:prstGeom>
        </p:spPr>
      </p:pic>
      <p:sp>
        <p:nvSpPr>
          <p:cNvPr id="62" name="Rectangle 61"/>
          <p:cNvSpPr/>
          <p:nvPr/>
        </p:nvSpPr>
        <p:spPr>
          <a:xfrm>
            <a:off x="1143000" y="3703320"/>
            <a:ext cx="10058400" cy="1874519"/>
          </a:xfrm>
          <a:prstGeom prst="rect">
            <a:avLst/>
          </a:prstGeom>
          <a:solidFill>
            <a:srgbClr val="FFFFFF"/>
          </a:solidFill>
          <a:ln w="10160">
            <a:solidFill>
              <a:srgbClr val="D8DE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143000" y="3703320"/>
            <a:ext cx="73152" cy="1874519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307592" y="3849624"/>
            <a:ext cx="1691640" cy="310896"/>
          </a:xfrm>
          <a:prstGeom prst="rect">
            <a:avLst/>
          </a:prstGeom>
          <a:solidFill>
            <a:srgbClr val="8306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73152" rIns="73152" rtlCol="0" anchor="ctr"/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 panose="020B0503020204020204" pitchFamily="34" charset="-122"/>
              </a:rPr>
              <a:t>时间递推路径</a:t>
            </a:r>
            <a:endParaRPr sz="12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pic>
        <p:nvPicPr>
          <p:cNvPr id="65" name="Picture 64" descr="stbp_recur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015" y="4251960"/>
            <a:ext cx="6538595" cy="9378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02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Proxy Target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框架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17196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proxy_target_algorithm_crop_full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55900" y="698500"/>
            <a:ext cx="7835900" cy="5842000"/>
          </a:xfrm>
          <a:prstGeom prst="rect">
            <a:avLst/>
          </a:prstGeom>
          <a:ln w="6350">
            <a:solidFill>
              <a:srgbClr val="C0C0C0"/>
            </a:solidFill>
          </a:ln>
        </p:spPr>
      </p:pic>
      <p:sp>
        <p:nvSpPr>
          <p:cNvPr id="4" name="文本框 3"/>
          <p:cNvSpPr txBox="1"/>
          <p:nvPr/>
        </p:nvSpPr>
        <p:spPr>
          <a:xfrm>
            <a:off x="2755900" y="6604000"/>
            <a:ext cx="7835900" cy="11493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p>
            <a:r>
              <a:rPr lang="zh-CN" altLang="en-US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图源：</a:t>
            </a:r>
            <a:r>
              <a:rPr lang="en-US" altLang="zh-CN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Xu </a:t>
            </a:r>
            <a:r>
              <a:rPr lang="zh-CN" altLang="en-US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等</a:t>
            </a:r>
            <a:r>
              <a:rPr lang="en-US" altLang="zh-CN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(2025)</a:t>
            </a:r>
            <a:r>
              <a:rPr lang="zh-CN" altLang="en-US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，第</a:t>
            </a:r>
            <a:r>
              <a:rPr lang="en-US" altLang="zh-CN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7 </a:t>
            </a:r>
            <a:r>
              <a:rPr lang="zh-CN" altLang="en-US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</a:t>
            </a:r>
            <a:r>
              <a:rPr lang="en-US" altLang="zh-CN" sz="750">
                <a:solidFill>
                  <a:srgbClr val="80808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Algorithm 1</a:t>
            </a:r>
            <a:endParaRPr lang="en-US" altLang="zh-CN" sz="750">
              <a:solidFill>
                <a:srgbClr val="80808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" name="codex_link_back_slide19">
            <a:hlinkClick action="ppaction://hlinksldjump" r:id="rId4"/>
          </p:cNvPr>
          <p:cNvSpPr/>
          <p:nvPr/>
        </p:nvSpPr>
        <p:spPr>
          <a:xfrm>
            <a:off x="10642600" y="6146800"/>
            <a:ext cx="1320800" cy="304800"/>
          </a:xfrm>
          <a:prstGeom prst="roundRect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01600" tIns="25400" rIns="101600" rtlCol="0" anchor="ctr"/>
          <a:p>
            <a:pPr algn="ctr"/>
            <a:r>
              <a:rPr lang="zh-CN" altLang="en-US"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返回第</a:t>
            </a:r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19</a:t>
            </a:r>
            <a:r>
              <a:rPr lang="zh-CN" altLang="en-US"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页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395413"/>
            <a:ext cx="12192000" cy="4392612"/>
            <a:chOff x="0" y="1395413"/>
            <a:chExt cx="12192000" cy="4392612"/>
          </a:xfrm>
        </p:grpSpPr>
        <p:sp>
          <p:nvSpPr>
            <p:cNvPr id="8" name="Freeform 5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3308645" y="1395413"/>
              <a:ext cx="8883355" cy="1881187"/>
            </a:xfrm>
            <a:custGeom>
              <a:avLst/>
              <a:gdLst>
                <a:gd name="T0" fmla="*/ 11567 w 11567"/>
                <a:gd name="T1" fmla="*/ 2441 h 2441"/>
                <a:gd name="T2" fmla="*/ 0 w 11567"/>
                <a:gd name="T3" fmla="*/ 2441 h 2441"/>
                <a:gd name="T4" fmla="*/ 1542 w 11567"/>
                <a:gd name="T5" fmla="*/ 0 h 2441"/>
                <a:gd name="T6" fmla="*/ 11567 w 11567"/>
                <a:gd name="T7" fmla="*/ 0 h 2441"/>
                <a:gd name="T8" fmla="*/ 11567 w 11567"/>
                <a:gd name="T9" fmla="*/ 2441 h 2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67" h="2441">
                  <a:moveTo>
                    <a:pt x="11567" y="2441"/>
                  </a:moveTo>
                  <a:lnTo>
                    <a:pt x="0" y="2441"/>
                  </a:lnTo>
                  <a:lnTo>
                    <a:pt x="1542" y="0"/>
                  </a:lnTo>
                  <a:lnTo>
                    <a:pt x="11567" y="0"/>
                  </a:lnTo>
                  <a:lnTo>
                    <a:pt x="11567" y="2441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Freeform 6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4075113"/>
              <a:ext cx="5693725" cy="1712912"/>
            </a:xfrm>
            <a:custGeom>
              <a:avLst/>
              <a:gdLst>
                <a:gd name="T0" fmla="*/ 0 w 7413"/>
                <a:gd name="T1" fmla="*/ 0 h 2222"/>
                <a:gd name="T2" fmla="*/ 7413 w 7413"/>
                <a:gd name="T3" fmla="*/ 0 h 2222"/>
                <a:gd name="T4" fmla="*/ 6010 w 7413"/>
                <a:gd name="T5" fmla="*/ 2222 h 2222"/>
                <a:gd name="T6" fmla="*/ 0 w 7413"/>
                <a:gd name="T7" fmla="*/ 2222 h 2222"/>
                <a:gd name="T8" fmla="*/ 0 w 7413"/>
                <a:gd name="T9" fmla="*/ 0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3" h="2222">
                  <a:moveTo>
                    <a:pt x="0" y="0"/>
                  </a:moveTo>
                  <a:lnTo>
                    <a:pt x="7413" y="0"/>
                  </a:lnTo>
                  <a:lnTo>
                    <a:pt x="6010" y="2222"/>
                  </a:lnTo>
                  <a:lnTo>
                    <a:pt x="0" y="2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Freeform 7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2052639"/>
              <a:ext cx="10728896" cy="2981325"/>
            </a:xfrm>
            <a:custGeom>
              <a:avLst/>
              <a:gdLst>
                <a:gd name="T0" fmla="*/ 0 w 13970"/>
                <a:gd name="T1" fmla="*/ 0 h 3869"/>
                <a:gd name="T2" fmla="*/ 13970 w 13970"/>
                <a:gd name="T3" fmla="*/ 0 h 3869"/>
                <a:gd name="T4" fmla="*/ 11527 w 13970"/>
                <a:gd name="T5" fmla="*/ 3869 h 3869"/>
                <a:gd name="T6" fmla="*/ 0 w 13970"/>
                <a:gd name="T7" fmla="*/ 3869 h 3869"/>
                <a:gd name="T8" fmla="*/ 0 w 13970"/>
                <a:gd name="T9" fmla="*/ 0 h 3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70" h="3869">
                  <a:moveTo>
                    <a:pt x="0" y="0"/>
                  </a:moveTo>
                  <a:lnTo>
                    <a:pt x="13970" y="0"/>
                  </a:lnTo>
                  <a:lnTo>
                    <a:pt x="11527" y="3869"/>
                  </a:lnTo>
                  <a:lnTo>
                    <a:pt x="0" y="3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文本框 12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 txBox="1"/>
          <p:nvPr/>
        </p:nvSpPr>
        <p:spPr>
          <a:xfrm>
            <a:off x="1106396" y="2670509"/>
            <a:ext cx="1478290" cy="1630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endParaRPr lang="en-US" sz="10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4106545"/>
            <a:ext cx="8255000" cy="2832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2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整体网络结构</a:t>
            </a:r>
            <a:endParaRPr lang="zh-CN" altLang="en-US" sz="12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2694940"/>
            <a:ext cx="7747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lang="zh-CN" sz="28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脉冲</a:t>
            </a:r>
            <a:r>
              <a:rPr lang="en-US" altLang="zh-CN" sz="28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Actor </a:t>
            </a:r>
            <a:r>
              <a:rPr lang="zh-CN" altLang="en-US" sz="28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结构</a:t>
            </a:r>
            <a:endParaRPr lang="zh-CN" altLang="en-US" sz="28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6" name="矩形 15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/>
          <p:nvPr/>
        </p:nvSpPr>
        <p:spPr>
          <a:xfrm>
            <a:off x="2956560" y="3467100"/>
            <a:ext cx="566420" cy="6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8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/>
          <p:nvPr/>
        </p:nvSpPr>
        <p:spPr bwMode="auto">
          <a:xfrm>
            <a:off x="11227177" y="1908176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 4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03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整体网络结构</a:t>
            </a:r>
            <a:endParaRPr lang="zh-CN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51" name="矩形 5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2" name="矩形 5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矩形 5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矩形 5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矩形 5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矩形 5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矩形 5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25578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2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4" name="SNN_Actor_Network_Chinese_No_TD3" descr="snn_actor_network_structure_chinese_no_td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06500" y="838200"/>
            <a:ext cx="10414000" cy="58605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395413"/>
            <a:ext cx="12192000" cy="4392612"/>
            <a:chOff x="0" y="1395413"/>
            <a:chExt cx="12192000" cy="4392612"/>
          </a:xfrm>
        </p:grpSpPr>
        <p:sp>
          <p:nvSpPr>
            <p:cNvPr id="8" name="Freeform 5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3308645" y="1395413"/>
              <a:ext cx="8883355" cy="1881187"/>
            </a:xfrm>
            <a:custGeom>
              <a:avLst/>
              <a:gdLst>
                <a:gd name="T0" fmla="*/ 11567 w 11567"/>
                <a:gd name="T1" fmla="*/ 2441 h 2441"/>
                <a:gd name="T2" fmla="*/ 0 w 11567"/>
                <a:gd name="T3" fmla="*/ 2441 h 2441"/>
                <a:gd name="T4" fmla="*/ 1542 w 11567"/>
                <a:gd name="T5" fmla="*/ 0 h 2441"/>
                <a:gd name="T6" fmla="*/ 11567 w 11567"/>
                <a:gd name="T7" fmla="*/ 0 h 2441"/>
                <a:gd name="T8" fmla="*/ 11567 w 11567"/>
                <a:gd name="T9" fmla="*/ 2441 h 2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67" h="2441">
                  <a:moveTo>
                    <a:pt x="11567" y="2441"/>
                  </a:moveTo>
                  <a:lnTo>
                    <a:pt x="0" y="2441"/>
                  </a:lnTo>
                  <a:lnTo>
                    <a:pt x="1542" y="0"/>
                  </a:lnTo>
                  <a:lnTo>
                    <a:pt x="11567" y="0"/>
                  </a:lnTo>
                  <a:lnTo>
                    <a:pt x="11567" y="2441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Freeform 6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4075113"/>
              <a:ext cx="5693725" cy="1712912"/>
            </a:xfrm>
            <a:custGeom>
              <a:avLst/>
              <a:gdLst>
                <a:gd name="T0" fmla="*/ 0 w 7413"/>
                <a:gd name="T1" fmla="*/ 0 h 2222"/>
                <a:gd name="T2" fmla="*/ 7413 w 7413"/>
                <a:gd name="T3" fmla="*/ 0 h 2222"/>
                <a:gd name="T4" fmla="*/ 6010 w 7413"/>
                <a:gd name="T5" fmla="*/ 2222 h 2222"/>
                <a:gd name="T6" fmla="*/ 0 w 7413"/>
                <a:gd name="T7" fmla="*/ 2222 h 2222"/>
                <a:gd name="T8" fmla="*/ 0 w 7413"/>
                <a:gd name="T9" fmla="*/ 0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3" h="2222">
                  <a:moveTo>
                    <a:pt x="0" y="0"/>
                  </a:moveTo>
                  <a:lnTo>
                    <a:pt x="7413" y="0"/>
                  </a:lnTo>
                  <a:lnTo>
                    <a:pt x="6010" y="2222"/>
                  </a:lnTo>
                  <a:lnTo>
                    <a:pt x="0" y="2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Freeform 7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2052639"/>
              <a:ext cx="10728896" cy="2981325"/>
            </a:xfrm>
            <a:custGeom>
              <a:avLst/>
              <a:gdLst>
                <a:gd name="T0" fmla="*/ 0 w 13970"/>
                <a:gd name="T1" fmla="*/ 0 h 3869"/>
                <a:gd name="T2" fmla="*/ 13970 w 13970"/>
                <a:gd name="T3" fmla="*/ 0 h 3869"/>
                <a:gd name="T4" fmla="*/ 11527 w 13970"/>
                <a:gd name="T5" fmla="*/ 3869 h 3869"/>
                <a:gd name="T6" fmla="*/ 0 w 13970"/>
                <a:gd name="T7" fmla="*/ 3869 h 3869"/>
                <a:gd name="T8" fmla="*/ 0 w 13970"/>
                <a:gd name="T9" fmla="*/ 0 h 3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70" h="3869">
                  <a:moveTo>
                    <a:pt x="0" y="0"/>
                  </a:moveTo>
                  <a:lnTo>
                    <a:pt x="13970" y="0"/>
                  </a:lnTo>
                  <a:lnTo>
                    <a:pt x="11527" y="3869"/>
                  </a:lnTo>
                  <a:lnTo>
                    <a:pt x="0" y="3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文本框 12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 txBox="1"/>
          <p:nvPr/>
        </p:nvSpPr>
        <p:spPr>
          <a:xfrm>
            <a:off x="1106396" y="2670509"/>
            <a:ext cx="1478290" cy="1630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</a:t>
            </a:r>
            <a:endParaRPr lang="en-US" sz="10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4114165"/>
            <a:ext cx="8255000" cy="267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实验设置与比较对象</a:t>
            </a:r>
            <a:endParaRPr lang="zh-CN" altLang="en-US" sz="11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2694940"/>
            <a:ext cx="7747000" cy="5835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lang="zh-CN" altLang="en-US" sz="3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实验设计与配置说明</a:t>
            </a:r>
            <a:endParaRPr lang="zh-CN" altLang="en-US" sz="32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/>
          <p:nvPr/>
        </p:nvSpPr>
        <p:spPr>
          <a:xfrm>
            <a:off x="2956560" y="3467100"/>
            <a:ext cx="566420" cy="6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8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/>
          <p:nvPr/>
        </p:nvSpPr>
        <p:spPr bwMode="auto">
          <a:xfrm>
            <a:off x="11227177" y="1908176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实验设置与比较对象</a:t>
            </a:r>
            <a:endParaRPr lang="zh-CN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04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矩形 10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33960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 descr="mujoco_env_table_4_1_body_only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400" y="939800"/>
            <a:ext cx="10414000" cy="3053080"/>
          </a:xfrm>
          <a:prstGeom prst="rect">
            <a:avLst/>
          </a:prstGeom>
        </p:spPr>
      </p:pic>
      <p:sp>
        <p:nvSpPr>
          <p:cNvPr id="4" name="codex_slide15_separator"/>
          <p:cNvSpPr/>
          <p:nvPr/>
        </p:nvSpPr>
        <p:spPr>
          <a:xfrm>
            <a:off x="1219200" y="4165600"/>
            <a:ext cx="10312400" cy="20320"/>
          </a:xfrm>
          <a:prstGeom prst="rect">
            <a:avLst/>
          </a:prstGeom>
          <a:solidFill>
            <a:srgbClr val="BC2A22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codex_slide15_block"/>
          <p:cNvSpPr/>
          <p:nvPr/>
        </p:nvSpPr>
        <p:spPr>
          <a:xfrm>
            <a:off x="1270000" y="4419600"/>
            <a:ext cx="4826000" cy="187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codex_slide15_block_bar"/>
          <p:cNvSpPr/>
          <p:nvPr/>
        </p:nvSpPr>
        <p:spPr>
          <a:xfrm>
            <a:off x="1270000" y="4419600"/>
            <a:ext cx="4826000" cy="63500"/>
          </a:xfrm>
          <a:prstGeom prst="rect">
            <a:avLst/>
          </a:prstGeom>
          <a:solidFill>
            <a:srgbClr val="830604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codex_slide15_text"/>
          <p:cNvSpPr txBox="1"/>
          <p:nvPr/>
        </p:nvSpPr>
        <p:spPr>
          <a:xfrm>
            <a:off x="1473200" y="4635500"/>
            <a:ext cx="4419600" cy="30416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>
              <a:spcAft>
                <a:spcPts val="100"/>
              </a:spcAft>
            </a:pPr>
            <a:r>
              <a:rPr lang="zh-CN" altLang="en-US" sz="1600" b="1">
                <a:solidFill>
                  <a:srgbClr val="83060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评估协议</a:t>
            </a:r>
            <a:endParaRPr lang="zh-CN" altLang="en-US" sz="1600" b="1">
              <a:solidFill>
                <a:srgbClr val="830604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codex_slide15_text"/>
          <p:cNvSpPr txBox="1"/>
          <p:nvPr/>
        </p:nvSpPr>
        <p:spPr>
          <a:xfrm>
            <a:off x="1498600" y="5029200"/>
            <a:ext cx="4368800" cy="82232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>
              <a:spcAft>
                <a:spcPts val="100"/>
              </a:spcAft>
            </a:pPr>
            <a:r>
              <a:rPr lang="en-US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随机种子：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10991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22297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33431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75183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95718</a:t>
            </a:r>
            <a:endParaRPr lang="en-US" altLang="zh-CN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100"/>
              </a:spcAft>
            </a:pP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评估频率：每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5000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个环境交互步评估一次</a:t>
            </a:r>
            <a:endParaRPr lang="en-US" altLang="zh-CN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100"/>
              </a:spcAft>
            </a:pP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评估方式：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10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个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episode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平均回报；最终性能取训练过程最大评估回报</a:t>
            </a:r>
            <a:endParaRPr lang="zh-CN" altLang="en-US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8" name="codex_slide15_block"/>
          <p:cNvSpPr/>
          <p:nvPr/>
        </p:nvSpPr>
        <p:spPr>
          <a:xfrm>
            <a:off x="6502400" y="4419600"/>
            <a:ext cx="4826000" cy="1879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2EB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codex_slide15_block_bar"/>
          <p:cNvSpPr/>
          <p:nvPr/>
        </p:nvSpPr>
        <p:spPr>
          <a:xfrm>
            <a:off x="6502400" y="4419600"/>
            <a:ext cx="4826000" cy="63500"/>
          </a:xfrm>
          <a:prstGeom prst="rect">
            <a:avLst/>
          </a:prstGeom>
          <a:solidFill>
            <a:srgbClr val="0060A0"/>
          </a:solidFill>
          <a:ln w="12700" cap="flat" cmpd="sng" algn="ctr">
            <a:noFill/>
            <a:prstDash val="solid"/>
            <a:miter lim="800000"/>
          </a:ln>
          <a:extLst>
            <a:ext uri="{91240B29-F687-4F45-9708-019B960494DF}">
              <a14:hiddenLine xmlns:a14="http://schemas.microsoft.com/office/drawing/2010/main" w="12700">
                <a:solidFill>
                  <a:schemeClr val="accent1">
                    <a:lumMod val="75000"/>
                  </a:schemeClr>
                </a:solidFill>
                <a:prstDash val="solid"/>
                <a:miter lim="800000"/>
                <a:headEnd/>
                <a:tailEnd/>
              </a14:hiddenLine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codex_slide15_text"/>
          <p:cNvSpPr txBox="1"/>
          <p:nvPr/>
        </p:nvSpPr>
        <p:spPr>
          <a:xfrm>
            <a:off x="6705600" y="4635500"/>
            <a:ext cx="4419600" cy="304165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>
              <a:spcAft>
                <a:spcPts val="100"/>
              </a:spcAft>
            </a:pPr>
            <a:r>
              <a:rPr lang="en-US" altLang="en-US" sz="1600" b="1">
                <a:solidFill>
                  <a:srgbClr val="006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Actor </a:t>
            </a:r>
            <a:r>
              <a:rPr lang="zh-CN" altLang="en-US" sz="1600" b="1">
                <a:solidFill>
                  <a:srgbClr val="0060A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对照对象</a:t>
            </a:r>
            <a:endParaRPr lang="zh-CN" altLang="en-US" sz="1600" b="1">
              <a:solidFill>
                <a:srgbClr val="0060A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21" name="codex_slide15_text"/>
          <p:cNvSpPr txBox="1"/>
          <p:nvPr/>
        </p:nvSpPr>
        <p:spPr>
          <a:xfrm>
            <a:off x="6731000" y="5029200"/>
            <a:ext cx="4368800" cy="1019810"/>
          </a:xfrm>
          <a:prstGeom prst="rect">
            <a:avLst/>
          </a:prstGeom>
          <a:noFill/>
        </p:spPr>
        <p:txBody>
          <a:bodyPr wrap="square" lIns="25400" tIns="12700" rIns="25400" rtlCol="0" anchor="t">
            <a:spAutoFit/>
          </a:bodyPr>
          <a:p>
            <a:pPr algn="l">
              <a:spcAft>
                <a:spcPts val="100"/>
              </a:spcAft>
            </a:pPr>
            <a:r>
              <a:rPr lang="en-US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背景参照：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ANN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CLIF</a:t>
            </a:r>
            <a:endParaRPr lang="en-US" altLang="zh-CN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100"/>
              </a:spcAft>
            </a:pP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核心比较：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PT-LIF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PT-PLIF</a:t>
            </a:r>
            <a:endParaRPr lang="en-US" altLang="zh-CN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100"/>
              </a:spcAft>
            </a:pP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•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保持一致：编码、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Spike MLP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、解码、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critic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Proxy Target </a:t>
            </a:r>
            <a:r>
              <a:rPr lang="zh-CN" altLang="en-US" sz="1200">
                <a:solidFill>
                  <a:srgbClr val="27354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流程</a:t>
            </a:r>
            <a:endParaRPr lang="en-US" altLang="zh-CN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algn="l">
              <a:spcAft>
                <a:spcPts val="100"/>
              </a:spcAft>
            </a:pPr>
            <a:endParaRPr lang="zh-CN" altLang="en-US" sz="1200">
              <a:solidFill>
                <a:srgbClr val="273547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395413"/>
            <a:ext cx="12192000" cy="4392612"/>
            <a:chOff x="0" y="1395413"/>
            <a:chExt cx="12192000" cy="4392612"/>
          </a:xfrm>
        </p:grpSpPr>
        <p:sp>
          <p:nvSpPr>
            <p:cNvPr id="8" name="Freeform 5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3308645" y="1395413"/>
              <a:ext cx="8883355" cy="1881187"/>
            </a:xfrm>
            <a:custGeom>
              <a:avLst/>
              <a:gdLst>
                <a:gd name="T0" fmla="*/ 11567 w 11567"/>
                <a:gd name="T1" fmla="*/ 2441 h 2441"/>
                <a:gd name="T2" fmla="*/ 0 w 11567"/>
                <a:gd name="T3" fmla="*/ 2441 h 2441"/>
                <a:gd name="T4" fmla="*/ 1542 w 11567"/>
                <a:gd name="T5" fmla="*/ 0 h 2441"/>
                <a:gd name="T6" fmla="*/ 11567 w 11567"/>
                <a:gd name="T7" fmla="*/ 0 h 2441"/>
                <a:gd name="T8" fmla="*/ 11567 w 11567"/>
                <a:gd name="T9" fmla="*/ 2441 h 2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67" h="2441">
                  <a:moveTo>
                    <a:pt x="11567" y="2441"/>
                  </a:moveTo>
                  <a:lnTo>
                    <a:pt x="0" y="2441"/>
                  </a:lnTo>
                  <a:lnTo>
                    <a:pt x="1542" y="0"/>
                  </a:lnTo>
                  <a:lnTo>
                    <a:pt x="11567" y="0"/>
                  </a:lnTo>
                  <a:lnTo>
                    <a:pt x="11567" y="2441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Freeform 6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4075113"/>
              <a:ext cx="5693725" cy="1712912"/>
            </a:xfrm>
            <a:custGeom>
              <a:avLst/>
              <a:gdLst>
                <a:gd name="T0" fmla="*/ 0 w 7413"/>
                <a:gd name="T1" fmla="*/ 0 h 2222"/>
                <a:gd name="T2" fmla="*/ 7413 w 7413"/>
                <a:gd name="T3" fmla="*/ 0 h 2222"/>
                <a:gd name="T4" fmla="*/ 6010 w 7413"/>
                <a:gd name="T5" fmla="*/ 2222 h 2222"/>
                <a:gd name="T6" fmla="*/ 0 w 7413"/>
                <a:gd name="T7" fmla="*/ 2222 h 2222"/>
                <a:gd name="T8" fmla="*/ 0 w 7413"/>
                <a:gd name="T9" fmla="*/ 0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3" h="2222">
                  <a:moveTo>
                    <a:pt x="0" y="0"/>
                  </a:moveTo>
                  <a:lnTo>
                    <a:pt x="7413" y="0"/>
                  </a:lnTo>
                  <a:lnTo>
                    <a:pt x="6010" y="2222"/>
                  </a:lnTo>
                  <a:lnTo>
                    <a:pt x="0" y="2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Freeform 7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2052639"/>
              <a:ext cx="10728896" cy="2981325"/>
            </a:xfrm>
            <a:custGeom>
              <a:avLst/>
              <a:gdLst>
                <a:gd name="T0" fmla="*/ 0 w 13970"/>
                <a:gd name="T1" fmla="*/ 0 h 3869"/>
                <a:gd name="T2" fmla="*/ 13970 w 13970"/>
                <a:gd name="T3" fmla="*/ 0 h 3869"/>
                <a:gd name="T4" fmla="*/ 11527 w 13970"/>
                <a:gd name="T5" fmla="*/ 3869 h 3869"/>
                <a:gd name="T6" fmla="*/ 0 w 13970"/>
                <a:gd name="T7" fmla="*/ 3869 h 3869"/>
                <a:gd name="T8" fmla="*/ 0 w 13970"/>
                <a:gd name="T9" fmla="*/ 0 h 3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70" h="3869">
                  <a:moveTo>
                    <a:pt x="0" y="0"/>
                  </a:moveTo>
                  <a:lnTo>
                    <a:pt x="13970" y="0"/>
                  </a:lnTo>
                  <a:lnTo>
                    <a:pt x="11527" y="3869"/>
                  </a:lnTo>
                  <a:lnTo>
                    <a:pt x="0" y="3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文本框 12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 txBox="1"/>
          <p:nvPr/>
        </p:nvSpPr>
        <p:spPr>
          <a:xfrm>
            <a:off x="1106396" y="2670509"/>
            <a:ext cx="1478290" cy="1630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endParaRPr lang="en-US" sz="10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3644900"/>
            <a:ext cx="8255000" cy="12065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总体实验结果展示、学习失败现象的复现与缓解</a:t>
            </a:r>
            <a:endParaRPr lang="en-US" altLang="zh-CN" sz="11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STBP </a:t>
            </a:r>
            <a:r>
              <a:rPr lang="zh-CN" altLang="en-US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梯度塌缩与放电状态诊断、</a:t>
            </a:r>
            <a:r>
              <a:rPr lang="en-US" altLang="zh-CN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 </a:t>
            </a:r>
            <a:r>
              <a:rPr lang="zh-CN" altLang="en-US" sz="115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时间常数演化、机制近似等价性分析</a:t>
            </a:r>
            <a:endParaRPr lang="zh-CN" altLang="en-US" sz="115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15" name="文本框 14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2694940"/>
            <a:ext cx="7747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lang="zh-CN" sz="32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实验结果与分析</a:t>
            </a:r>
            <a:endParaRPr lang="zh-CN" sz="32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/>
          <p:nvPr/>
        </p:nvSpPr>
        <p:spPr>
          <a:xfrm>
            <a:off x="2956560" y="3467100"/>
            <a:ext cx="566420" cy="6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8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/>
          <p:nvPr/>
        </p:nvSpPr>
        <p:spPr bwMode="auto">
          <a:xfrm>
            <a:off x="11227177" y="1908176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总体实验结果展示</a:t>
            </a:r>
            <a:endParaRPr lang="zh-CN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矩形 10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960120" y="804672"/>
            <a:ext cx="106527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algorithm_max_eva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43000" y="1120859"/>
            <a:ext cx="10287000" cy="4844881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总体实验结果展示</a:t>
            </a:r>
            <a:endParaRPr lang="zh-CN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矩形 10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960120" y="804672"/>
            <a:ext cx="10652760" cy="54406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algorithm_lear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00258" y="914400"/>
            <a:ext cx="5772484" cy="52578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zh-CN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学习失败现象的复现和缓解</a:t>
            </a:r>
            <a:endParaRPr lang="zh-CN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" name="矩形 10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4" name="矩形 10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5" name="矩形 10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6" name="矩形 10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7" name="矩形 10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8" name="矩形 10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109" name="Rectangle 108"/>
          <p:cNvSpPr/>
          <p:nvPr/>
        </p:nvSpPr>
        <p:spPr>
          <a:xfrm>
            <a:off x="960120" y="868680"/>
            <a:ext cx="7360920" cy="5212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0" name="Picture 109" descr="plif_hopper_seed10991_repeat_lear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504706"/>
            <a:ext cx="7086600" cy="3949172"/>
          </a:xfrm>
          <a:prstGeom prst="rect">
            <a:avLst/>
          </a:prstGeom>
        </p:spPr>
      </p:pic>
      <p:sp>
        <p:nvSpPr>
          <p:cNvPr id="111" name="Rounded Rectangle 110"/>
          <p:cNvSpPr/>
          <p:nvPr/>
        </p:nvSpPr>
        <p:spPr>
          <a:xfrm>
            <a:off x="8321040" y="1234440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8321040" y="1234440"/>
            <a:ext cx="82296" cy="1508760"/>
          </a:xfrm>
          <a:prstGeom prst="rect">
            <a:avLst/>
          </a:prstGeom>
          <a:solidFill>
            <a:srgbClr val="0066AA"/>
          </a:solidFill>
          <a:ln w="12700">
            <a:solidFill>
              <a:srgbClr val="00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522208" y="1353312"/>
            <a:ext cx="242316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66AA"/>
                </a:solidFill>
                <a:latin typeface="微软雅黑" panose="020B0503020204020204" pitchFamily="34" charset="-122"/>
              </a:rPr>
              <a:t>默认失败组</a:t>
            </a:r>
            <a:endParaRPr sz="1700" b="1">
              <a:solidFill>
                <a:srgbClr val="0066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8522208" y="1709928"/>
            <a:ext cx="2395728" cy="9418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626C76"/>
                </a:solidFill>
                <a:latin typeface="微软雅黑" panose="020B0503020204020204" pitchFamily="34" charset="-122"/>
              </a:rPr>
              <a:t>• policy_freq=2</a:t>
            </a:r>
            <a:endParaRPr sz="1350">
              <a:solidFill>
                <a:srgbClr val="626C7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626C76"/>
                </a:solidFill>
                <a:latin typeface="微软雅黑" panose="020B0503020204020204" pitchFamily="34" charset="-122"/>
              </a:rPr>
              <a:t>• 长期停留低回报</a:t>
            </a:r>
            <a:endParaRPr sz="1350">
              <a:solidFill>
                <a:srgbClr val="626C7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626C76"/>
                </a:solidFill>
                <a:latin typeface="微软雅黑" panose="020B0503020204020204" pitchFamily="34" charset="-122"/>
              </a:rPr>
              <a:t>• 最大评估回报约 239.393</a:t>
            </a:r>
            <a:endParaRPr sz="1350">
              <a:solidFill>
                <a:srgbClr val="626C76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5" name="Rounded Rectangle 114"/>
          <p:cNvSpPr/>
          <p:nvPr/>
        </p:nvSpPr>
        <p:spPr>
          <a:xfrm>
            <a:off x="8321040" y="3063240"/>
            <a:ext cx="2743200" cy="1508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8321040" y="3063240"/>
            <a:ext cx="82296" cy="1508760"/>
          </a:xfrm>
          <a:prstGeom prst="rect">
            <a:avLst/>
          </a:prstGeom>
          <a:solidFill>
            <a:srgbClr val="0066AA"/>
          </a:solidFill>
          <a:ln w="12700">
            <a:solidFill>
              <a:srgbClr val="0066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8522208" y="3182112"/>
            <a:ext cx="2423160" cy="256032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0066AA"/>
                </a:solidFill>
                <a:latin typeface="微软雅黑" panose="020B0503020204020204" pitchFamily="34" charset="-122"/>
              </a:rPr>
              <a:t>调整组</a:t>
            </a:r>
            <a:endParaRPr sz="1700" b="1">
              <a:solidFill>
                <a:srgbClr val="0066AA"/>
              </a:solidFill>
              <a:latin typeface="微软雅黑" panose="020B0503020204020204" pitchFamily="34" charset="-122"/>
            </a:endParaRPr>
          </a:p>
        </p:txBody>
      </p:sp>
      <p:sp>
        <p:nvSpPr>
          <p:cNvPr id="118" name="TextBox 117"/>
          <p:cNvSpPr txBox="1"/>
          <p:nvPr/>
        </p:nvSpPr>
        <p:spPr>
          <a:xfrm>
            <a:off x="8522208" y="3538728"/>
            <a:ext cx="2395728" cy="941831"/>
          </a:xfrm>
          <a:prstGeom prst="rect">
            <a:avLst/>
          </a:prstGeom>
          <a:noFill/>
        </p:spPr>
        <p:txBody>
          <a:bodyPr wrap="square" lIns="45720" tIns="27432" rIns="45720" bIns="27432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626C76"/>
                </a:solidFill>
                <a:latin typeface="微软雅黑" panose="020B0503020204020204" pitchFamily="34" charset="-122"/>
              </a:rPr>
              <a:t>• policy_freq=4</a:t>
            </a:r>
            <a:endParaRPr sz="1350">
              <a:solidFill>
                <a:srgbClr val="626C7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626C76"/>
                </a:solidFill>
                <a:latin typeface="微软雅黑" panose="020B0503020204020204" pitchFamily="34" charset="-122"/>
              </a:rPr>
              <a:t>• 进入高回报区间</a:t>
            </a:r>
            <a:endParaRPr sz="1350">
              <a:solidFill>
                <a:srgbClr val="626C76"/>
              </a:solidFill>
              <a:latin typeface="微软雅黑" panose="020B0503020204020204" pitchFamily="34" charset="-122"/>
            </a:endParaRP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626C76"/>
                </a:solidFill>
                <a:latin typeface="微软雅黑" panose="020B0503020204020204" pitchFamily="34" charset="-122"/>
              </a:rPr>
              <a:t>• 最大评估回报约 3563.550</a:t>
            </a:r>
            <a:endParaRPr sz="1350">
              <a:solidFill>
                <a:srgbClr val="626C76"/>
              </a:solidFill>
              <a:latin typeface="微软雅黑" panose="020B0503020204020204" pitchFamily="3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codex_link_to_slide11">
            <a:hlinkClick action="ppaction://hlinksldjump" r:id="rId4"/>
          </p:cNvPr>
          <p:cNvSpPr/>
          <p:nvPr/>
        </p:nvSpPr>
        <p:spPr>
          <a:xfrm>
            <a:off x="8559800" y="5994400"/>
            <a:ext cx="2413000" cy="330200"/>
          </a:xfrm>
          <a:prstGeom prst="roundRect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lIns="101600" tIns="25400" rIns="101600" rtlCol="0" anchor="ctr"/>
          <a:p>
            <a:pPr algn="ctr"/>
            <a:r>
              <a:rPr lang="zh-CN" altLang="en-US"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查看</a:t>
            </a:r>
            <a:r>
              <a:rPr lang="en-US" altLang="zh-CN"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policy_freq </a:t>
            </a:r>
            <a:r>
              <a:rPr lang="zh-CN" altLang="en-US" sz="1050" b="1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位置</a:t>
            </a:r>
            <a:endParaRPr lang="zh-CN" altLang="en-US" sz="1050" b="1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STBP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梯度塌缩与放电状态诊断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49808" y="804672"/>
            <a:ext cx="11045952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plif_stbp_gradient_collap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9632" y="1853459"/>
            <a:ext cx="5440680" cy="337968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8" name="阈值前后放电状态诊断图" descr="plif_stbp_spike_ra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" y="1537098"/>
            <a:ext cx="5440680" cy="401240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时间常数的层间演化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87" name="单图边框"/>
          <p:cNvSpPr/>
          <p:nvPr/>
        </p:nvSpPr>
        <p:spPr>
          <a:xfrm>
            <a:off x="2926080" y="804672"/>
            <a:ext cx="658368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9" name="Picture 88" descr="plif_tau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4270" y="914400"/>
            <a:ext cx="5727300" cy="52578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PLIF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时间常数的层间演化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87" name="单图边框"/>
          <p:cNvSpPr/>
          <p:nvPr/>
        </p:nvSpPr>
        <p:spPr>
          <a:xfrm>
            <a:off x="960120" y="804672"/>
            <a:ext cx="10744200" cy="5468112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9" name="Picture 88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67024" y="1510792"/>
            <a:ext cx="7166610" cy="1207008"/>
          </a:xfrm>
          <a:prstGeom prst="rect">
            <a:avLst/>
          </a:prstGeom>
        </p:spPr>
      </p:pic>
      <p:pic>
        <p:nvPicPr>
          <p:cNvPr id="92" name="Picture 9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217" y="2953512"/>
            <a:ext cx="8219149" cy="321868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LIF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与</a:t>
            </a:r>
            <a:r>
              <a:rPr lang="en-US" altLang="zh-CN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PLIF </a:t>
            </a:r>
            <a:r>
              <a:rPr lang="zh-CN" altLang="en-US" b="0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成功机制的近似等价性</a:t>
            </a:r>
            <a:endParaRPr lang="zh-CN" altLang="en-US" b="0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62" name="矩形 6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0">
                <a:solidFill>
                  <a:srgbClr val="FFFFFF"/>
                </a:solidFill>
                <a:latin typeface="Meiryo UI"/>
              </a:rPr>
              <a:t>05</a:t>
            </a:r>
            <a:endParaRPr lang="en-US" sz="1800" b="0">
              <a:solidFill>
                <a:srgbClr val="FFFFFF"/>
              </a:solidFill>
              <a:latin typeface="Meiryo UI"/>
            </a:endParaRPr>
          </a:p>
        </p:txBody>
      </p:sp>
      <p:sp>
        <p:nvSpPr>
          <p:cNvPr id="63" name="矩形 6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8" name="矩形 1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9" name="矩形 1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0" name="矩形 1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矩形 20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矩形 2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矩形 2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30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矩形 2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4234200"/>
            <a:ext cx="45719" cy="57273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70C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760000" y="805000"/>
            <a:ext cx="10980000" cy="556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DDA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5" name="Picture 64" descr="lif_plif_success_mechanism_pair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5000" y="1072029"/>
            <a:ext cx="5150000" cy="4825942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25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66" name="Picture 65" descr="table_5_3_no_ca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0000" y="1070000"/>
            <a:ext cx="5420000" cy="41850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/>
          <p:cNvGrpSpPr/>
          <p:nvPr/>
        </p:nvGrpSpPr>
        <p:grpSpPr>
          <a:xfrm>
            <a:off x="0" y="1395413"/>
            <a:ext cx="12192000" cy="4392612"/>
            <a:chOff x="0" y="1395413"/>
            <a:chExt cx="12192000" cy="4392612"/>
          </a:xfrm>
        </p:grpSpPr>
        <p:sp>
          <p:nvSpPr>
            <p:cNvPr id="8" name="Freeform 5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3308645" y="1395413"/>
              <a:ext cx="8883355" cy="1881187"/>
            </a:xfrm>
            <a:custGeom>
              <a:avLst/>
              <a:gdLst>
                <a:gd name="T0" fmla="*/ 11567 w 11567"/>
                <a:gd name="T1" fmla="*/ 2441 h 2441"/>
                <a:gd name="T2" fmla="*/ 0 w 11567"/>
                <a:gd name="T3" fmla="*/ 2441 h 2441"/>
                <a:gd name="T4" fmla="*/ 1542 w 11567"/>
                <a:gd name="T5" fmla="*/ 0 h 2441"/>
                <a:gd name="T6" fmla="*/ 11567 w 11567"/>
                <a:gd name="T7" fmla="*/ 0 h 2441"/>
                <a:gd name="T8" fmla="*/ 11567 w 11567"/>
                <a:gd name="T9" fmla="*/ 2441 h 24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567" h="2441">
                  <a:moveTo>
                    <a:pt x="11567" y="2441"/>
                  </a:moveTo>
                  <a:lnTo>
                    <a:pt x="0" y="2441"/>
                  </a:lnTo>
                  <a:lnTo>
                    <a:pt x="1542" y="0"/>
                  </a:lnTo>
                  <a:lnTo>
                    <a:pt x="11567" y="0"/>
                  </a:lnTo>
                  <a:lnTo>
                    <a:pt x="11567" y="2441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0" name="Freeform 6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4075113"/>
              <a:ext cx="5693725" cy="1712912"/>
            </a:xfrm>
            <a:custGeom>
              <a:avLst/>
              <a:gdLst>
                <a:gd name="T0" fmla="*/ 0 w 7413"/>
                <a:gd name="T1" fmla="*/ 0 h 2222"/>
                <a:gd name="T2" fmla="*/ 7413 w 7413"/>
                <a:gd name="T3" fmla="*/ 0 h 2222"/>
                <a:gd name="T4" fmla="*/ 6010 w 7413"/>
                <a:gd name="T5" fmla="*/ 2222 h 2222"/>
                <a:gd name="T6" fmla="*/ 0 w 7413"/>
                <a:gd name="T7" fmla="*/ 2222 h 2222"/>
                <a:gd name="T8" fmla="*/ 0 w 7413"/>
                <a:gd name="T9" fmla="*/ 0 h 22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413" h="2222">
                  <a:moveTo>
                    <a:pt x="0" y="0"/>
                  </a:moveTo>
                  <a:lnTo>
                    <a:pt x="7413" y="0"/>
                  </a:lnTo>
                  <a:lnTo>
                    <a:pt x="6010" y="2222"/>
                  </a:lnTo>
                  <a:lnTo>
                    <a:pt x="0" y="22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467A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  <p:sp>
          <p:nvSpPr>
            <p:cNvPr id="11" name="Freeform 7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  <p:cNvSpPr/>
            <p:nvPr/>
          </p:nvSpPr>
          <p:spPr bwMode="auto">
            <a:xfrm>
              <a:off x="0" y="2052639"/>
              <a:ext cx="10728896" cy="2981325"/>
            </a:xfrm>
            <a:custGeom>
              <a:avLst/>
              <a:gdLst>
                <a:gd name="T0" fmla="*/ 0 w 13970"/>
                <a:gd name="T1" fmla="*/ 0 h 3869"/>
                <a:gd name="T2" fmla="*/ 13970 w 13970"/>
                <a:gd name="T3" fmla="*/ 0 h 3869"/>
                <a:gd name="T4" fmla="*/ 11527 w 13970"/>
                <a:gd name="T5" fmla="*/ 3869 h 3869"/>
                <a:gd name="T6" fmla="*/ 0 w 13970"/>
                <a:gd name="T7" fmla="*/ 3869 h 3869"/>
                <a:gd name="T8" fmla="*/ 0 w 13970"/>
                <a:gd name="T9" fmla="*/ 0 h 38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3970" h="3869">
                  <a:moveTo>
                    <a:pt x="0" y="0"/>
                  </a:moveTo>
                  <a:lnTo>
                    <a:pt x="13970" y="0"/>
                  </a:lnTo>
                  <a:lnTo>
                    <a:pt x="11527" y="3869"/>
                  </a:lnTo>
                  <a:lnTo>
                    <a:pt x="0" y="38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5DA2"/>
            </a:solidFill>
            <a:ln>
              <a:noFill/>
            </a:ln>
          </p:spPr>
          <p:txBody>
            <a:bodyPr lIns="91416" tIns="45708" rIns="91416" bIns="45708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endParaRPr>
            </a:p>
          </p:txBody>
        </p:sp>
      </p:grpSp>
      <p:sp>
        <p:nvSpPr>
          <p:cNvPr id="13" name="文本框 12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 txBox="1"/>
          <p:nvPr/>
        </p:nvSpPr>
        <p:spPr>
          <a:xfrm>
            <a:off x="1106396" y="2670509"/>
            <a:ext cx="1478290" cy="163004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00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endParaRPr lang="en-US" sz="100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文本框 13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3644900"/>
            <a:ext cx="8255000" cy="120650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sz="14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全文工作总结、主要研究结论、研究不足、未来展望</a:t>
            </a:r>
            <a:endParaRPr lang="zh-CN" sz="14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4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 txBox="1"/>
          <p:nvPr/>
        </p:nvSpPr>
        <p:spPr>
          <a:xfrm>
            <a:off x="2847340" y="2694940"/>
            <a:ext cx="7747000" cy="11430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lvl="0" algn="l"/>
            <a:r>
              <a:rPr lang="zh-CN" sz="3400" b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总结与展望</a:t>
            </a:r>
            <a:endParaRPr lang="zh-CN" sz="3400" b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矩形 15" descr="e7d195523061f1c060910eeaeeff1464599dc3392e14be42F6605DBF3376AA578EAD49A2F34CDE9F8BA873D9FC4305B94F8C98BE913D0BB55B77B4982D855D57316D9666CF50C0C1F882EEA92AB650396E1778977ABF941FB65177D6883232DFBC3F3168BD9BD0485E96A7ADBC6152F51AEFDD4DC1585EA5788F3B2196A7697FB05ACDF1C9823A42"/>
          <p:cNvSpPr/>
          <p:nvPr/>
        </p:nvSpPr>
        <p:spPr>
          <a:xfrm>
            <a:off x="2956560" y="3467100"/>
            <a:ext cx="566420" cy="609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sp>
        <p:nvSpPr>
          <p:cNvPr id="17" name="Freeform 8" descr="e7d195523061f1c060910eeaeeff1464599dc3392e14be42F6605DBF3376AA578EAD49A2F34CDE9F8BA873D9FC4305B94F8C98BE913D0BB55B77B4982D855D57316D9666CF50C0C1F882EEA92AB650391898752DC0F28C027E30AABBE39009D367F52CF2EB08CFD5B7F9FB4301E8C18380EF535FE4A4CCCE7A68EA8B854FFF693052B82C6FF16E3D"/>
          <p:cNvSpPr/>
          <p:nvPr/>
        </p:nvSpPr>
        <p:spPr bwMode="auto">
          <a:xfrm>
            <a:off x="11227177" y="1908176"/>
            <a:ext cx="556995" cy="900113"/>
          </a:xfrm>
          <a:custGeom>
            <a:avLst/>
            <a:gdLst>
              <a:gd name="T0" fmla="*/ 584 w 725"/>
              <a:gd name="T1" fmla="*/ 443 h 1169"/>
              <a:gd name="T2" fmla="*/ 725 w 725"/>
              <a:gd name="T3" fmla="*/ 585 h 1169"/>
              <a:gd name="T4" fmla="*/ 584 w 725"/>
              <a:gd name="T5" fmla="*/ 726 h 1169"/>
              <a:gd name="T6" fmla="*/ 141 w 725"/>
              <a:gd name="T7" fmla="*/ 1169 h 1169"/>
              <a:gd name="T8" fmla="*/ 0 w 725"/>
              <a:gd name="T9" fmla="*/ 1028 h 1169"/>
              <a:gd name="T10" fmla="*/ 443 w 725"/>
              <a:gd name="T11" fmla="*/ 585 h 1169"/>
              <a:gd name="T12" fmla="*/ 0 w 725"/>
              <a:gd name="T13" fmla="*/ 141 h 1169"/>
              <a:gd name="T14" fmla="*/ 141 w 725"/>
              <a:gd name="T15" fmla="*/ 0 h 1169"/>
              <a:gd name="T16" fmla="*/ 584 w 725"/>
              <a:gd name="T17" fmla="*/ 443 h 11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725" h="1169">
                <a:moveTo>
                  <a:pt x="584" y="443"/>
                </a:moveTo>
                <a:lnTo>
                  <a:pt x="725" y="585"/>
                </a:lnTo>
                <a:lnTo>
                  <a:pt x="584" y="726"/>
                </a:lnTo>
                <a:lnTo>
                  <a:pt x="141" y="1169"/>
                </a:lnTo>
                <a:lnTo>
                  <a:pt x="0" y="1028"/>
                </a:lnTo>
                <a:lnTo>
                  <a:pt x="443" y="585"/>
                </a:lnTo>
                <a:lnTo>
                  <a:pt x="0" y="141"/>
                </a:lnTo>
                <a:lnTo>
                  <a:pt x="141" y="0"/>
                </a:lnTo>
                <a:lnTo>
                  <a:pt x="584" y="443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lIns="91416" tIns="45708" rIns="91416" bIns="45708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5" grpId="0"/>
      <p:bldP spid="16" grpId="0" bldLvl="0" animBg="1"/>
      <p:bldP spid="17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>
                <a:solidFill>
                  <a:srgbClr val="FFFFFF"/>
                </a:solidFill>
              </a:rPr>
              <a:t>06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" name="矩形 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>
                <a:solidFill>
                  <a:srgbClr val="0066B3"/>
                </a:solidFill>
                <a:latin typeface="微软雅黑" panose="020B0503020204020204" pitchFamily="34" charset="-122"/>
              </a:rPr>
              <a:t>全文工作总结</a:t>
            </a:r>
            <a:endParaRPr lang="zh-CN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50724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5D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30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6020" y="80982"/>
            <a:ext cx="1024089" cy="1025799"/>
          </a:xfrm>
          <a:prstGeom prst="rect">
            <a:avLst/>
          </a:prstGeom>
        </p:spPr>
      </p:pic>
      <p:sp>
        <p:nvSpPr>
          <p:cNvPr id="52" name="TextBox 51"/>
          <p:cNvSpPr txBox="1"/>
          <p:nvPr/>
        </p:nvSpPr>
        <p:spPr>
          <a:xfrm>
            <a:off x="1115568" y="932688"/>
            <a:ext cx="9966960" cy="475488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900" b="1">
                <a:solidFill>
                  <a:srgbClr val="005387"/>
                </a:solidFill>
                <a:latin typeface="微软雅黑" panose="020B0503020204020204" pitchFamily="34" charset="-122"/>
              </a:rPr>
              <a:t>围绕可学习时间常数是否改变 Proxy Target 脉冲强化学习训练机制展开研究</a:t>
            </a:r>
            <a:endParaRPr sz="19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3" name="Rectangle 52"/>
          <p:cNvSpPr/>
          <p:nvPr/>
        </p:nvSpPr>
        <p:spPr>
          <a:xfrm>
            <a:off x="5257800" y="1481328"/>
            <a:ext cx="960120" cy="32004"/>
          </a:xfrm>
          <a:prstGeom prst="rect">
            <a:avLst/>
          </a:prstGeom>
          <a:solidFill>
            <a:srgbClr val="E87834"/>
          </a:solidFill>
          <a:ln>
            <a:solidFill>
              <a:srgbClr val="E878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960120" y="1901952"/>
            <a:ext cx="3337560" cy="2011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161288" y="2048256"/>
            <a:ext cx="2935224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800" b="1">
                <a:solidFill>
                  <a:srgbClr val="005387"/>
                </a:solidFill>
                <a:latin typeface="微软雅黑" panose="020B0503020204020204" pitchFamily="34" charset="-122"/>
              </a:rPr>
              <a:t>研究对象</a:t>
            </a:r>
            <a:endParaRPr sz="18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1161288" y="2468880"/>
            <a:ext cx="2935224" cy="133502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400" b="0">
                <a:solidFill>
                  <a:srgbClr val="2A3038"/>
                </a:solidFill>
                <a:latin typeface="微软雅黑" panose="020B0503020204020204" pitchFamily="34" charset="-122"/>
              </a:rPr>
              <a:t>在 Proxy Target + TD3 框架下，比较 LIF 与 PLIF 脉冲 actor 的性能表现和内部训练状态。</a:t>
            </a:r>
            <a:endParaRPr sz="14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4526280" y="1901952"/>
            <a:ext cx="3337560" cy="2011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27448" y="2048256"/>
            <a:ext cx="2935224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800" b="1">
                <a:solidFill>
                  <a:srgbClr val="005387"/>
                </a:solidFill>
                <a:latin typeface="微软雅黑" panose="020B0503020204020204" pitchFamily="34" charset="-122"/>
              </a:rPr>
              <a:t>总体实验</a:t>
            </a:r>
            <a:endParaRPr sz="18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4727448" y="2468880"/>
            <a:ext cx="2935224" cy="133502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400" b="0">
                <a:solidFill>
                  <a:srgbClr val="2A3038"/>
                </a:solidFill>
                <a:latin typeface="微软雅黑" panose="020B0503020204020204" pitchFamily="34" charset="-122"/>
              </a:rPr>
              <a:t>整理 ANN、LIF、PLIF 和 CLIF 在五个 MuJoCo 连续控制环境中的最大评估回报与学习曲线。</a:t>
            </a:r>
            <a:endParaRPr sz="14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8092440" y="1901952"/>
            <a:ext cx="3337560" cy="201168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8293608" y="2048256"/>
            <a:ext cx="2935224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800" b="1">
                <a:solidFill>
                  <a:srgbClr val="005387"/>
                </a:solidFill>
                <a:latin typeface="微软雅黑" panose="020B0503020204020204" pitchFamily="34" charset="-122"/>
              </a:rPr>
              <a:t>机制分析</a:t>
            </a:r>
            <a:endParaRPr sz="18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293608" y="2468880"/>
            <a:ext cx="2935224" cy="133502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400" b="0">
                <a:solidFill>
                  <a:srgbClr val="2A3038"/>
                </a:solidFill>
                <a:latin typeface="微软雅黑" panose="020B0503020204020204" pitchFamily="34" charset="-122"/>
              </a:rPr>
              <a:t>以 Hopper-v4 代表案例分析 STBP 梯度传播、放电状态与 PLIF 时间常数演化。</a:t>
            </a:r>
            <a:endParaRPr sz="14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1143000" y="4617720"/>
            <a:ext cx="9784080" cy="914400"/>
          </a:xfrm>
          <a:prstGeom prst="rect">
            <a:avLst/>
          </a:prstGeom>
          <a:solidFill>
            <a:srgbClr val="ECF6FC"/>
          </a:solidFill>
          <a:ln>
            <a:solidFill>
              <a:srgbClr val="ECF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417320" y="4681728"/>
            <a:ext cx="9235440" cy="78638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800" b="0">
                <a:solidFill>
                  <a:srgbClr val="2A3038"/>
                </a:solidFill>
                <a:latin typeface="微软雅黑" panose="020B0503020204020204" pitchFamily="34" charset="-122"/>
              </a:rPr>
              <a:t>结论指向：PLIF 不宜被简单表述为全面优于 LIF，而应理解为提供了可分析的时间尺度自适应机制。</a:t>
            </a:r>
            <a:endParaRPr sz="18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>
                <a:solidFill>
                  <a:srgbClr val="FFFFFF"/>
                </a:solidFill>
              </a:rPr>
              <a:t>06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" name="矩形 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>
                <a:solidFill>
                  <a:srgbClr val="0066B3"/>
                </a:solidFill>
                <a:latin typeface="微软雅黑" panose="020B0503020204020204" pitchFamily="34" charset="-122"/>
              </a:rPr>
              <a:t>主要研究结论</a:t>
            </a:r>
            <a:endParaRPr lang="zh-CN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50724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5D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30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6020" y="80982"/>
            <a:ext cx="1024089" cy="1025799"/>
          </a:xfrm>
          <a:prstGeom prst="rect">
            <a:avLst/>
          </a:prstGeom>
        </p:spPr>
      </p:pic>
      <p:sp>
        <p:nvSpPr>
          <p:cNvPr id="52" name="Rounded Rectangle 51"/>
          <p:cNvSpPr/>
          <p:nvPr>
            <p:custDataLst>
              <p:tags r:id="rId2"/>
            </p:custDataLst>
          </p:nvPr>
        </p:nvSpPr>
        <p:spPr>
          <a:xfrm>
            <a:off x="960120" y="960120"/>
            <a:ext cx="2880360" cy="187451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>
            <p:custDataLst>
              <p:tags r:id="rId3"/>
            </p:custDataLst>
          </p:nvPr>
        </p:nvSpPr>
        <p:spPr>
          <a:xfrm>
            <a:off x="1106424" y="111556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4" name="TextBox 53"/>
          <p:cNvSpPr txBox="1"/>
          <p:nvPr>
            <p:custDataLst>
              <p:tags r:id="rId4"/>
            </p:custDataLst>
          </p:nvPr>
        </p:nvSpPr>
        <p:spPr>
          <a:xfrm>
            <a:off x="1554480" y="1106424"/>
            <a:ext cx="213055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整体表现接近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5" name="TextBox 54"/>
          <p:cNvSpPr txBox="1"/>
          <p:nvPr>
            <p:custDataLst>
              <p:tags r:id="rId5"/>
            </p:custDataLst>
          </p:nvPr>
        </p:nvSpPr>
        <p:spPr>
          <a:xfrm>
            <a:off x="1161288" y="1527048"/>
            <a:ext cx="2478024" cy="119786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00" b="0">
                <a:solidFill>
                  <a:srgbClr val="2A3038"/>
                </a:solidFill>
                <a:latin typeface="微软雅黑" panose="020B0503020204020204" pitchFamily="34" charset="-122"/>
              </a:rPr>
              <a:t>PT-PLIF 与 PT-LIF 未形成稳定、普适的性能优势差距。</a:t>
            </a:r>
            <a:endParaRPr sz="13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Rounded Rectangle 55"/>
          <p:cNvSpPr/>
          <p:nvPr>
            <p:custDataLst>
              <p:tags r:id="rId6"/>
            </p:custDataLst>
          </p:nvPr>
        </p:nvSpPr>
        <p:spPr>
          <a:xfrm>
            <a:off x="4133087" y="960120"/>
            <a:ext cx="2880360" cy="187451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>
            <p:custDataLst>
              <p:tags r:id="rId7"/>
            </p:custDataLst>
          </p:nvPr>
        </p:nvSpPr>
        <p:spPr>
          <a:xfrm>
            <a:off x="4279392" y="111556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8" name="TextBox 57"/>
          <p:cNvSpPr txBox="1"/>
          <p:nvPr>
            <p:custDataLst>
              <p:tags r:id="rId8"/>
            </p:custDataLst>
          </p:nvPr>
        </p:nvSpPr>
        <p:spPr>
          <a:xfrm>
            <a:off x="4727448" y="1106424"/>
            <a:ext cx="213055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失败模式诊断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>
            <p:custDataLst>
              <p:tags r:id="rId9"/>
            </p:custDataLst>
          </p:nvPr>
        </p:nvSpPr>
        <p:spPr>
          <a:xfrm>
            <a:off x="4334255" y="1527048"/>
            <a:ext cx="2478024" cy="119786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00" b="0">
                <a:solidFill>
                  <a:srgbClr val="2A3038"/>
                </a:solidFill>
                <a:latin typeface="微软雅黑" panose="020B0503020204020204" pitchFamily="34" charset="-122"/>
              </a:rPr>
              <a:t>Hopper-v4 默认失败组表现为“前向仍放电、反向已失效”。</a:t>
            </a:r>
            <a:endParaRPr sz="13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Rounded Rectangle 59"/>
          <p:cNvSpPr/>
          <p:nvPr>
            <p:custDataLst>
              <p:tags r:id="rId10"/>
            </p:custDataLst>
          </p:nvPr>
        </p:nvSpPr>
        <p:spPr>
          <a:xfrm>
            <a:off x="7306056" y="960120"/>
            <a:ext cx="2880360" cy="187451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>
            <p:custDataLst>
              <p:tags r:id="rId11"/>
            </p:custDataLst>
          </p:nvPr>
        </p:nvSpPr>
        <p:spPr>
          <a:xfrm>
            <a:off x="7452360" y="111556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2" name="TextBox 61"/>
          <p:cNvSpPr txBox="1"/>
          <p:nvPr>
            <p:custDataLst>
              <p:tags r:id="rId12"/>
            </p:custDataLst>
          </p:nvPr>
        </p:nvSpPr>
        <p:spPr>
          <a:xfrm>
            <a:off x="7900416" y="1106424"/>
            <a:ext cx="213055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更新频率缓解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>
            <p:custDataLst>
              <p:tags r:id="rId13"/>
            </p:custDataLst>
          </p:nvPr>
        </p:nvSpPr>
        <p:spPr>
          <a:xfrm>
            <a:off x="7507224" y="1527048"/>
            <a:ext cx="2478024" cy="119786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00" b="0">
                <a:solidFill>
                  <a:srgbClr val="2A3038"/>
                </a:solidFill>
                <a:latin typeface="微软雅黑" panose="020B0503020204020204" pitchFamily="34" charset="-122"/>
              </a:rPr>
              <a:t>调整 actor 更新间隔后，代表性案例能够从低回报停滞转向有效学习。</a:t>
            </a:r>
            <a:endParaRPr sz="13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Rounded Rectangle 63"/>
          <p:cNvSpPr/>
          <p:nvPr>
            <p:custDataLst>
              <p:tags r:id="rId14"/>
            </p:custDataLst>
          </p:nvPr>
        </p:nvSpPr>
        <p:spPr>
          <a:xfrm>
            <a:off x="2542032" y="3657600"/>
            <a:ext cx="2880360" cy="187451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>
            <p:custDataLst>
              <p:tags r:id="rId15"/>
            </p:custDataLst>
          </p:nvPr>
        </p:nvSpPr>
        <p:spPr>
          <a:xfrm>
            <a:off x="2688336" y="381304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6" name="TextBox 65"/>
          <p:cNvSpPr txBox="1"/>
          <p:nvPr>
            <p:custDataLst>
              <p:tags r:id="rId16"/>
            </p:custDataLst>
          </p:nvPr>
        </p:nvSpPr>
        <p:spPr>
          <a:xfrm>
            <a:off x="3136391" y="3803904"/>
            <a:ext cx="213055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时间常数分化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>
            <p:custDataLst>
              <p:tags r:id="rId17"/>
            </p:custDataLst>
          </p:nvPr>
        </p:nvSpPr>
        <p:spPr>
          <a:xfrm>
            <a:off x="2743200" y="4224528"/>
            <a:ext cx="2478024" cy="119786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00" b="0">
                <a:solidFill>
                  <a:srgbClr val="2A3038"/>
                </a:solidFill>
                <a:latin typeface="微软雅黑" panose="020B0503020204020204" pitchFamily="34" charset="-122"/>
              </a:rPr>
              <a:t>隐藏层更强调历史信息保留，动作输出层更服务于即时动作读出。</a:t>
            </a:r>
            <a:endParaRPr sz="13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8" name="Rounded Rectangle 67"/>
          <p:cNvSpPr/>
          <p:nvPr>
            <p:custDataLst>
              <p:tags r:id="rId18"/>
            </p:custDataLst>
          </p:nvPr>
        </p:nvSpPr>
        <p:spPr>
          <a:xfrm>
            <a:off x="5715000" y="3657600"/>
            <a:ext cx="2880360" cy="1874519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>
            <p:custDataLst>
              <p:tags r:id="rId19"/>
            </p:custDataLst>
          </p:nvPr>
        </p:nvSpPr>
        <p:spPr>
          <a:xfrm>
            <a:off x="5861304" y="381304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5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70" name="TextBox 69"/>
          <p:cNvSpPr txBox="1"/>
          <p:nvPr>
            <p:custDataLst>
              <p:tags r:id="rId20"/>
            </p:custDataLst>
          </p:nvPr>
        </p:nvSpPr>
        <p:spPr>
          <a:xfrm>
            <a:off x="6309360" y="3803904"/>
            <a:ext cx="2130552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机制近似等价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71" name="TextBox 70"/>
          <p:cNvSpPr txBox="1"/>
          <p:nvPr>
            <p:custDataLst>
              <p:tags r:id="rId21"/>
            </p:custDataLst>
          </p:nvPr>
        </p:nvSpPr>
        <p:spPr>
          <a:xfrm>
            <a:off x="5916168" y="4224528"/>
            <a:ext cx="2478024" cy="119786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00" b="0">
                <a:solidFill>
                  <a:srgbClr val="2A3038"/>
                </a:solidFill>
                <a:latin typeface="微软雅黑" panose="020B0503020204020204" pitchFamily="34" charset="-122"/>
              </a:rPr>
              <a:t>成功训练状态下，LIF 与 PLIF 多数诊断指标高度一致。</a:t>
            </a:r>
            <a:endParaRPr sz="13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>
                <a:solidFill>
                  <a:srgbClr val="FFFFFF"/>
                </a:solidFill>
              </a:rPr>
              <a:t>06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" name="矩形 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>
                <a:solidFill>
                  <a:srgbClr val="0066B3"/>
                </a:solidFill>
                <a:latin typeface="微软雅黑" panose="020B0503020204020204" pitchFamily="34" charset="-122"/>
              </a:rPr>
              <a:t>理论意义与应用价值</a:t>
            </a:r>
            <a:endParaRPr lang="zh-CN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50724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5D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30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6020" y="80982"/>
            <a:ext cx="1024089" cy="1025799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1143000" y="960120"/>
            <a:ext cx="1920240" cy="438912"/>
          </a:xfrm>
          <a:prstGeom prst="roundRect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</a:rPr>
              <a:t>理论意义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1143000" y="1627632"/>
            <a:ext cx="4663440" cy="3474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344168" y="1773936"/>
            <a:ext cx="4261103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700" b="1">
                <a:solidFill>
                  <a:srgbClr val="005387"/>
                </a:solidFill>
                <a:latin typeface="微软雅黑" panose="020B0503020204020204" pitchFamily="34" charset="-122"/>
              </a:rPr>
              <a:t>从最终回报转向梯度路径</a:t>
            </a:r>
            <a:endParaRPr sz="17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344168" y="2194560"/>
            <a:ext cx="4261103" cy="279806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500" b="0">
                <a:solidFill>
                  <a:srgbClr val="2A3038"/>
                </a:solidFill>
                <a:latin typeface="微软雅黑" panose="020B0503020204020204" pitchFamily="34" charset="-122"/>
              </a:rPr>
              <a:t>将 PLIF 的可学习时间常数放入完整的 Proxy Target + TD3 训练闭环中考察，说明其作用依赖 STBP 梯度、放电重置和代理梯度窗口共同决定。</a:t>
            </a:r>
            <a:endParaRPr sz="15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400800" y="960120"/>
            <a:ext cx="1920240" cy="438912"/>
          </a:xfrm>
          <a:prstGeom prst="roundRect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微软雅黑" panose="020B0503020204020204" pitchFamily="34" charset="-122"/>
              </a:rPr>
              <a:t>应用价值</a:t>
            </a:r>
            <a:endParaRPr sz="1500" b="1">
              <a:solidFill>
                <a:srgbClr val="FFFFFF"/>
              </a:solidFill>
              <a:latin typeface="微软雅黑" panose="020B0503020204020204" pitchFamily="34" charset="-122"/>
            </a:endParaRPr>
          </a:p>
        </p:txBody>
      </p:sp>
      <p:sp>
        <p:nvSpPr>
          <p:cNvPr id="57" name="Rounded Rectangle 56"/>
          <p:cNvSpPr/>
          <p:nvPr/>
        </p:nvSpPr>
        <p:spPr>
          <a:xfrm>
            <a:off x="6400800" y="1627632"/>
            <a:ext cx="4663440" cy="34747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601968" y="1773936"/>
            <a:ext cx="4261103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700" b="1">
                <a:solidFill>
                  <a:srgbClr val="005387"/>
                </a:solidFill>
                <a:latin typeface="微软雅黑" panose="020B0503020204020204" pitchFamily="34" charset="-122"/>
              </a:rPr>
              <a:t>形成训练状态诊断依据</a:t>
            </a:r>
            <a:endParaRPr sz="17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601968" y="2194560"/>
            <a:ext cx="4261103" cy="2798063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500" b="0">
                <a:solidFill>
                  <a:srgbClr val="2A3038"/>
                </a:solidFill>
                <a:latin typeface="微软雅黑" panose="020B0503020204020204" pitchFamily="34" charset="-122"/>
              </a:rPr>
              <a:t>梯度、放电率、有效保留项和时间常数等指标，可用于识别“前向仍放电、反向已失效”的停滞状态，并辅助 actor 更新频率和神经元参数调节。</a:t>
            </a:r>
            <a:endParaRPr sz="150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1600200" y="5623560"/>
            <a:ext cx="9052560" cy="50292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ctr"/>
            <a:r>
              <a:rPr sz="1700" b="1">
                <a:solidFill>
                  <a:srgbClr val="005387"/>
                </a:solidFill>
                <a:latin typeface="微软雅黑" panose="020B0503020204020204" pitchFamily="34" charset="-122"/>
              </a:rPr>
              <a:t>可学习时间常数不是单纯性能替换项，而是可解释训练机制的一部分。</a:t>
            </a:r>
            <a:endParaRPr sz="17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矩形 1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0"/>
            <a:ext cx="571060" cy="546931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>
                <a:solidFill>
                  <a:srgbClr val="FFFFFF"/>
                </a:solidFill>
              </a:rPr>
              <a:t>06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 UI" panose="020B0604030504040204" pitchFamily="34" charset="-128"/>
              <a:ea typeface="Meiryo UI" panose="020B0604030504040204" pitchFamily="34" charset="-128"/>
              <a:cs typeface="Meiryo UI" panose="020B0604030504040204" pitchFamily="34" charset="-128"/>
            </a:endParaRPr>
          </a:p>
        </p:txBody>
      </p:sp>
      <p:sp>
        <p:nvSpPr>
          <p:cNvPr id="3" name="矩形 2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71061" y="0"/>
            <a:ext cx="11620939" cy="546931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200">
                <a:solidFill>
                  <a:srgbClr val="0066B3"/>
                </a:solidFill>
                <a:latin typeface="微软雅黑" panose="020B0503020204020204" pitchFamily="34" charset="-122"/>
              </a:rPr>
              <a:t>研究不足与未来展望</a:t>
            </a:r>
            <a:endParaRPr lang="zh-CN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矩形 3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1" y="546930"/>
            <a:ext cx="571060" cy="6311069"/>
          </a:xfrm>
          <a:prstGeom prst="rect">
            <a:avLst/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矩形 4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041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绪论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18796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理论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27178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结构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35560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设计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25000" y="43942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lang="zh-CN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结果</a:t>
            </a:r>
            <a:endParaRPr lang="zh-CN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 descr="e7d195523061f1c0f0ec610a92cff745ee13794c7b8d98f8E73673273C9E8BE17CC3D63B9B1D6426C348A354AD505654C28F453CD7C8F90EADD06C08281DAED7140E5AAAED5880ECE414DFB6A93B82BE163F12A16A2F7E5CA866BD8D1BE2DF3D0FFB12D23FAF5821CB9F1F392B7320627FA8E703253ECABD4FC5D80B64DCF9CDC1037D297C7DC636"/>
          <p:cNvSpPr/>
          <p:nvPr/>
        </p:nvSpPr>
        <p:spPr>
          <a:xfrm>
            <a:off x="525342" y="5072400"/>
            <a:ext cx="45719" cy="572730"/>
          </a:xfrm>
          <a:prstGeom prst="rect">
            <a:avLst/>
          </a:pr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1" i="0" u="none" strike="noStrike" kern="1200" cap="none" spc="0" normalizeH="0" baseline="0" noProof="0">
              <a:ln>
                <a:noFill/>
              </a:ln>
              <a:solidFill>
                <a:srgbClr val="005DA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Meiryo UI" panose="020B0604030504040204" pitchFamily="34" charset="-128"/>
            </a:endParaRPr>
          </a:p>
        </p:txBody>
      </p:sp>
      <p:sp>
        <p:nvSpPr>
          <p:cNvPr id="50" name="文本框 49"/>
          <p:cNvSpPr txBox="1"/>
          <p:nvPr/>
        </p:nvSpPr>
        <p:spPr>
          <a:xfrm>
            <a:off x="130000" y="5232400"/>
            <a:ext cx="370000" cy="252730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p>
            <a:pPr algn="ctr"/>
            <a:r>
              <a:rPr lang="zh-CN" altLang="en-US" sz="1050" b="1">
                <a:solidFill>
                  <a:srgbClr val="0061A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</a:t>
            </a:r>
            <a:endParaRPr lang="zh-CN" altLang="en-US" sz="1050" b="1">
              <a:solidFill>
                <a:srgbClr val="0061A6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1" name="Picture 50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26020" y="80982"/>
            <a:ext cx="1024089" cy="1025799"/>
          </a:xfrm>
          <a:prstGeom prst="rect">
            <a:avLst/>
          </a:prstGeom>
        </p:spPr>
      </p:pic>
      <p:sp>
        <p:nvSpPr>
          <p:cNvPr id="52" name="Rounded Rectangle 51"/>
          <p:cNvSpPr/>
          <p:nvPr/>
        </p:nvSpPr>
        <p:spPr>
          <a:xfrm>
            <a:off x="1051560" y="1143000"/>
            <a:ext cx="4572000" cy="1965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1197863" y="129844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1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1645919" y="1289304"/>
            <a:ext cx="3822191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实验覆盖范围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1252728" y="1709928"/>
            <a:ext cx="4169663" cy="128930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0">
                <a:solidFill>
                  <a:srgbClr val="2A3038"/>
                </a:solidFill>
                <a:latin typeface="微软雅黑" panose="020B0503020204020204" pitchFamily="34" charset="-122"/>
              </a:rPr>
              <a:t>扩展任务、网络规模和随机种子数量，进一步检验 LIF 与 PLIF 近似等价结论的稳健性。</a:t>
            </a:r>
            <a:endParaRPr sz="135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6263640" y="1143000"/>
            <a:ext cx="4572000" cy="1965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409944" y="129844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2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858000" y="1289304"/>
            <a:ext cx="3822191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失败机制推广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464807" y="1709928"/>
            <a:ext cx="4169663" cy="128930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0">
                <a:solidFill>
                  <a:srgbClr val="2A3038"/>
                </a:solidFill>
                <a:latin typeface="微软雅黑" panose="020B0503020204020204" pitchFamily="34" charset="-122"/>
              </a:rPr>
              <a:t>在更多环境中验证 Hopper-v4 所揭示的梯度塌缩现象及其触发条件。</a:t>
            </a:r>
            <a:endParaRPr sz="135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0" name="Rounded Rectangle 59"/>
          <p:cNvSpPr/>
          <p:nvPr/>
        </p:nvSpPr>
        <p:spPr>
          <a:xfrm>
            <a:off x="1051560" y="3703320"/>
            <a:ext cx="4572000" cy="1965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1197863" y="385876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3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1645919" y="3849624"/>
            <a:ext cx="3822191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超参数交互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1252728" y="4270248"/>
            <a:ext cx="4169663" cy="128930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0">
                <a:solidFill>
                  <a:srgbClr val="2A3038"/>
                </a:solidFill>
                <a:latin typeface="微软雅黑" panose="020B0503020204020204" pitchFamily="34" charset="-122"/>
              </a:rPr>
              <a:t>系统分析 proxy_lr、policy_freq、actor 学习率和 PLIF 时间常数学习率之间的耦合关系。</a:t>
            </a:r>
            <a:endParaRPr sz="135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  <p:sp>
        <p:nvSpPr>
          <p:cNvPr id="64" name="Rounded Rectangle 63"/>
          <p:cNvSpPr/>
          <p:nvPr/>
        </p:nvSpPr>
        <p:spPr>
          <a:xfrm>
            <a:off x="6263640" y="3703320"/>
            <a:ext cx="4572000" cy="196596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0076C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409944" y="3858768"/>
            <a:ext cx="347472" cy="347472"/>
          </a:xfrm>
          <a:prstGeom prst="ellipse">
            <a:avLst/>
          </a:prstGeom>
          <a:solidFill>
            <a:srgbClr val="0066B3"/>
          </a:solidFill>
          <a:ln>
            <a:solidFill>
              <a:srgbClr val="0066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rial" panose="020B0604020202020204"/>
              </a:rPr>
              <a:t>4</a:t>
            </a:r>
            <a:endParaRPr sz="1300" b="1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6" name="TextBox 65"/>
          <p:cNvSpPr txBox="1"/>
          <p:nvPr/>
        </p:nvSpPr>
        <p:spPr>
          <a:xfrm>
            <a:off x="6858000" y="3849624"/>
            <a:ext cx="3822191" cy="320040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600" b="1">
                <a:solidFill>
                  <a:srgbClr val="005387"/>
                </a:solidFill>
                <a:latin typeface="微软雅黑" panose="020B0503020204020204" pitchFamily="34" charset="-122"/>
              </a:rPr>
              <a:t>部署效率评估</a:t>
            </a:r>
            <a:endParaRPr sz="1600" b="1">
              <a:solidFill>
                <a:srgbClr val="005387"/>
              </a:solidFill>
              <a:latin typeface="微软雅黑" panose="020B0503020204020204" pitchFamily="34" charset="-122"/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6464807" y="4270248"/>
            <a:ext cx="4169663" cy="1289304"/>
          </a:xfrm>
          <a:prstGeom prst="rect">
            <a:avLst/>
          </a:prstGeom>
          <a:noFill/>
        </p:spPr>
        <p:txBody>
          <a:bodyPr wrap="square" lIns="54864" tIns="27432" rIns="54864" bIns="27432" anchor="ctr">
            <a:spAutoFit/>
          </a:bodyPr>
          <a:lstStyle/>
          <a:p>
            <a:pPr algn="l"/>
            <a:r>
              <a:rPr sz="1350" b="0">
                <a:solidFill>
                  <a:srgbClr val="2A3038"/>
                </a:solidFill>
                <a:latin typeface="微软雅黑" panose="020B0503020204020204" pitchFamily="34" charset="-122"/>
              </a:rPr>
              <a:t>比较平均放电率、事件稀疏性、推理延迟和理论能耗，推进神经形态硬件适配。</a:t>
            </a:r>
            <a:endParaRPr sz="1350" b="0">
              <a:solidFill>
                <a:srgbClr val="2A3038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40"/>
          <p:cNvSpPr txBox="1"/>
          <p:nvPr/>
        </p:nvSpPr>
        <p:spPr>
          <a:xfrm>
            <a:off x="2805366" y="2308383"/>
            <a:ext cx="6882173" cy="1015663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sz="2800" b="1">
                <a:solidFill>
                  <a:srgbClr val="00528A"/>
                </a:solidFill>
                <a:latin typeface="方正正大黑简体"/>
              </a:rPr>
              <a:t>谢谢各位老师</a:t>
            </a:r>
            <a:endParaRPr sz="2800" b="1">
              <a:solidFill>
                <a:srgbClr val="00528A"/>
              </a:solidFill>
              <a:latin typeface="方正正大黑简体"/>
            </a:endParaRPr>
          </a:p>
        </p:txBody>
      </p:sp>
      <p:sp>
        <p:nvSpPr>
          <p:cNvPr id="9" name="student-graduation-cap-shape_52041"/>
          <p:cNvSpPr>
            <a:spLocks noChangeAspect="1"/>
          </p:cNvSpPr>
          <p:nvPr/>
        </p:nvSpPr>
        <p:spPr bwMode="auto">
          <a:xfrm>
            <a:off x="4213653" y="4445425"/>
            <a:ext cx="332015" cy="350126"/>
          </a:xfrm>
          <a:custGeom>
            <a:avLst/>
            <a:gdLst>
              <a:gd name="connsiteX0" fmla="*/ 329990 w 574402"/>
              <a:gd name="connsiteY0" fmla="*/ 329823 h 605734"/>
              <a:gd name="connsiteX1" fmla="*/ 574402 w 574402"/>
              <a:gd name="connsiteY1" fmla="*/ 573910 h 605734"/>
              <a:gd name="connsiteX2" fmla="*/ 542536 w 574402"/>
              <a:gd name="connsiteY2" fmla="*/ 605734 h 605734"/>
              <a:gd name="connsiteX3" fmla="*/ 117603 w 574402"/>
              <a:gd name="connsiteY3" fmla="*/ 605734 h 605734"/>
              <a:gd name="connsiteX4" fmla="*/ 85737 w 574402"/>
              <a:gd name="connsiteY4" fmla="*/ 573910 h 605734"/>
              <a:gd name="connsiteX5" fmla="*/ 101192 w 574402"/>
              <a:gd name="connsiteY5" fmla="*/ 488782 h 605734"/>
              <a:gd name="connsiteX6" fmla="*/ 276614 w 574402"/>
              <a:gd name="connsiteY6" fmla="*/ 335710 h 605734"/>
              <a:gd name="connsiteX7" fmla="*/ 329990 w 574402"/>
              <a:gd name="connsiteY7" fmla="*/ 329823 h 605734"/>
              <a:gd name="connsiteX8" fmla="*/ 164945 w 574402"/>
              <a:gd name="connsiteY8" fmla="*/ 292282 h 605734"/>
              <a:gd name="connsiteX9" fmla="*/ 198571 w 574402"/>
              <a:gd name="connsiteY9" fmla="*/ 295781 h 605734"/>
              <a:gd name="connsiteX10" fmla="*/ 34104 w 574402"/>
              <a:gd name="connsiteY10" fmla="*/ 488736 h 605734"/>
              <a:gd name="connsiteX11" fmla="*/ 31873 w 574402"/>
              <a:gd name="connsiteY11" fmla="*/ 488736 h 605734"/>
              <a:gd name="connsiteX12" fmla="*/ 0 w 574402"/>
              <a:gd name="connsiteY12" fmla="*/ 456922 h 605734"/>
              <a:gd name="connsiteX13" fmla="*/ 164945 w 574402"/>
              <a:gd name="connsiteY13" fmla="*/ 292282 h 605734"/>
              <a:gd name="connsiteX14" fmla="*/ 157572 w 574402"/>
              <a:gd name="connsiteY14" fmla="*/ 38035 h 605734"/>
              <a:gd name="connsiteX15" fmla="*/ 133033 w 574402"/>
              <a:gd name="connsiteY15" fmla="*/ 133157 h 605734"/>
              <a:gd name="connsiteX16" fmla="*/ 157572 w 574402"/>
              <a:gd name="connsiteY16" fmla="*/ 228280 h 605734"/>
              <a:gd name="connsiteX17" fmla="*/ 69295 w 574402"/>
              <a:gd name="connsiteY17" fmla="*/ 133157 h 605734"/>
              <a:gd name="connsiteX18" fmla="*/ 157572 w 574402"/>
              <a:gd name="connsiteY18" fmla="*/ 38035 h 605734"/>
              <a:gd name="connsiteX19" fmla="*/ 329990 w 574402"/>
              <a:gd name="connsiteY19" fmla="*/ 0 h 605734"/>
              <a:gd name="connsiteX20" fmla="*/ 463332 w 574402"/>
              <a:gd name="connsiteY20" fmla="*/ 133166 h 605734"/>
              <a:gd name="connsiteX21" fmla="*/ 329990 w 574402"/>
              <a:gd name="connsiteY21" fmla="*/ 266173 h 605734"/>
              <a:gd name="connsiteX22" fmla="*/ 221341 w 574402"/>
              <a:gd name="connsiteY22" fmla="*/ 210011 h 605734"/>
              <a:gd name="connsiteX23" fmla="*/ 196807 w 574402"/>
              <a:gd name="connsiteY23" fmla="*/ 133166 h 605734"/>
              <a:gd name="connsiteX24" fmla="*/ 221341 w 574402"/>
              <a:gd name="connsiteY24" fmla="*/ 56162 h 605734"/>
              <a:gd name="connsiteX25" fmla="*/ 329990 w 574402"/>
              <a:gd name="connsiteY25" fmla="*/ 0 h 605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574402" h="605734">
                <a:moveTo>
                  <a:pt x="329990" y="329823"/>
                </a:moveTo>
                <a:cubicBezTo>
                  <a:pt x="464783" y="329823"/>
                  <a:pt x="574402" y="439296"/>
                  <a:pt x="574402" y="573910"/>
                </a:cubicBezTo>
                <a:cubicBezTo>
                  <a:pt x="574402" y="591413"/>
                  <a:pt x="560062" y="605734"/>
                  <a:pt x="542536" y="605734"/>
                </a:cubicBezTo>
                <a:lnTo>
                  <a:pt x="117603" y="605734"/>
                </a:lnTo>
                <a:cubicBezTo>
                  <a:pt x="100077" y="605734"/>
                  <a:pt x="85737" y="591413"/>
                  <a:pt x="85737" y="573910"/>
                </a:cubicBezTo>
                <a:cubicBezTo>
                  <a:pt x="85737" y="543996"/>
                  <a:pt x="91154" y="515196"/>
                  <a:pt x="101192" y="488782"/>
                </a:cubicBezTo>
                <a:cubicBezTo>
                  <a:pt x="129712" y="412246"/>
                  <a:pt x="195675" y="353850"/>
                  <a:pt x="276614" y="335710"/>
                </a:cubicBezTo>
                <a:cubicBezTo>
                  <a:pt x="293822" y="331892"/>
                  <a:pt x="311667" y="329823"/>
                  <a:pt x="329990" y="329823"/>
                </a:cubicBezTo>
                <a:close/>
                <a:moveTo>
                  <a:pt x="164945" y="292282"/>
                </a:moveTo>
                <a:cubicBezTo>
                  <a:pt x="176419" y="292282"/>
                  <a:pt x="187575" y="293395"/>
                  <a:pt x="198571" y="295781"/>
                </a:cubicBezTo>
                <a:cubicBezTo>
                  <a:pt x="119366" y="333164"/>
                  <a:pt x="58647" y="403314"/>
                  <a:pt x="34104" y="488736"/>
                </a:cubicBezTo>
                <a:lnTo>
                  <a:pt x="31873" y="488736"/>
                </a:lnTo>
                <a:cubicBezTo>
                  <a:pt x="14184" y="488736"/>
                  <a:pt x="0" y="474420"/>
                  <a:pt x="0" y="456922"/>
                </a:cubicBezTo>
                <a:cubicBezTo>
                  <a:pt x="0" y="366092"/>
                  <a:pt x="73946" y="292282"/>
                  <a:pt x="164945" y="292282"/>
                </a:cubicBezTo>
                <a:close/>
                <a:moveTo>
                  <a:pt x="157572" y="38035"/>
                </a:moveTo>
                <a:cubicBezTo>
                  <a:pt x="141956" y="66190"/>
                  <a:pt x="133033" y="98640"/>
                  <a:pt x="133033" y="133157"/>
                </a:cubicBezTo>
                <a:cubicBezTo>
                  <a:pt x="133033" y="167516"/>
                  <a:pt x="141956" y="199966"/>
                  <a:pt x="157572" y="228280"/>
                </a:cubicBezTo>
                <a:cubicBezTo>
                  <a:pt x="108335" y="224462"/>
                  <a:pt x="69295" y="183264"/>
                  <a:pt x="69295" y="133157"/>
                </a:cubicBezTo>
                <a:cubicBezTo>
                  <a:pt x="69295" y="82892"/>
                  <a:pt x="108335" y="41693"/>
                  <a:pt x="157572" y="38035"/>
                </a:cubicBezTo>
                <a:close/>
                <a:moveTo>
                  <a:pt x="329990" y="0"/>
                </a:moveTo>
                <a:cubicBezTo>
                  <a:pt x="403591" y="0"/>
                  <a:pt x="463332" y="59662"/>
                  <a:pt x="463332" y="133166"/>
                </a:cubicBezTo>
                <a:cubicBezTo>
                  <a:pt x="463332" y="206511"/>
                  <a:pt x="403591" y="266173"/>
                  <a:pt x="329990" y="266173"/>
                </a:cubicBezTo>
                <a:cubicBezTo>
                  <a:pt x="285224" y="266173"/>
                  <a:pt x="245556" y="244058"/>
                  <a:pt x="221341" y="210011"/>
                </a:cubicBezTo>
                <a:cubicBezTo>
                  <a:pt x="205888" y="188373"/>
                  <a:pt x="196807" y="161804"/>
                  <a:pt x="196807" y="133166"/>
                </a:cubicBezTo>
                <a:cubicBezTo>
                  <a:pt x="196807" y="104528"/>
                  <a:pt x="205888" y="77958"/>
                  <a:pt x="221341" y="56162"/>
                </a:cubicBezTo>
                <a:cubicBezTo>
                  <a:pt x="245556" y="22274"/>
                  <a:pt x="285224" y="0"/>
                  <a:pt x="329990" y="0"/>
                </a:cubicBezTo>
                <a:close/>
              </a:path>
            </a:pathLst>
          </a:custGeom>
          <a:solidFill>
            <a:srgbClr val="005DA2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kern="0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4691362" y="4445424"/>
            <a:ext cx="25481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sz="1050">
                <a:solidFill>
                  <a:srgbClr val="2A2A2A"/>
                </a:solidFill>
                <a:latin typeface="方正正粗黑简体"/>
              </a:rPr>
              <a:t>陈俊为</a:t>
            </a:r>
            <a:endParaRPr kumimoji="0" lang="zh-CN" altLang="en-US" sz="160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方正正粗黑简体" panose="02000000000000000000" pitchFamily="2" charset="-122"/>
              <a:ea typeface="方正正粗黑简体" panose="02000000000000000000" pitchFamily="2" charset="-122"/>
            </a:endParaRPr>
          </a:p>
        </p:txBody>
      </p:sp>
      <p:sp>
        <p:nvSpPr>
          <p:cNvPr id="11" name="student-graduation-cap-shape_52041"/>
          <p:cNvSpPr>
            <a:spLocks noChangeAspect="1"/>
          </p:cNvSpPr>
          <p:nvPr/>
        </p:nvSpPr>
        <p:spPr bwMode="auto">
          <a:xfrm>
            <a:off x="4204596" y="5117659"/>
            <a:ext cx="350128" cy="309162"/>
          </a:xfrm>
          <a:custGeom>
            <a:avLst/>
            <a:gdLst>
              <a:gd name="connsiteX0" fmla="*/ 198438 w 331788"/>
              <a:gd name="connsiteY0" fmla="*/ 207244 h 292969"/>
              <a:gd name="connsiteX1" fmla="*/ 301626 w 331788"/>
              <a:gd name="connsiteY1" fmla="*/ 207244 h 292969"/>
              <a:gd name="connsiteX2" fmla="*/ 301626 w 331788"/>
              <a:gd name="connsiteY2" fmla="*/ 215182 h 292969"/>
              <a:gd name="connsiteX3" fmla="*/ 198438 w 331788"/>
              <a:gd name="connsiteY3" fmla="*/ 215182 h 292969"/>
              <a:gd name="connsiteX4" fmla="*/ 198438 w 331788"/>
              <a:gd name="connsiteY4" fmla="*/ 178669 h 292969"/>
              <a:gd name="connsiteX5" fmla="*/ 301626 w 331788"/>
              <a:gd name="connsiteY5" fmla="*/ 178669 h 292969"/>
              <a:gd name="connsiteX6" fmla="*/ 301626 w 331788"/>
              <a:gd name="connsiteY6" fmla="*/ 185019 h 292969"/>
              <a:gd name="connsiteX7" fmla="*/ 198438 w 331788"/>
              <a:gd name="connsiteY7" fmla="*/ 185019 h 292969"/>
              <a:gd name="connsiteX8" fmla="*/ 50800 w 331788"/>
              <a:gd name="connsiteY8" fmla="*/ 172319 h 292969"/>
              <a:gd name="connsiteX9" fmla="*/ 139700 w 331788"/>
              <a:gd name="connsiteY9" fmla="*/ 199306 h 292969"/>
              <a:gd name="connsiteX10" fmla="*/ 139700 w 331788"/>
              <a:gd name="connsiteY10" fmla="*/ 207244 h 292969"/>
              <a:gd name="connsiteX11" fmla="*/ 50800 w 331788"/>
              <a:gd name="connsiteY11" fmla="*/ 180256 h 292969"/>
              <a:gd name="connsiteX12" fmla="*/ 198438 w 331788"/>
              <a:gd name="connsiteY12" fmla="*/ 148506 h 292969"/>
              <a:gd name="connsiteX13" fmla="*/ 301626 w 331788"/>
              <a:gd name="connsiteY13" fmla="*/ 148506 h 292969"/>
              <a:gd name="connsiteX14" fmla="*/ 301626 w 331788"/>
              <a:gd name="connsiteY14" fmla="*/ 156444 h 292969"/>
              <a:gd name="connsiteX15" fmla="*/ 198438 w 331788"/>
              <a:gd name="connsiteY15" fmla="*/ 156444 h 292969"/>
              <a:gd name="connsiteX16" fmla="*/ 50800 w 331788"/>
              <a:gd name="connsiteY16" fmla="*/ 142156 h 292969"/>
              <a:gd name="connsiteX17" fmla="*/ 139700 w 331788"/>
              <a:gd name="connsiteY17" fmla="*/ 169143 h 292969"/>
              <a:gd name="connsiteX18" fmla="*/ 139700 w 331788"/>
              <a:gd name="connsiteY18" fmla="*/ 177081 h 292969"/>
              <a:gd name="connsiteX19" fmla="*/ 50800 w 331788"/>
              <a:gd name="connsiteY19" fmla="*/ 150093 h 292969"/>
              <a:gd name="connsiteX20" fmla="*/ 196850 w 331788"/>
              <a:gd name="connsiteY20" fmla="*/ 118344 h 292969"/>
              <a:gd name="connsiteX21" fmla="*/ 301625 w 331788"/>
              <a:gd name="connsiteY21" fmla="*/ 118344 h 292969"/>
              <a:gd name="connsiteX22" fmla="*/ 301625 w 331788"/>
              <a:gd name="connsiteY22" fmla="*/ 126282 h 292969"/>
              <a:gd name="connsiteX23" fmla="*/ 196850 w 331788"/>
              <a:gd name="connsiteY23" fmla="*/ 126282 h 292969"/>
              <a:gd name="connsiteX24" fmla="*/ 50800 w 331788"/>
              <a:gd name="connsiteY24" fmla="*/ 113581 h 292969"/>
              <a:gd name="connsiteX25" fmla="*/ 139700 w 331788"/>
              <a:gd name="connsiteY25" fmla="*/ 140568 h 292969"/>
              <a:gd name="connsiteX26" fmla="*/ 139700 w 331788"/>
              <a:gd name="connsiteY26" fmla="*/ 148506 h 292969"/>
              <a:gd name="connsiteX27" fmla="*/ 50800 w 331788"/>
              <a:gd name="connsiteY27" fmla="*/ 121518 h 292969"/>
              <a:gd name="connsiteX28" fmla="*/ 95250 w 331788"/>
              <a:gd name="connsiteY28" fmla="*/ 97706 h 292969"/>
              <a:gd name="connsiteX29" fmla="*/ 139700 w 331788"/>
              <a:gd name="connsiteY29" fmla="*/ 110406 h 292969"/>
              <a:gd name="connsiteX30" fmla="*/ 139700 w 331788"/>
              <a:gd name="connsiteY30" fmla="*/ 118344 h 292969"/>
              <a:gd name="connsiteX31" fmla="*/ 95250 w 331788"/>
              <a:gd name="connsiteY31" fmla="*/ 105643 h 292969"/>
              <a:gd name="connsiteX32" fmla="*/ 196850 w 331788"/>
              <a:gd name="connsiteY32" fmla="*/ 89769 h 292969"/>
              <a:gd name="connsiteX33" fmla="*/ 301625 w 331788"/>
              <a:gd name="connsiteY33" fmla="*/ 89769 h 292969"/>
              <a:gd name="connsiteX34" fmla="*/ 301625 w 331788"/>
              <a:gd name="connsiteY34" fmla="*/ 97707 h 292969"/>
              <a:gd name="connsiteX35" fmla="*/ 196850 w 331788"/>
              <a:gd name="connsiteY35" fmla="*/ 97707 h 292969"/>
              <a:gd name="connsiteX36" fmla="*/ 95250 w 331788"/>
              <a:gd name="connsiteY36" fmla="*/ 67544 h 292969"/>
              <a:gd name="connsiteX37" fmla="*/ 139700 w 331788"/>
              <a:gd name="connsiteY37" fmla="*/ 81831 h 292969"/>
              <a:gd name="connsiteX38" fmla="*/ 139700 w 331788"/>
              <a:gd name="connsiteY38" fmla="*/ 89769 h 292969"/>
              <a:gd name="connsiteX39" fmla="*/ 95250 w 331788"/>
              <a:gd name="connsiteY39" fmla="*/ 75481 h 292969"/>
              <a:gd name="connsiteX40" fmla="*/ 68263 w 331788"/>
              <a:gd name="connsiteY40" fmla="*/ 67544 h 292969"/>
              <a:gd name="connsiteX41" fmla="*/ 61913 w 331788"/>
              <a:gd name="connsiteY41" fmla="*/ 81832 h 292969"/>
              <a:gd name="connsiteX42" fmla="*/ 71438 w 331788"/>
              <a:gd name="connsiteY42" fmla="*/ 85007 h 292969"/>
              <a:gd name="connsiteX43" fmla="*/ 61913 w 331788"/>
              <a:gd name="connsiteY43" fmla="*/ 56431 h 292969"/>
              <a:gd name="connsiteX44" fmla="*/ 71438 w 331788"/>
              <a:gd name="connsiteY44" fmla="*/ 59606 h 292969"/>
              <a:gd name="connsiteX45" fmla="*/ 84138 w 331788"/>
              <a:gd name="connsiteY45" fmla="*/ 104056 h 292969"/>
              <a:gd name="connsiteX46" fmla="*/ 76200 w 331788"/>
              <a:gd name="connsiteY46" fmla="*/ 102468 h 292969"/>
              <a:gd name="connsiteX47" fmla="*/ 74613 w 331788"/>
              <a:gd name="connsiteY47" fmla="*/ 92943 h 292969"/>
              <a:gd name="connsiteX48" fmla="*/ 60325 w 331788"/>
              <a:gd name="connsiteY48" fmla="*/ 89768 h 292969"/>
              <a:gd name="connsiteX49" fmla="*/ 58737 w 331788"/>
              <a:gd name="connsiteY49" fmla="*/ 96118 h 292969"/>
              <a:gd name="connsiteX50" fmla="*/ 53975 w 331788"/>
              <a:gd name="connsiteY50" fmla="*/ 96118 h 292969"/>
              <a:gd name="connsiteX51" fmla="*/ 50800 w 331788"/>
              <a:gd name="connsiteY51" fmla="*/ 94531 h 292969"/>
              <a:gd name="connsiteX52" fmla="*/ 171450 w 331788"/>
              <a:gd name="connsiteY52" fmla="*/ 54844 h 292969"/>
              <a:gd name="connsiteX53" fmla="*/ 171450 w 331788"/>
              <a:gd name="connsiteY53" fmla="*/ 248519 h 292969"/>
              <a:gd name="connsiteX54" fmla="*/ 320675 w 331788"/>
              <a:gd name="connsiteY54" fmla="*/ 248519 h 292969"/>
              <a:gd name="connsiteX55" fmla="*/ 320675 w 331788"/>
              <a:gd name="connsiteY55" fmla="*/ 54844 h 292969"/>
              <a:gd name="connsiteX56" fmla="*/ 215900 w 331788"/>
              <a:gd name="connsiteY56" fmla="*/ 54844 h 292969"/>
              <a:gd name="connsiteX57" fmla="*/ 215900 w 331788"/>
              <a:gd name="connsiteY57" fmla="*/ 75481 h 292969"/>
              <a:gd name="connsiteX58" fmla="*/ 206375 w 331788"/>
              <a:gd name="connsiteY58" fmla="*/ 67544 h 292969"/>
              <a:gd name="connsiteX59" fmla="*/ 195262 w 331788"/>
              <a:gd name="connsiteY59" fmla="*/ 75481 h 292969"/>
              <a:gd name="connsiteX60" fmla="*/ 195262 w 331788"/>
              <a:gd name="connsiteY60" fmla="*/ 54844 h 292969"/>
              <a:gd name="connsiteX61" fmla="*/ 33338 w 331788"/>
              <a:gd name="connsiteY61" fmla="*/ 13569 h 292969"/>
              <a:gd name="connsiteX62" fmla="*/ 33338 w 331788"/>
              <a:gd name="connsiteY62" fmla="*/ 42144 h 292969"/>
              <a:gd name="connsiteX63" fmla="*/ 33338 w 331788"/>
              <a:gd name="connsiteY63" fmla="*/ 207244 h 292969"/>
              <a:gd name="connsiteX64" fmla="*/ 160338 w 331788"/>
              <a:gd name="connsiteY64" fmla="*/ 245344 h 292969"/>
              <a:gd name="connsiteX65" fmla="*/ 160338 w 331788"/>
              <a:gd name="connsiteY65" fmla="*/ 53256 h 292969"/>
              <a:gd name="connsiteX66" fmla="*/ 146050 w 331788"/>
              <a:gd name="connsiteY66" fmla="*/ 48494 h 292969"/>
              <a:gd name="connsiteX67" fmla="*/ 128588 w 331788"/>
              <a:gd name="connsiteY67" fmla="*/ 42144 h 292969"/>
              <a:gd name="connsiteX68" fmla="*/ 23329 w 331788"/>
              <a:gd name="connsiteY68" fmla="*/ 575 h 292969"/>
              <a:gd name="connsiteX69" fmla="*/ 28513 w 331788"/>
              <a:gd name="connsiteY69" fmla="*/ 575 h 292969"/>
              <a:gd name="connsiteX70" fmla="*/ 167190 w 331788"/>
              <a:gd name="connsiteY70" fmla="*/ 41975 h 292969"/>
              <a:gd name="connsiteX71" fmla="*/ 326604 w 331788"/>
              <a:gd name="connsiteY71" fmla="*/ 41975 h 292969"/>
              <a:gd name="connsiteX72" fmla="*/ 331788 w 331788"/>
              <a:gd name="connsiteY72" fmla="*/ 48444 h 292969"/>
              <a:gd name="connsiteX73" fmla="*/ 331788 w 331788"/>
              <a:gd name="connsiteY73" fmla="*/ 252862 h 292969"/>
              <a:gd name="connsiteX74" fmla="*/ 326604 w 331788"/>
              <a:gd name="connsiteY74" fmla="*/ 258037 h 292969"/>
              <a:gd name="connsiteX75" fmla="*/ 206072 w 331788"/>
              <a:gd name="connsiteY75" fmla="*/ 258037 h 292969"/>
              <a:gd name="connsiteX76" fmla="*/ 206072 w 331788"/>
              <a:gd name="connsiteY76" fmla="*/ 281325 h 292969"/>
              <a:gd name="connsiteX77" fmla="*/ 228104 w 331788"/>
              <a:gd name="connsiteY77" fmla="*/ 281325 h 292969"/>
              <a:gd name="connsiteX78" fmla="*/ 228104 w 331788"/>
              <a:gd name="connsiteY78" fmla="*/ 292969 h 292969"/>
              <a:gd name="connsiteX79" fmla="*/ 103684 w 331788"/>
              <a:gd name="connsiteY79" fmla="*/ 292969 h 292969"/>
              <a:gd name="connsiteX80" fmla="*/ 103684 w 331788"/>
              <a:gd name="connsiteY80" fmla="*/ 281325 h 292969"/>
              <a:gd name="connsiteX81" fmla="*/ 125716 w 331788"/>
              <a:gd name="connsiteY81" fmla="*/ 281325 h 292969"/>
              <a:gd name="connsiteX82" fmla="*/ 125716 w 331788"/>
              <a:gd name="connsiteY82" fmla="*/ 258037 h 292969"/>
              <a:gd name="connsiteX83" fmla="*/ 5184 w 331788"/>
              <a:gd name="connsiteY83" fmla="*/ 258037 h 292969"/>
              <a:gd name="connsiteX84" fmla="*/ 0 w 331788"/>
              <a:gd name="connsiteY84" fmla="*/ 252862 h 292969"/>
              <a:gd name="connsiteX85" fmla="*/ 0 w 331788"/>
              <a:gd name="connsiteY85" fmla="*/ 48444 h 292969"/>
              <a:gd name="connsiteX86" fmla="*/ 5184 w 331788"/>
              <a:gd name="connsiteY86" fmla="*/ 41975 h 292969"/>
              <a:gd name="connsiteX87" fmla="*/ 20737 w 331788"/>
              <a:gd name="connsiteY87" fmla="*/ 41975 h 292969"/>
              <a:gd name="connsiteX88" fmla="*/ 20737 w 331788"/>
              <a:gd name="connsiteY88" fmla="*/ 5750 h 292969"/>
              <a:gd name="connsiteX89" fmla="*/ 23329 w 331788"/>
              <a:gd name="connsiteY89" fmla="*/ 575 h 292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</a:cxnLst>
            <a:rect l="l" t="t" r="r" b="b"/>
            <a:pathLst>
              <a:path w="331788" h="292969">
                <a:moveTo>
                  <a:pt x="198438" y="207244"/>
                </a:moveTo>
                <a:lnTo>
                  <a:pt x="301626" y="207244"/>
                </a:lnTo>
                <a:lnTo>
                  <a:pt x="301626" y="215182"/>
                </a:lnTo>
                <a:lnTo>
                  <a:pt x="198438" y="215182"/>
                </a:lnTo>
                <a:close/>
                <a:moveTo>
                  <a:pt x="198438" y="178669"/>
                </a:moveTo>
                <a:lnTo>
                  <a:pt x="301626" y="178669"/>
                </a:lnTo>
                <a:lnTo>
                  <a:pt x="301626" y="185019"/>
                </a:lnTo>
                <a:lnTo>
                  <a:pt x="198438" y="185019"/>
                </a:lnTo>
                <a:close/>
                <a:moveTo>
                  <a:pt x="50800" y="172319"/>
                </a:moveTo>
                <a:lnTo>
                  <a:pt x="139700" y="199306"/>
                </a:lnTo>
                <a:lnTo>
                  <a:pt x="139700" y="207244"/>
                </a:lnTo>
                <a:lnTo>
                  <a:pt x="50800" y="180256"/>
                </a:lnTo>
                <a:close/>
                <a:moveTo>
                  <a:pt x="198438" y="148506"/>
                </a:moveTo>
                <a:lnTo>
                  <a:pt x="301626" y="148506"/>
                </a:lnTo>
                <a:lnTo>
                  <a:pt x="301626" y="156444"/>
                </a:lnTo>
                <a:lnTo>
                  <a:pt x="198438" y="156444"/>
                </a:lnTo>
                <a:close/>
                <a:moveTo>
                  <a:pt x="50800" y="142156"/>
                </a:moveTo>
                <a:lnTo>
                  <a:pt x="139700" y="169143"/>
                </a:lnTo>
                <a:lnTo>
                  <a:pt x="139700" y="177081"/>
                </a:lnTo>
                <a:lnTo>
                  <a:pt x="50800" y="150093"/>
                </a:lnTo>
                <a:close/>
                <a:moveTo>
                  <a:pt x="196850" y="118344"/>
                </a:moveTo>
                <a:lnTo>
                  <a:pt x="301625" y="118344"/>
                </a:lnTo>
                <a:lnTo>
                  <a:pt x="301625" y="126282"/>
                </a:lnTo>
                <a:lnTo>
                  <a:pt x="196850" y="126282"/>
                </a:lnTo>
                <a:close/>
                <a:moveTo>
                  <a:pt x="50800" y="113581"/>
                </a:moveTo>
                <a:lnTo>
                  <a:pt x="139700" y="140568"/>
                </a:lnTo>
                <a:lnTo>
                  <a:pt x="139700" y="148506"/>
                </a:lnTo>
                <a:lnTo>
                  <a:pt x="50800" y="121518"/>
                </a:lnTo>
                <a:close/>
                <a:moveTo>
                  <a:pt x="95250" y="97706"/>
                </a:moveTo>
                <a:lnTo>
                  <a:pt x="139700" y="110406"/>
                </a:lnTo>
                <a:lnTo>
                  <a:pt x="139700" y="118344"/>
                </a:lnTo>
                <a:lnTo>
                  <a:pt x="95250" y="105643"/>
                </a:lnTo>
                <a:close/>
                <a:moveTo>
                  <a:pt x="196850" y="89769"/>
                </a:moveTo>
                <a:lnTo>
                  <a:pt x="301625" y="89769"/>
                </a:lnTo>
                <a:lnTo>
                  <a:pt x="301625" y="97707"/>
                </a:lnTo>
                <a:lnTo>
                  <a:pt x="196850" y="97707"/>
                </a:lnTo>
                <a:close/>
                <a:moveTo>
                  <a:pt x="95250" y="67544"/>
                </a:moveTo>
                <a:lnTo>
                  <a:pt x="139700" y="81831"/>
                </a:lnTo>
                <a:lnTo>
                  <a:pt x="139700" y="89769"/>
                </a:lnTo>
                <a:lnTo>
                  <a:pt x="95250" y="75481"/>
                </a:lnTo>
                <a:close/>
                <a:moveTo>
                  <a:pt x="68263" y="67544"/>
                </a:moveTo>
                <a:lnTo>
                  <a:pt x="61913" y="81832"/>
                </a:lnTo>
                <a:lnTo>
                  <a:pt x="71438" y="85007"/>
                </a:lnTo>
                <a:close/>
                <a:moveTo>
                  <a:pt x="61913" y="56431"/>
                </a:moveTo>
                <a:lnTo>
                  <a:pt x="71438" y="59606"/>
                </a:lnTo>
                <a:lnTo>
                  <a:pt x="84138" y="104056"/>
                </a:lnTo>
                <a:lnTo>
                  <a:pt x="76200" y="102468"/>
                </a:lnTo>
                <a:lnTo>
                  <a:pt x="74613" y="92943"/>
                </a:lnTo>
                <a:lnTo>
                  <a:pt x="60325" y="89768"/>
                </a:lnTo>
                <a:lnTo>
                  <a:pt x="58737" y="96118"/>
                </a:lnTo>
                <a:lnTo>
                  <a:pt x="53975" y="96118"/>
                </a:lnTo>
                <a:lnTo>
                  <a:pt x="50800" y="94531"/>
                </a:lnTo>
                <a:close/>
                <a:moveTo>
                  <a:pt x="171450" y="54844"/>
                </a:moveTo>
                <a:lnTo>
                  <a:pt x="171450" y="248519"/>
                </a:lnTo>
                <a:lnTo>
                  <a:pt x="320675" y="248519"/>
                </a:lnTo>
                <a:lnTo>
                  <a:pt x="320675" y="54844"/>
                </a:lnTo>
                <a:lnTo>
                  <a:pt x="215900" y="54844"/>
                </a:lnTo>
                <a:lnTo>
                  <a:pt x="215900" y="75481"/>
                </a:lnTo>
                <a:lnTo>
                  <a:pt x="206375" y="67544"/>
                </a:lnTo>
                <a:lnTo>
                  <a:pt x="195262" y="75481"/>
                </a:lnTo>
                <a:lnTo>
                  <a:pt x="195262" y="54844"/>
                </a:lnTo>
                <a:close/>
                <a:moveTo>
                  <a:pt x="33338" y="13569"/>
                </a:moveTo>
                <a:lnTo>
                  <a:pt x="33338" y="42144"/>
                </a:lnTo>
                <a:lnTo>
                  <a:pt x="33338" y="207244"/>
                </a:lnTo>
                <a:lnTo>
                  <a:pt x="160338" y="245344"/>
                </a:lnTo>
                <a:lnTo>
                  <a:pt x="160338" y="53256"/>
                </a:lnTo>
                <a:lnTo>
                  <a:pt x="146050" y="48494"/>
                </a:lnTo>
                <a:lnTo>
                  <a:pt x="128588" y="42144"/>
                </a:lnTo>
                <a:close/>
                <a:moveTo>
                  <a:pt x="23329" y="575"/>
                </a:moveTo>
                <a:cubicBezTo>
                  <a:pt x="24625" y="575"/>
                  <a:pt x="27217" y="-719"/>
                  <a:pt x="28513" y="575"/>
                </a:cubicBezTo>
                <a:cubicBezTo>
                  <a:pt x="28513" y="575"/>
                  <a:pt x="28513" y="575"/>
                  <a:pt x="167190" y="41975"/>
                </a:cubicBezTo>
                <a:cubicBezTo>
                  <a:pt x="167190" y="41975"/>
                  <a:pt x="167190" y="41975"/>
                  <a:pt x="326604" y="41975"/>
                </a:cubicBezTo>
                <a:cubicBezTo>
                  <a:pt x="329196" y="41975"/>
                  <a:pt x="331788" y="44563"/>
                  <a:pt x="331788" y="48444"/>
                </a:cubicBezTo>
                <a:cubicBezTo>
                  <a:pt x="331788" y="48444"/>
                  <a:pt x="331788" y="48444"/>
                  <a:pt x="331788" y="252862"/>
                </a:cubicBezTo>
                <a:cubicBezTo>
                  <a:pt x="331788" y="255450"/>
                  <a:pt x="329196" y="258037"/>
                  <a:pt x="326604" y="258037"/>
                </a:cubicBezTo>
                <a:cubicBezTo>
                  <a:pt x="326604" y="258037"/>
                  <a:pt x="326604" y="258037"/>
                  <a:pt x="206072" y="258037"/>
                </a:cubicBezTo>
                <a:cubicBezTo>
                  <a:pt x="206072" y="258037"/>
                  <a:pt x="206072" y="258037"/>
                  <a:pt x="206072" y="281325"/>
                </a:cubicBezTo>
                <a:cubicBezTo>
                  <a:pt x="206072" y="281325"/>
                  <a:pt x="206072" y="281325"/>
                  <a:pt x="228104" y="281325"/>
                </a:cubicBezTo>
                <a:cubicBezTo>
                  <a:pt x="228104" y="281325"/>
                  <a:pt x="228104" y="281325"/>
                  <a:pt x="228104" y="292969"/>
                </a:cubicBezTo>
                <a:cubicBezTo>
                  <a:pt x="228104" y="292969"/>
                  <a:pt x="228104" y="292969"/>
                  <a:pt x="103684" y="292969"/>
                </a:cubicBezTo>
                <a:cubicBezTo>
                  <a:pt x="103684" y="292969"/>
                  <a:pt x="103684" y="292969"/>
                  <a:pt x="103684" y="281325"/>
                </a:cubicBezTo>
                <a:cubicBezTo>
                  <a:pt x="103684" y="281325"/>
                  <a:pt x="103684" y="281325"/>
                  <a:pt x="125716" y="281325"/>
                </a:cubicBezTo>
                <a:cubicBezTo>
                  <a:pt x="125716" y="281325"/>
                  <a:pt x="125716" y="281325"/>
                  <a:pt x="125716" y="258037"/>
                </a:cubicBezTo>
                <a:cubicBezTo>
                  <a:pt x="125716" y="258037"/>
                  <a:pt x="125716" y="258037"/>
                  <a:pt x="5184" y="258037"/>
                </a:cubicBezTo>
                <a:cubicBezTo>
                  <a:pt x="2592" y="258037"/>
                  <a:pt x="0" y="255450"/>
                  <a:pt x="0" y="252862"/>
                </a:cubicBezTo>
                <a:cubicBezTo>
                  <a:pt x="0" y="252862"/>
                  <a:pt x="0" y="252862"/>
                  <a:pt x="0" y="48444"/>
                </a:cubicBezTo>
                <a:cubicBezTo>
                  <a:pt x="0" y="44563"/>
                  <a:pt x="2592" y="41975"/>
                  <a:pt x="5184" y="41975"/>
                </a:cubicBezTo>
                <a:cubicBezTo>
                  <a:pt x="5184" y="41975"/>
                  <a:pt x="5184" y="41975"/>
                  <a:pt x="20737" y="41975"/>
                </a:cubicBezTo>
                <a:cubicBezTo>
                  <a:pt x="20737" y="41975"/>
                  <a:pt x="20737" y="41975"/>
                  <a:pt x="20737" y="5750"/>
                </a:cubicBezTo>
                <a:cubicBezTo>
                  <a:pt x="20737" y="4456"/>
                  <a:pt x="22033" y="1868"/>
                  <a:pt x="23329" y="575"/>
                </a:cubicBezTo>
                <a:close/>
              </a:path>
            </a:pathLst>
          </a:custGeom>
          <a:solidFill>
            <a:srgbClr val="005D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691362" y="5097177"/>
            <a:ext cx="25481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sz="1050">
                <a:solidFill>
                  <a:srgbClr val="2A2A2A"/>
                </a:solidFill>
                <a:latin typeface="方正正粗黑简体"/>
              </a:rPr>
              <a:t>指导教师：于强</a:t>
            </a:r>
            <a:endParaRPr sz="1050">
              <a:solidFill>
                <a:srgbClr val="2A2A2A"/>
              </a:solidFill>
              <a:latin typeface="方正正粗黑简体"/>
            </a:endParaRPr>
          </a:p>
        </p:txBody>
      </p:sp>
      <p:sp>
        <p:nvSpPr>
          <p:cNvPr id="13" name="student-graduation-cap-shape_52041"/>
          <p:cNvSpPr>
            <a:spLocks noChangeAspect="1"/>
          </p:cNvSpPr>
          <p:nvPr/>
        </p:nvSpPr>
        <p:spPr bwMode="auto">
          <a:xfrm>
            <a:off x="6789346" y="4445651"/>
            <a:ext cx="276839" cy="350126"/>
          </a:xfrm>
          <a:custGeom>
            <a:avLst/>
            <a:gdLst>
              <a:gd name="connsiteX0" fmla="*/ 147390 w 478363"/>
              <a:gd name="connsiteY0" fmla="*/ 384975 h 604998"/>
              <a:gd name="connsiteX1" fmla="*/ 120362 w 478363"/>
              <a:gd name="connsiteY1" fmla="*/ 463235 h 604998"/>
              <a:gd name="connsiteX2" fmla="*/ 157397 w 478363"/>
              <a:gd name="connsiteY2" fmla="*/ 460340 h 604998"/>
              <a:gd name="connsiteX3" fmla="*/ 239173 w 478363"/>
              <a:gd name="connsiteY3" fmla="*/ 560851 h 604998"/>
              <a:gd name="connsiteX4" fmla="*/ 239188 w 478363"/>
              <a:gd name="connsiteY4" fmla="*/ 560895 h 604998"/>
              <a:gd name="connsiteX5" fmla="*/ 239194 w 478363"/>
              <a:gd name="connsiteY5" fmla="*/ 560877 h 604998"/>
              <a:gd name="connsiteX6" fmla="*/ 239228 w 478363"/>
              <a:gd name="connsiteY6" fmla="*/ 560919 h 604998"/>
              <a:gd name="connsiteX7" fmla="*/ 320966 w 478363"/>
              <a:gd name="connsiteY7" fmla="*/ 460433 h 604998"/>
              <a:gd name="connsiteX8" fmla="*/ 358001 w 478363"/>
              <a:gd name="connsiteY8" fmla="*/ 463328 h 604998"/>
              <a:gd name="connsiteX9" fmla="*/ 331441 w 478363"/>
              <a:gd name="connsiteY9" fmla="*/ 385162 h 604998"/>
              <a:gd name="connsiteX10" fmla="*/ 345843 w 478363"/>
              <a:gd name="connsiteY10" fmla="*/ 392726 h 604998"/>
              <a:gd name="connsiteX11" fmla="*/ 430012 w 478363"/>
              <a:gd name="connsiteY11" fmla="*/ 434191 h 604998"/>
              <a:gd name="connsiteX12" fmla="*/ 471910 w 478363"/>
              <a:gd name="connsiteY12" fmla="*/ 489570 h 604998"/>
              <a:gd name="connsiteX13" fmla="*/ 478363 w 478363"/>
              <a:gd name="connsiteY13" fmla="*/ 525338 h 604998"/>
              <a:gd name="connsiteX14" fmla="*/ 239228 w 478363"/>
              <a:gd name="connsiteY14" fmla="*/ 604998 h 604998"/>
              <a:gd name="connsiteX15" fmla="*/ 0 w 478363"/>
              <a:gd name="connsiteY15" fmla="*/ 525338 h 604998"/>
              <a:gd name="connsiteX16" fmla="*/ 6547 w 478363"/>
              <a:gd name="connsiteY16" fmla="*/ 489570 h 604998"/>
              <a:gd name="connsiteX17" fmla="*/ 48444 w 478363"/>
              <a:gd name="connsiteY17" fmla="*/ 434191 h 604998"/>
              <a:gd name="connsiteX18" fmla="*/ 130556 w 478363"/>
              <a:gd name="connsiteY18" fmla="*/ 393567 h 604998"/>
              <a:gd name="connsiteX19" fmla="*/ 229992 w 478363"/>
              <a:gd name="connsiteY19" fmla="*/ 14 h 604998"/>
              <a:gd name="connsiteX20" fmla="*/ 286137 w 478363"/>
              <a:gd name="connsiteY20" fmla="*/ 23255 h 604998"/>
              <a:gd name="connsiteX21" fmla="*/ 374985 w 478363"/>
              <a:gd name="connsiteY21" fmla="*/ 195621 h 604998"/>
              <a:gd name="connsiteX22" fmla="*/ 418100 w 478363"/>
              <a:gd name="connsiteY22" fmla="*/ 306081 h 604998"/>
              <a:gd name="connsiteX23" fmla="*/ 305777 w 478363"/>
              <a:gd name="connsiteY23" fmla="*/ 340535 h 604998"/>
              <a:gd name="connsiteX24" fmla="*/ 305777 w 478363"/>
              <a:gd name="connsiteY24" fmla="*/ 364625 h 604998"/>
              <a:gd name="connsiteX25" fmla="*/ 305871 w 478363"/>
              <a:gd name="connsiteY25" fmla="*/ 366306 h 604998"/>
              <a:gd name="connsiteX26" fmla="*/ 239194 w 478363"/>
              <a:gd name="connsiteY26" fmla="*/ 560877 h 604998"/>
              <a:gd name="connsiteX27" fmla="*/ 239173 w 478363"/>
              <a:gd name="connsiteY27" fmla="*/ 560851 h 604998"/>
              <a:gd name="connsiteX28" fmla="*/ 172318 w 478363"/>
              <a:gd name="connsiteY28" fmla="*/ 365933 h 604998"/>
              <a:gd name="connsiteX29" fmla="*/ 172318 w 478363"/>
              <a:gd name="connsiteY29" fmla="*/ 341282 h 604998"/>
              <a:gd name="connsiteX30" fmla="*/ 58499 w 478363"/>
              <a:gd name="connsiteY30" fmla="*/ 304493 h 604998"/>
              <a:gd name="connsiteX31" fmla="*/ 105635 w 478363"/>
              <a:gd name="connsiteY31" fmla="*/ 171251 h 604998"/>
              <a:gd name="connsiteX32" fmla="*/ 186440 w 478363"/>
              <a:gd name="connsiteY32" fmla="*/ 8315 h 604998"/>
              <a:gd name="connsiteX33" fmla="*/ 229992 w 478363"/>
              <a:gd name="connsiteY33" fmla="*/ 14 h 6049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478363" h="604998">
                <a:moveTo>
                  <a:pt x="147390" y="384975"/>
                </a:moveTo>
                <a:lnTo>
                  <a:pt x="120362" y="463235"/>
                </a:lnTo>
                <a:lnTo>
                  <a:pt x="157397" y="460340"/>
                </a:lnTo>
                <a:lnTo>
                  <a:pt x="239173" y="560851"/>
                </a:lnTo>
                <a:lnTo>
                  <a:pt x="239188" y="560895"/>
                </a:lnTo>
                <a:lnTo>
                  <a:pt x="239194" y="560877"/>
                </a:lnTo>
                <a:lnTo>
                  <a:pt x="239228" y="560919"/>
                </a:lnTo>
                <a:lnTo>
                  <a:pt x="320966" y="460433"/>
                </a:lnTo>
                <a:lnTo>
                  <a:pt x="358001" y="463328"/>
                </a:lnTo>
                <a:lnTo>
                  <a:pt x="331441" y="385162"/>
                </a:lnTo>
                <a:cubicBezTo>
                  <a:pt x="336210" y="387777"/>
                  <a:pt x="340980" y="390392"/>
                  <a:pt x="345843" y="392726"/>
                </a:cubicBezTo>
                <a:lnTo>
                  <a:pt x="430012" y="434191"/>
                </a:lnTo>
                <a:cubicBezTo>
                  <a:pt x="451896" y="445024"/>
                  <a:pt x="467514" y="465569"/>
                  <a:pt x="471910" y="489570"/>
                </a:cubicBezTo>
                <a:lnTo>
                  <a:pt x="478363" y="525338"/>
                </a:lnTo>
                <a:cubicBezTo>
                  <a:pt x="416265" y="574647"/>
                  <a:pt x="332002" y="604998"/>
                  <a:pt x="239228" y="604998"/>
                </a:cubicBezTo>
                <a:cubicBezTo>
                  <a:pt x="146455" y="604998"/>
                  <a:pt x="62098" y="574647"/>
                  <a:pt x="0" y="525338"/>
                </a:cubicBezTo>
                <a:lnTo>
                  <a:pt x="6547" y="489570"/>
                </a:lnTo>
                <a:cubicBezTo>
                  <a:pt x="10849" y="465569"/>
                  <a:pt x="26467" y="445024"/>
                  <a:pt x="48444" y="434191"/>
                </a:cubicBezTo>
                <a:lnTo>
                  <a:pt x="130556" y="393567"/>
                </a:lnTo>
                <a:close/>
                <a:moveTo>
                  <a:pt x="229992" y="14"/>
                </a:moveTo>
                <a:cubicBezTo>
                  <a:pt x="267356" y="670"/>
                  <a:pt x="286137" y="23255"/>
                  <a:pt x="286137" y="23255"/>
                </a:cubicBezTo>
                <a:cubicBezTo>
                  <a:pt x="363108" y="16159"/>
                  <a:pt x="384431" y="100007"/>
                  <a:pt x="374985" y="195621"/>
                </a:cubicBezTo>
                <a:cubicBezTo>
                  <a:pt x="365446" y="291141"/>
                  <a:pt x="418100" y="306081"/>
                  <a:pt x="418100" y="306081"/>
                </a:cubicBezTo>
                <a:cubicBezTo>
                  <a:pt x="381906" y="342963"/>
                  <a:pt x="305777" y="340535"/>
                  <a:pt x="305777" y="340535"/>
                </a:cubicBezTo>
                <a:lnTo>
                  <a:pt x="305777" y="364625"/>
                </a:lnTo>
                <a:lnTo>
                  <a:pt x="305871" y="366306"/>
                </a:lnTo>
                <a:lnTo>
                  <a:pt x="239194" y="560877"/>
                </a:lnTo>
                <a:lnTo>
                  <a:pt x="239173" y="560851"/>
                </a:lnTo>
                <a:lnTo>
                  <a:pt x="172318" y="365933"/>
                </a:lnTo>
                <a:lnTo>
                  <a:pt x="172318" y="341282"/>
                </a:lnTo>
                <a:cubicBezTo>
                  <a:pt x="84405" y="342029"/>
                  <a:pt x="58499" y="304493"/>
                  <a:pt x="58499" y="304493"/>
                </a:cubicBezTo>
                <a:cubicBezTo>
                  <a:pt x="58499" y="304493"/>
                  <a:pt x="108722" y="303746"/>
                  <a:pt x="105635" y="171251"/>
                </a:cubicBezTo>
                <a:cubicBezTo>
                  <a:pt x="102455" y="38755"/>
                  <a:pt x="163620" y="16999"/>
                  <a:pt x="186440" y="8315"/>
                </a:cubicBezTo>
                <a:cubicBezTo>
                  <a:pt x="203017" y="2013"/>
                  <a:pt x="217537" y="-205"/>
                  <a:pt x="229992" y="14"/>
                </a:cubicBezTo>
                <a:close/>
              </a:path>
            </a:pathLst>
          </a:custGeom>
          <a:solidFill>
            <a:srgbClr val="005DA2"/>
          </a:solidFill>
          <a:ln>
            <a:noFill/>
          </a:ln>
        </p:spPr>
        <p:txBody>
          <a:bodyPr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816610"/>
            <a:endParaRPr lang="zh-CN" altLang="en-US" sz="1600" kern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7239468" y="4445650"/>
            <a:ext cx="25481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sz="1050">
                <a:solidFill>
                  <a:srgbClr val="2A2A2A"/>
                </a:solidFill>
                <a:latin typeface="方正正粗黑简体"/>
              </a:rPr>
              <a:t>软件工程</a:t>
            </a:r>
            <a:endParaRPr sz="1050">
              <a:solidFill>
                <a:srgbClr val="2A2A2A"/>
              </a:solidFill>
              <a:latin typeface="方正正粗黑简体"/>
            </a:endParaRPr>
          </a:p>
        </p:txBody>
      </p:sp>
      <p:sp>
        <p:nvSpPr>
          <p:cNvPr id="15" name="student-graduation-cap-shape_52041"/>
          <p:cNvSpPr>
            <a:spLocks noChangeAspect="1"/>
          </p:cNvSpPr>
          <p:nvPr/>
        </p:nvSpPr>
        <p:spPr bwMode="auto">
          <a:xfrm>
            <a:off x="6752703" y="5099049"/>
            <a:ext cx="350126" cy="346838"/>
          </a:xfrm>
          <a:custGeom>
            <a:avLst/>
            <a:gdLst>
              <a:gd name="connsiteX0" fmla="*/ 248024 w 338138"/>
              <a:gd name="connsiteY0" fmla="*/ 246062 h 334963"/>
              <a:gd name="connsiteX1" fmla="*/ 266327 w 338138"/>
              <a:gd name="connsiteY1" fmla="*/ 246062 h 334963"/>
              <a:gd name="connsiteX2" fmla="*/ 279400 w 338138"/>
              <a:gd name="connsiteY2" fmla="*/ 260350 h 334963"/>
              <a:gd name="connsiteX3" fmla="*/ 266327 w 338138"/>
              <a:gd name="connsiteY3" fmla="*/ 274637 h 334963"/>
              <a:gd name="connsiteX4" fmla="*/ 248024 w 338138"/>
              <a:gd name="connsiteY4" fmla="*/ 274637 h 334963"/>
              <a:gd name="connsiteX5" fmla="*/ 234950 w 338138"/>
              <a:gd name="connsiteY5" fmla="*/ 260350 h 334963"/>
              <a:gd name="connsiteX6" fmla="*/ 248024 w 338138"/>
              <a:gd name="connsiteY6" fmla="*/ 246062 h 334963"/>
              <a:gd name="connsiteX7" fmla="*/ 160519 w 338138"/>
              <a:gd name="connsiteY7" fmla="*/ 246062 h 334963"/>
              <a:gd name="connsiteX8" fmla="*/ 177619 w 338138"/>
              <a:gd name="connsiteY8" fmla="*/ 246062 h 334963"/>
              <a:gd name="connsiteX9" fmla="*/ 192088 w 338138"/>
              <a:gd name="connsiteY9" fmla="*/ 260350 h 334963"/>
              <a:gd name="connsiteX10" fmla="*/ 177619 w 338138"/>
              <a:gd name="connsiteY10" fmla="*/ 274637 h 334963"/>
              <a:gd name="connsiteX11" fmla="*/ 160519 w 338138"/>
              <a:gd name="connsiteY11" fmla="*/ 274637 h 334963"/>
              <a:gd name="connsiteX12" fmla="*/ 146050 w 338138"/>
              <a:gd name="connsiteY12" fmla="*/ 260350 h 334963"/>
              <a:gd name="connsiteX13" fmla="*/ 160519 w 338138"/>
              <a:gd name="connsiteY13" fmla="*/ 246062 h 334963"/>
              <a:gd name="connsiteX14" fmla="*/ 71811 w 338138"/>
              <a:gd name="connsiteY14" fmla="*/ 246062 h 334963"/>
              <a:gd name="connsiteX15" fmla="*/ 90114 w 338138"/>
              <a:gd name="connsiteY15" fmla="*/ 246062 h 334963"/>
              <a:gd name="connsiteX16" fmla="*/ 103188 w 338138"/>
              <a:gd name="connsiteY16" fmla="*/ 260350 h 334963"/>
              <a:gd name="connsiteX17" fmla="*/ 90114 w 338138"/>
              <a:gd name="connsiteY17" fmla="*/ 274637 h 334963"/>
              <a:gd name="connsiteX18" fmla="*/ 71811 w 338138"/>
              <a:gd name="connsiteY18" fmla="*/ 274637 h 334963"/>
              <a:gd name="connsiteX19" fmla="*/ 58738 w 338138"/>
              <a:gd name="connsiteY19" fmla="*/ 260350 h 334963"/>
              <a:gd name="connsiteX20" fmla="*/ 71811 w 338138"/>
              <a:gd name="connsiteY20" fmla="*/ 246062 h 334963"/>
              <a:gd name="connsiteX21" fmla="*/ 248024 w 338138"/>
              <a:gd name="connsiteY21" fmla="*/ 185737 h 334963"/>
              <a:gd name="connsiteX22" fmla="*/ 266327 w 338138"/>
              <a:gd name="connsiteY22" fmla="*/ 185737 h 334963"/>
              <a:gd name="connsiteX23" fmla="*/ 279400 w 338138"/>
              <a:gd name="connsiteY23" fmla="*/ 200024 h 334963"/>
              <a:gd name="connsiteX24" fmla="*/ 266327 w 338138"/>
              <a:gd name="connsiteY24" fmla="*/ 214312 h 334963"/>
              <a:gd name="connsiteX25" fmla="*/ 248024 w 338138"/>
              <a:gd name="connsiteY25" fmla="*/ 214312 h 334963"/>
              <a:gd name="connsiteX26" fmla="*/ 234950 w 338138"/>
              <a:gd name="connsiteY26" fmla="*/ 200024 h 334963"/>
              <a:gd name="connsiteX27" fmla="*/ 248024 w 338138"/>
              <a:gd name="connsiteY27" fmla="*/ 185737 h 334963"/>
              <a:gd name="connsiteX28" fmla="*/ 160519 w 338138"/>
              <a:gd name="connsiteY28" fmla="*/ 185737 h 334963"/>
              <a:gd name="connsiteX29" fmla="*/ 177619 w 338138"/>
              <a:gd name="connsiteY29" fmla="*/ 185737 h 334963"/>
              <a:gd name="connsiteX30" fmla="*/ 192088 w 338138"/>
              <a:gd name="connsiteY30" fmla="*/ 200024 h 334963"/>
              <a:gd name="connsiteX31" fmla="*/ 177619 w 338138"/>
              <a:gd name="connsiteY31" fmla="*/ 214312 h 334963"/>
              <a:gd name="connsiteX32" fmla="*/ 160519 w 338138"/>
              <a:gd name="connsiteY32" fmla="*/ 214312 h 334963"/>
              <a:gd name="connsiteX33" fmla="*/ 146050 w 338138"/>
              <a:gd name="connsiteY33" fmla="*/ 200024 h 334963"/>
              <a:gd name="connsiteX34" fmla="*/ 160519 w 338138"/>
              <a:gd name="connsiteY34" fmla="*/ 185737 h 334963"/>
              <a:gd name="connsiteX35" fmla="*/ 71811 w 338138"/>
              <a:gd name="connsiteY35" fmla="*/ 185737 h 334963"/>
              <a:gd name="connsiteX36" fmla="*/ 90114 w 338138"/>
              <a:gd name="connsiteY36" fmla="*/ 185737 h 334963"/>
              <a:gd name="connsiteX37" fmla="*/ 103188 w 338138"/>
              <a:gd name="connsiteY37" fmla="*/ 200024 h 334963"/>
              <a:gd name="connsiteX38" fmla="*/ 90114 w 338138"/>
              <a:gd name="connsiteY38" fmla="*/ 214312 h 334963"/>
              <a:gd name="connsiteX39" fmla="*/ 71811 w 338138"/>
              <a:gd name="connsiteY39" fmla="*/ 214312 h 334963"/>
              <a:gd name="connsiteX40" fmla="*/ 58738 w 338138"/>
              <a:gd name="connsiteY40" fmla="*/ 200024 h 334963"/>
              <a:gd name="connsiteX41" fmla="*/ 71811 w 338138"/>
              <a:gd name="connsiteY41" fmla="*/ 185737 h 334963"/>
              <a:gd name="connsiteX42" fmla="*/ 248024 w 338138"/>
              <a:gd name="connsiteY42" fmla="*/ 125412 h 334963"/>
              <a:gd name="connsiteX43" fmla="*/ 266327 w 338138"/>
              <a:gd name="connsiteY43" fmla="*/ 125412 h 334963"/>
              <a:gd name="connsiteX44" fmla="*/ 279400 w 338138"/>
              <a:gd name="connsiteY44" fmla="*/ 139699 h 334963"/>
              <a:gd name="connsiteX45" fmla="*/ 266327 w 338138"/>
              <a:gd name="connsiteY45" fmla="*/ 153987 h 334963"/>
              <a:gd name="connsiteX46" fmla="*/ 248024 w 338138"/>
              <a:gd name="connsiteY46" fmla="*/ 153987 h 334963"/>
              <a:gd name="connsiteX47" fmla="*/ 234950 w 338138"/>
              <a:gd name="connsiteY47" fmla="*/ 139699 h 334963"/>
              <a:gd name="connsiteX48" fmla="*/ 248024 w 338138"/>
              <a:gd name="connsiteY48" fmla="*/ 125412 h 334963"/>
              <a:gd name="connsiteX49" fmla="*/ 160519 w 338138"/>
              <a:gd name="connsiteY49" fmla="*/ 125412 h 334963"/>
              <a:gd name="connsiteX50" fmla="*/ 177619 w 338138"/>
              <a:gd name="connsiteY50" fmla="*/ 125412 h 334963"/>
              <a:gd name="connsiteX51" fmla="*/ 192088 w 338138"/>
              <a:gd name="connsiteY51" fmla="*/ 139699 h 334963"/>
              <a:gd name="connsiteX52" fmla="*/ 177619 w 338138"/>
              <a:gd name="connsiteY52" fmla="*/ 153987 h 334963"/>
              <a:gd name="connsiteX53" fmla="*/ 160519 w 338138"/>
              <a:gd name="connsiteY53" fmla="*/ 153987 h 334963"/>
              <a:gd name="connsiteX54" fmla="*/ 146050 w 338138"/>
              <a:gd name="connsiteY54" fmla="*/ 139699 h 334963"/>
              <a:gd name="connsiteX55" fmla="*/ 160519 w 338138"/>
              <a:gd name="connsiteY55" fmla="*/ 125412 h 334963"/>
              <a:gd name="connsiteX56" fmla="*/ 71811 w 338138"/>
              <a:gd name="connsiteY56" fmla="*/ 125412 h 334963"/>
              <a:gd name="connsiteX57" fmla="*/ 90114 w 338138"/>
              <a:gd name="connsiteY57" fmla="*/ 125412 h 334963"/>
              <a:gd name="connsiteX58" fmla="*/ 103188 w 338138"/>
              <a:gd name="connsiteY58" fmla="*/ 139699 h 334963"/>
              <a:gd name="connsiteX59" fmla="*/ 90114 w 338138"/>
              <a:gd name="connsiteY59" fmla="*/ 153987 h 334963"/>
              <a:gd name="connsiteX60" fmla="*/ 71811 w 338138"/>
              <a:gd name="connsiteY60" fmla="*/ 153987 h 334963"/>
              <a:gd name="connsiteX61" fmla="*/ 58738 w 338138"/>
              <a:gd name="connsiteY61" fmla="*/ 139699 h 334963"/>
              <a:gd name="connsiteX62" fmla="*/ 71811 w 338138"/>
              <a:gd name="connsiteY62" fmla="*/ 125412 h 334963"/>
              <a:gd name="connsiteX63" fmla="*/ 51107 w 338138"/>
              <a:gd name="connsiteY63" fmla="*/ 52387 h 334963"/>
              <a:gd name="connsiteX64" fmla="*/ 28575 w 338138"/>
              <a:gd name="connsiteY64" fmla="*/ 73466 h 334963"/>
              <a:gd name="connsiteX65" fmla="*/ 28575 w 338138"/>
              <a:gd name="connsiteY65" fmla="*/ 285578 h 334963"/>
              <a:gd name="connsiteX66" fmla="*/ 51107 w 338138"/>
              <a:gd name="connsiteY66" fmla="*/ 307975 h 334963"/>
              <a:gd name="connsiteX67" fmla="*/ 287031 w 338138"/>
              <a:gd name="connsiteY67" fmla="*/ 307975 h 334963"/>
              <a:gd name="connsiteX68" fmla="*/ 309563 w 338138"/>
              <a:gd name="connsiteY68" fmla="*/ 285578 h 334963"/>
              <a:gd name="connsiteX69" fmla="*/ 309563 w 338138"/>
              <a:gd name="connsiteY69" fmla="*/ 74784 h 334963"/>
              <a:gd name="connsiteX70" fmla="*/ 287031 w 338138"/>
              <a:gd name="connsiteY70" fmla="*/ 52387 h 334963"/>
              <a:gd name="connsiteX71" fmla="*/ 264499 w 338138"/>
              <a:gd name="connsiteY71" fmla="*/ 52387 h 334963"/>
              <a:gd name="connsiteX72" fmla="*/ 264499 w 338138"/>
              <a:gd name="connsiteY72" fmla="*/ 61609 h 334963"/>
              <a:gd name="connsiteX73" fmla="*/ 249919 w 338138"/>
              <a:gd name="connsiteY73" fmla="*/ 74784 h 334963"/>
              <a:gd name="connsiteX74" fmla="*/ 235340 w 338138"/>
              <a:gd name="connsiteY74" fmla="*/ 61609 h 334963"/>
              <a:gd name="connsiteX75" fmla="*/ 235340 w 338138"/>
              <a:gd name="connsiteY75" fmla="*/ 52387 h 334963"/>
              <a:gd name="connsiteX76" fmla="*/ 101473 w 338138"/>
              <a:gd name="connsiteY76" fmla="*/ 52387 h 334963"/>
              <a:gd name="connsiteX77" fmla="*/ 101473 w 338138"/>
              <a:gd name="connsiteY77" fmla="*/ 61609 h 334963"/>
              <a:gd name="connsiteX78" fmla="*/ 86893 w 338138"/>
              <a:gd name="connsiteY78" fmla="*/ 74784 h 334963"/>
              <a:gd name="connsiteX79" fmla="*/ 73639 w 338138"/>
              <a:gd name="connsiteY79" fmla="*/ 61609 h 334963"/>
              <a:gd name="connsiteX80" fmla="*/ 73639 w 338138"/>
              <a:gd name="connsiteY80" fmla="*/ 52387 h 334963"/>
              <a:gd name="connsiteX81" fmla="*/ 51107 w 338138"/>
              <a:gd name="connsiteY81" fmla="*/ 52387 h 334963"/>
              <a:gd name="connsiteX82" fmla="*/ 87176 w 338138"/>
              <a:gd name="connsiteY82" fmla="*/ 0 h 334963"/>
              <a:gd name="connsiteX83" fmla="*/ 101706 w 338138"/>
              <a:gd name="connsiteY83" fmla="*/ 14449 h 334963"/>
              <a:gd name="connsiteX84" fmla="*/ 101706 w 338138"/>
              <a:gd name="connsiteY84" fmla="*/ 23644 h 334963"/>
              <a:gd name="connsiteX85" fmla="*/ 235112 w 338138"/>
              <a:gd name="connsiteY85" fmla="*/ 23644 h 334963"/>
              <a:gd name="connsiteX86" fmla="*/ 235112 w 338138"/>
              <a:gd name="connsiteY86" fmla="*/ 14449 h 334963"/>
              <a:gd name="connsiteX87" fmla="*/ 249641 w 338138"/>
              <a:gd name="connsiteY87" fmla="*/ 0 h 334963"/>
              <a:gd name="connsiteX88" fmla="*/ 264170 w 338138"/>
              <a:gd name="connsiteY88" fmla="*/ 14449 h 334963"/>
              <a:gd name="connsiteX89" fmla="*/ 264170 w 338138"/>
              <a:gd name="connsiteY89" fmla="*/ 23644 h 334963"/>
              <a:gd name="connsiteX90" fmla="*/ 286625 w 338138"/>
              <a:gd name="connsiteY90" fmla="*/ 23644 h 334963"/>
              <a:gd name="connsiteX91" fmla="*/ 338138 w 338138"/>
              <a:gd name="connsiteY91" fmla="*/ 74874 h 334963"/>
              <a:gd name="connsiteX92" fmla="*/ 338138 w 338138"/>
              <a:gd name="connsiteY92" fmla="*/ 285047 h 334963"/>
              <a:gd name="connsiteX93" fmla="*/ 286625 w 338138"/>
              <a:gd name="connsiteY93" fmla="*/ 334963 h 334963"/>
              <a:gd name="connsiteX94" fmla="*/ 51513 w 338138"/>
              <a:gd name="connsiteY94" fmla="*/ 334963 h 334963"/>
              <a:gd name="connsiteX95" fmla="*/ 0 w 338138"/>
              <a:gd name="connsiteY95" fmla="*/ 285047 h 334963"/>
              <a:gd name="connsiteX96" fmla="*/ 0 w 338138"/>
              <a:gd name="connsiteY96" fmla="*/ 74874 h 334963"/>
              <a:gd name="connsiteX97" fmla="*/ 51513 w 338138"/>
              <a:gd name="connsiteY97" fmla="*/ 23644 h 334963"/>
              <a:gd name="connsiteX98" fmla="*/ 73968 w 338138"/>
              <a:gd name="connsiteY98" fmla="*/ 23644 h 334963"/>
              <a:gd name="connsiteX99" fmla="*/ 73968 w 338138"/>
              <a:gd name="connsiteY99" fmla="*/ 14449 h 334963"/>
              <a:gd name="connsiteX100" fmla="*/ 87176 w 338138"/>
              <a:gd name="connsiteY100" fmla="*/ 0 h 3349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</a:cxnLst>
            <a:rect l="l" t="t" r="r" b="b"/>
            <a:pathLst>
              <a:path w="338138" h="334963">
                <a:moveTo>
                  <a:pt x="248024" y="246062"/>
                </a:moveTo>
                <a:cubicBezTo>
                  <a:pt x="248024" y="246062"/>
                  <a:pt x="248024" y="246062"/>
                  <a:pt x="266327" y="246062"/>
                </a:cubicBezTo>
                <a:cubicBezTo>
                  <a:pt x="272863" y="246062"/>
                  <a:pt x="279400" y="252557"/>
                  <a:pt x="279400" y="260350"/>
                </a:cubicBezTo>
                <a:cubicBezTo>
                  <a:pt x="279400" y="268143"/>
                  <a:pt x="272863" y="274637"/>
                  <a:pt x="266327" y="274637"/>
                </a:cubicBezTo>
                <a:cubicBezTo>
                  <a:pt x="266327" y="274637"/>
                  <a:pt x="266327" y="274637"/>
                  <a:pt x="248024" y="274637"/>
                </a:cubicBezTo>
                <a:cubicBezTo>
                  <a:pt x="241487" y="274637"/>
                  <a:pt x="234950" y="268143"/>
                  <a:pt x="234950" y="260350"/>
                </a:cubicBezTo>
                <a:cubicBezTo>
                  <a:pt x="234950" y="252557"/>
                  <a:pt x="241487" y="246062"/>
                  <a:pt x="248024" y="246062"/>
                </a:cubicBezTo>
                <a:close/>
                <a:moveTo>
                  <a:pt x="160519" y="246062"/>
                </a:moveTo>
                <a:cubicBezTo>
                  <a:pt x="160519" y="246062"/>
                  <a:pt x="160519" y="246062"/>
                  <a:pt x="177619" y="246062"/>
                </a:cubicBezTo>
                <a:cubicBezTo>
                  <a:pt x="185511" y="246062"/>
                  <a:pt x="192088" y="252557"/>
                  <a:pt x="192088" y="260350"/>
                </a:cubicBezTo>
                <a:cubicBezTo>
                  <a:pt x="192088" y="268143"/>
                  <a:pt x="185511" y="274637"/>
                  <a:pt x="177619" y="274637"/>
                </a:cubicBezTo>
                <a:cubicBezTo>
                  <a:pt x="177619" y="274637"/>
                  <a:pt x="177619" y="274637"/>
                  <a:pt x="160519" y="274637"/>
                </a:cubicBezTo>
                <a:cubicBezTo>
                  <a:pt x="152627" y="274637"/>
                  <a:pt x="146050" y="268143"/>
                  <a:pt x="146050" y="260350"/>
                </a:cubicBezTo>
                <a:cubicBezTo>
                  <a:pt x="146050" y="252557"/>
                  <a:pt x="152627" y="246062"/>
                  <a:pt x="160519" y="246062"/>
                </a:cubicBezTo>
                <a:close/>
                <a:moveTo>
                  <a:pt x="71811" y="246062"/>
                </a:moveTo>
                <a:cubicBezTo>
                  <a:pt x="71811" y="246062"/>
                  <a:pt x="71811" y="246062"/>
                  <a:pt x="90114" y="246062"/>
                </a:cubicBezTo>
                <a:cubicBezTo>
                  <a:pt x="96651" y="246062"/>
                  <a:pt x="103188" y="252557"/>
                  <a:pt x="103188" y="260350"/>
                </a:cubicBezTo>
                <a:cubicBezTo>
                  <a:pt x="103188" y="268143"/>
                  <a:pt x="96651" y="274637"/>
                  <a:pt x="90114" y="274637"/>
                </a:cubicBezTo>
                <a:cubicBezTo>
                  <a:pt x="90114" y="274637"/>
                  <a:pt x="90114" y="274637"/>
                  <a:pt x="71811" y="274637"/>
                </a:cubicBezTo>
                <a:cubicBezTo>
                  <a:pt x="65275" y="274637"/>
                  <a:pt x="58738" y="268143"/>
                  <a:pt x="58738" y="260350"/>
                </a:cubicBezTo>
                <a:cubicBezTo>
                  <a:pt x="58738" y="252557"/>
                  <a:pt x="65275" y="246062"/>
                  <a:pt x="71811" y="246062"/>
                </a:cubicBezTo>
                <a:close/>
                <a:moveTo>
                  <a:pt x="248024" y="185737"/>
                </a:moveTo>
                <a:cubicBezTo>
                  <a:pt x="248024" y="185737"/>
                  <a:pt x="248024" y="185737"/>
                  <a:pt x="266327" y="185737"/>
                </a:cubicBezTo>
                <a:cubicBezTo>
                  <a:pt x="272863" y="185737"/>
                  <a:pt x="279400" y="192231"/>
                  <a:pt x="279400" y="200024"/>
                </a:cubicBezTo>
                <a:cubicBezTo>
                  <a:pt x="279400" y="209116"/>
                  <a:pt x="272863" y="214312"/>
                  <a:pt x="266327" y="214312"/>
                </a:cubicBezTo>
                <a:cubicBezTo>
                  <a:pt x="266327" y="214312"/>
                  <a:pt x="266327" y="214312"/>
                  <a:pt x="248024" y="214312"/>
                </a:cubicBezTo>
                <a:cubicBezTo>
                  <a:pt x="241487" y="214312"/>
                  <a:pt x="234950" y="207817"/>
                  <a:pt x="234950" y="200024"/>
                </a:cubicBezTo>
                <a:cubicBezTo>
                  <a:pt x="234950" y="192231"/>
                  <a:pt x="241487" y="185737"/>
                  <a:pt x="248024" y="185737"/>
                </a:cubicBezTo>
                <a:close/>
                <a:moveTo>
                  <a:pt x="160519" y="185737"/>
                </a:moveTo>
                <a:cubicBezTo>
                  <a:pt x="160519" y="185737"/>
                  <a:pt x="160519" y="185737"/>
                  <a:pt x="177619" y="185737"/>
                </a:cubicBezTo>
                <a:cubicBezTo>
                  <a:pt x="185511" y="185737"/>
                  <a:pt x="192088" y="192231"/>
                  <a:pt x="192088" y="200024"/>
                </a:cubicBezTo>
                <a:cubicBezTo>
                  <a:pt x="192088" y="209116"/>
                  <a:pt x="185511" y="214312"/>
                  <a:pt x="177619" y="214312"/>
                </a:cubicBezTo>
                <a:cubicBezTo>
                  <a:pt x="177619" y="214312"/>
                  <a:pt x="177619" y="214312"/>
                  <a:pt x="160519" y="214312"/>
                </a:cubicBezTo>
                <a:cubicBezTo>
                  <a:pt x="152627" y="214312"/>
                  <a:pt x="146050" y="207817"/>
                  <a:pt x="146050" y="200024"/>
                </a:cubicBezTo>
                <a:cubicBezTo>
                  <a:pt x="146050" y="192231"/>
                  <a:pt x="152627" y="185737"/>
                  <a:pt x="160519" y="185737"/>
                </a:cubicBezTo>
                <a:close/>
                <a:moveTo>
                  <a:pt x="71811" y="185737"/>
                </a:moveTo>
                <a:cubicBezTo>
                  <a:pt x="71811" y="185737"/>
                  <a:pt x="71811" y="185737"/>
                  <a:pt x="90114" y="185737"/>
                </a:cubicBezTo>
                <a:cubicBezTo>
                  <a:pt x="96651" y="185737"/>
                  <a:pt x="103188" y="192231"/>
                  <a:pt x="103188" y="200024"/>
                </a:cubicBezTo>
                <a:cubicBezTo>
                  <a:pt x="103188" y="209116"/>
                  <a:pt x="96651" y="214312"/>
                  <a:pt x="90114" y="214312"/>
                </a:cubicBezTo>
                <a:cubicBezTo>
                  <a:pt x="90114" y="214312"/>
                  <a:pt x="90114" y="214312"/>
                  <a:pt x="71811" y="214312"/>
                </a:cubicBezTo>
                <a:cubicBezTo>
                  <a:pt x="65275" y="214312"/>
                  <a:pt x="58738" y="207817"/>
                  <a:pt x="58738" y="200024"/>
                </a:cubicBezTo>
                <a:cubicBezTo>
                  <a:pt x="58738" y="192231"/>
                  <a:pt x="65275" y="185737"/>
                  <a:pt x="71811" y="185737"/>
                </a:cubicBezTo>
                <a:close/>
                <a:moveTo>
                  <a:pt x="248024" y="125412"/>
                </a:moveTo>
                <a:cubicBezTo>
                  <a:pt x="248024" y="125412"/>
                  <a:pt x="248024" y="125412"/>
                  <a:pt x="266327" y="125412"/>
                </a:cubicBezTo>
                <a:cubicBezTo>
                  <a:pt x="272863" y="125412"/>
                  <a:pt x="279400" y="131906"/>
                  <a:pt x="279400" y="139699"/>
                </a:cubicBezTo>
                <a:cubicBezTo>
                  <a:pt x="279400" y="147492"/>
                  <a:pt x="272863" y="153987"/>
                  <a:pt x="266327" y="153987"/>
                </a:cubicBezTo>
                <a:cubicBezTo>
                  <a:pt x="266327" y="153987"/>
                  <a:pt x="266327" y="153987"/>
                  <a:pt x="248024" y="153987"/>
                </a:cubicBezTo>
                <a:cubicBezTo>
                  <a:pt x="241487" y="153987"/>
                  <a:pt x="234950" y="147492"/>
                  <a:pt x="234950" y="139699"/>
                </a:cubicBezTo>
                <a:cubicBezTo>
                  <a:pt x="234950" y="131906"/>
                  <a:pt x="241487" y="125412"/>
                  <a:pt x="248024" y="125412"/>
                </a:cubicBezTo>
                <a:close/>
                <a:moveTo>
                  <a:pt x="160519" y="125412"/>
                </a:moveTo>
                <a:cubicBezTo>
                  <a:pt x="160519" y="125412"/>
                  <a:pt x="160519" y="125412"/>
                  <a:pt x="177619" y="125412"/>
                </a:cubicBezTo>
                <a:cubicBezTo>
                  <a:pt x="185511" y="125412"/>
                  <a:pt x="192088" y="131906"/>
                  <a:pt x="192088" y="139699"/>
                </a:cubicBezTo>
                <a:cubicBezTo>
                  <a:pt x="192088" y="147492"/>
                  <a:pt x="185511" y="153987"/>
                  <a:pt x="177619" y="153987"/>
                </a:cubicBezTo>
                <a:cubicBezTo>
                  <a:pt x="177619" y="153987"/>
                  <a:pt x="177619" y="153987"/>
                  <a:pt x="160519" y="153987"/>
                </a:cubicBezTo>
                <a:cubicBezTo>
                  <a:pt x="152627" y="153987"/>
                  <a:pt x="146050" y="147492"/>
                  <a:pt x="146050" y="139699"/>
                </a:cubicBezTo>
                <a:cubicBezTo>
                  <a:pt x="146050" y="131906"/>
                  <a:pt x="152627" y="125412"/>
                  <a:pt x="160519" y="125412"/>
                </a:cubicBezTo>
                <a:close/>
                <a:moveTo>
                  <a:pt x="71811" y="125412"/>
                </a:moveTo>
                <a:cubicBezTo>
                  <a:pt x="71811" y="125412"/>
                  <a:pt x="71811" y="125412"/>
                  <a:pt x="90114" y="125412"/>
                </a:cubicBezTo>
                <a:cubicBezTo>
                  <a:pt x="96651" y="125412"/>
                  <a:pt x="103188" y="131906"/>
                  <a:pt x="103188" y="139699"/>
                </a:cubicBezTo>
                <a:cubicBezTo>
                  <a:pt x="103188" y="147492"/>
                  <a:pt x="96651" y="153987"/>
                  <a:pt x="90114" y="153987"/>
                </a:cubicBezTo>
                <a:cubicBezTo>
                  <a:pt x="90114" y="153987"/>
                  <a:pt x="90114" y="153987"/>
                  <a:pt x="71811" y="153987"/>
                </a:cubicBezTo>
                <a:cubicBezTo>
                  <a:pt x="65275" y="153987"/>
                  <a:pt x="58738" y="147492"/>
                  <a:pt x="58738" y="139699"/>
                </a:cubicBezTo>
                <a:cubicBezTo>
                  <a:pt x="58738" y="131906"/>
                  <a:pt x="65275" y="125412"/>
                  <a:pt x="71811" y="125412"/>
                </a:cubicBezTo>
                <a:close/>
                <a:moveTo>
                  <a:pt x="51107" y="52387"/>
                </a:moveTo>
                <a:cubicBezTo>
                  <a:pt x="39178" y="52387"/>
                  <a:pt x="28575" y="61609"/>
                  <a:pt x="28575" y="73466"/>
                </a:cubicBezTo>
                <a:cubicBezTo>
                  <a:pt x="28575" y="73466"/>
                  <a:pt x="28575" y="73466"/>
                  <a:pt x="28575" y="285578"/>
                </a:cubicBezTo>
                <a:cubicBezTo>
                  <a:pt x="28575" y="297436"/>
                  <a:pt x="39178" y="307975"/>
                  <a:pt x="51107" y="307975"/>
                </a:cubicBezTo>
                <a:cubicBezTo>
                  <a:pt x="51107" y="307975"/>
                  <a:pt x="51107" y="307975"/>
                  <a:pt x="287031" y="307975"/>
                </a:cubicBezTo>
                <a:cubicBezTo>
                  <a:pt x="298960" y="307975"/>
                  <a:pt x="309563" y="297436"/>
                  <a:pt x="309563" y="285578"/>
                </a:cubicBezTo>
                <a:cubicBezTo>
                  <a:pt x="309563" y="285578"/>
                  <a:pt x="309563" y="285578"/>
                  <a:pt x="309563" y="74784"/>
                </a:cubicBezTo>
                <a:cubicBezTo>
                  <a:pt x="309563" y="62926"/>
                  <a:pt x="298960" y="52387"/>
                  <a:pt x="287031" y="52387"/>
                </a:cubicBezTo>
                <a:cubicBezTo>
                  <a:pt x="287031" y="52387"/>
                  <a:pt x="287031" y="52387"/>
                  <a:pt x="264499" y="52387"/>
                </a:cubicBezTo>
                <a:cubicBezTo>
                  <a:pt x="264499" y="52387"/>
                  <a:pt x="264499" y="52387"/>
                  <a:pt x="264499" y="61609"/>
                </a:cubicBezTo>
                <a:cubicBezTo>
                  <a:pt x="263174" y="69514"/>
                  <a:pt x="256546" y="74784"/>
                  <a:pt x="249919" y="74784"/>
                </a:cubicBezTo>
                <a:cubicBezTo>
                  <a:pt x="241967" y="74784"/>
                  <a:pt x="235340" y="69514"/>
                  <a:pt x="235340" y="61609"/>
                </a:cubicBezTo>
                <a:cubicBezTo>
                  <a:pt x="235340" y="61609"/>
                  <a:pt x="235340" y="61609"/>
                  <a:pt x="235340" y="52387"/>
                </a:cubicBezTo>
                <a:cubicBezTo>
                  <a:pt x="235340" y="52387"/>
                  <a:pt x="235340" y="52387"/>
                  <a:pt x="101473" y="52387"/>
                </a:cubicBezTo>
                <a:cubicBezTo>
                  <a:pt x="101473" y="52387"/>
                  <a:pt x="101473" y="52387"/>
                  <a:pt x="101473" y="61609"/>
                </a:cubicBezTo>
                <a:cubicBezTo>
                  <a:pt x="101473" y="69514"/>
                  <a:pt x="94846" y="74784"/>
                  <a:pt x="86893" y="74784"/>
                </a:cubicBezTo>
                <a:cubicBezTo>
                  <a:pt x="80266" y="74784"/>
                  <a:pt x="73639" y="68196"/>
                  <a:pt x="73639" y="61609"/>
                </a:cubicBezTo>
                <a:cubicBezTo>
                  <a:pt x="73639" y="61609"/>
                  <a:pt x="73639" y="61609"/>
                  <a:pt x="73639" y="52387"/>
                </a:cubicBezTo>
                <a:cubicBezTo>
                  <a:pt x="73639" y="52387"/>
                  <a:pt x="73639" y="52387"/>
                  <a:pt x="51107" y="52387"/>
                </a:cubicBezTo>
                <a:close/>
                <a:moveTo>
                  <a:pt x="87176" y="0"/>
                </a:moveTo>
                <a:cubicBezTo>
                  <a:pt x="95101" y="0"/>
                  <a:pt x="101706" y="6568"/>
                  <a:pt x="101706" y="14449"/>
                </a:cubicBezTo>
                <a:cubicBezTo>
                  <a:pt x="101706" y="14449"/>
                  <a:pt x="101706" y="14449"/>
                  <a:pt x="101706" y="23644"/>
                </a:cubicBezTo>
                <a:cubicBezTo>
                  <a:pt x="101706" y="23644"/>
                  <a:pt x="101706" y="23644"/>
                  <a:pt x="235112" y="23644"/>
                </a:cubicBezTo>
                <a:cubicBezTo>
                  <a:pt x="235112" y="23644"/>
                  <a:pt x="235112" y="23644"/>
                  <a:pt x="235112" y="14449"/>
                </a:cubicBezTo>
                <a:cubicBezTo>
                  <a:pt x="235112" y="6568"/>
                  <a:pt x="241716" y="0"/>
                  <a:pt x="249641" y="0"/>
                </a:cubicBezTo>
                <a:cubicBezTo>
                  <a:pt x="257566" y="0"/>
                  <a:pt x="264170" y="6568"/>
                  <a:pt x="264170" y="14449"/>
                </a:cubicBezTo>
                <a:cubicBezTo>
                  <a:pt x="264170" y="14449"/>
                  <a:pt x="264170" y="14449"/>
                  <a:pt x="264170" y="23644"/>
                </a:cubicBezTo>
                <a:cubicBezTo>
                  <a:pt x="264170" y="23644"/>
                  <a:pt x="264170" y="23644"/>
                  <a:pt x="286625" y="23644"/>
                </a:cubicBezTo>
                <a:cubicBezTo>
                  <a:pt x="314363" y="23644"/>
                  <a:pt x="338138" y="47289"/>
                  <a:pt x="338138" y="74874"/>
                </a:cubicBezTo>
                <a:cubicBezTo>
                  <a:pt x="338138" y="74874"/>
                  <a:pt x="338138" y="74874"/>
                  <a:pt x="338138" y="285047"/>
                </a:cubicBezTo>
                <a:cubicBezTo>
                  <a:pt x="336817" y="312632"/>
                  <a:pt x="314363" y="334963"/>
                  <a:pt x="286625" y="334963"/>
                </a:cubicBezTo>
                <a:cubicBezTo>
                  <a:pt x="286625" y="334963"/>
                  <a:pt x="286625" y="334963"/>
                  <a:pt x="51513" y="334963"/>
                </a:cubicBezTo>
                <a:cubicBezTo>
                  <a:pt x="23775" y="334963"/>
                  <a:pt x="0" y="312632"/>
                  <a:pt x="0" y="285047"/>
                </a:cubicBezTo>
                <a:cubicBezTo>
                  <a:pt x="0" y="285047"/>
                  <a:pt x="0" y="285047"/>
                  <a:pt x="0" y="74874"/>
                </a:cubicBezTo>
                <a:cubicBezTo>
                  <a:pt x="0" y="47289"/>
                  <a:pt x="23775" y="23644"/>
                  <a:pt x="51513" y="23644"/>
                </a:cubicBezTo>
                <a:cubicBezTo>
                  <a:pt x="51513" y="23644"/>
                  <a:pt x="51513" y="23644"/>
                  <a:pt x="73968" y="23644"/>
                </a:cubicBezTo>
                <a:cubicBezTo>
                  <a:pt x="73968" y="23644"/>
                  <a:pt x="73968" y="23644"/>
                  <a:pt x="73968" y="14449"/>
                </a:cubicBezTo>
                <a:cubicBezTo>
                  <a:pt x="73968" y="6568"/>
                  <a:pt x="79251" y="0"/>
                  <a:pt x="87176" y="0"/>
                </a:cubicBezTo>
                <a:close/>
              </a:path>
            </a:pathLst>
          </a:custGeom>
          <a:solidFill>
            <a:srgbClr val="005DA2"/>
          </a:solidFill>
          <a:ln>
            <a:noFill/>
          </a:ln>
        </p:spPr>
        <p:txBody>
          <a:bodyPr anchor="ctr">
            <a:scene3d>
              <a:camera prst="orthographicFront"/>
              <a:lightRig rig="threePt" dir="t"/>
            </a:scene3d>
            <a:sp3d>
              <a:contourClr>
                <a:srgbClr val="FFFFFF"/>
              </a:contourClr>
            </a:sp3d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solidFill>
                <a:schemeClr val="tx1">
                  <a:lumMod val="75000"/>
                  <a:lumOff val="2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239468" y="5097403"/>
            <a:ext cx="2548106" cy="338554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lvl="0" algn="ctr">
              <a:defRPr/>
            </a:pPr>
            <a:r>
              <a:rPr sz="1050">
                <a:solidFill>
                  <a:srgbClr val="2A2A2A"/>
                </a:solidFill>
                <a:latin typeface="方正正粗黑简体"/>
              </a:rPr>
              <a:t>2026 年 5 月</a:t>
            </a:r>
            <a:endParaRPr sz="1050">
              <a:solidFill>
                <a:srgbClr val="2A2A2A"/>
              </a:solidFill>
              <a:latin typeface="方正正粗黑简体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7472" y="535252"/>
            <a:ext cx="1528713" cy="1531265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5021580" y="3479165"/>
            <a:ext cx="25603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626C76"/>
                </a:solidFill>
                <a:latin typeface="微软雅黑" panose="020B0503020204020204" pitchFamily="34" charset="-122"/>
              </a:rPr>
              <a:t>敬请批评指正</a:t>
            </a:r>
            <a:endParaRPr sz="1400" b="0">
              <a:solidFill>
                <a:srgbClr val="626C76"/>
              </a:solidFill>
              <a:latin typeface="微软雅黑" panose="020B0503020204020204" pitchFamily="34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 advClick="0" advTm="3000">
        <p:random/>
      </p:transition>
    </mc:Choice>
    <mc:Fallback>
      <p:transition spd="slow" advClick="0" advTm="3000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528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875"/>
                            </p:stCondLst>
                            <p:childTnLst>
                              <p:par>
                                <p:cTn id="1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375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875"/>
                            </p:stCondLst>
                            <p:childTnLst>
                              <p:par>
                                <p:cTn id="2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375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875"/>
                            </p:stCondLst>
                            <p:childTnLst>
                              <p:par>
                                <p:cTn id="3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375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3875"/>
                            </p:stCondLst>
                            <p:childTnLst>
                              <p:par>
                                <p:cTn id="4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375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  <p:bldP spid="16" grpId="0"/>
    </p:bldLst>
  </p:timing>
</p:sld>
</file>

<file path=ppt/tags/tag1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2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3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4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5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6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7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8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9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10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11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12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13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14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15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16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17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18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19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20.xml><?xml version="1.0" encoding="utf-8"?>
<p:tagLst xmlns:p="http://schemas.openxmlformats.org/presentationml/2006/main">
  <p:tag name="KSO_WM_DIAGRAM_VIRTUALLY_FRAME" val="{&quot;height&quot;:359.99992125984255,&quot;left&quot;:75.6,&quot;top&quot;:75.6,&quot;width&quot;:726.4800000000001}"/>
</p:tagLst>
</file>

<file path=ppt/tags/tag21.xml><?xml version="1.0" encoding="utf-8"?>
<p:tagLst xmlns:p="http://schemas.openxmlformats.org/presentationml/2006/main">
  <p:tag name="ISPRING_PRESENTATION_TITLE" val="PowerPoint 演示文稿"/>
  <p:tag name="ISPRING_FIRST_PUBLISH" val="1"/>
</p:tagLst>
</file>

<file path=ppt/theme/theme1.xml><?xml version="1.0" encoding="utf-8"?>
<a:theme xmlns:a="http://schemas.openxmlformats.org/drawingml/2006/main" name="1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自定义 118">
      <a:dk1>
        <a:sysClr val="windowText" lastClr="000000"/>
      </a:dk1>
      <a:lt1>
        <a:sysClr val="window" lastClr="FFFFFF"/>
      </a:lt1>
      <a:dk2>
        <a:srgbClr val="5A6378"/>
      </a:dk2>
      <a:lt2>
        <a:srgbClr val="7F7F7F"/>
      </a:lt2>
      <a:accent1>
        <a:srgbClr val="0070C0"/>
      </a:accent1>
      <a:accent2>
        <a:srgbClr val="009AD0"/>
      </a:accent2>
      <a:accent3>
        <a:srgbClr val="0070C0"/>
      </a:accent3>
      <a:accent4>
        <a:srgbClr val="009AD0"/>
      </a:accent4>
      <a:accent5>
        <a:srgbClr val="0070C0"/>
      </a:accent5>
      <a:accent6>
        <a:srgbClr val="009AD0"/>
      </a:accent6>
      <a:hlink>
        <a:srgbClr val="168BBA"/>
      </a:hlink>
      <a:folHlink>
        <a:srgbClr val="680000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2440</Words>
  <Application>WPS 演示</Application>
  <PresentationFormat>宽屏</PresentationFormat>
  <Paragraphs>567</Paragraphs>
  <Slides>29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29</vt:i4>
      </vt:variant>
    </vt:vector>
  </HeadingPairs>
  <TitlesOfParts>
    <vt:vector size="47" baseType="lpstr">
      <vt:lpstr>Arial</vt:lpstr>
      <vt:lpstr>宋体</vt:lpstr>
      <vt:lpstr>Wingdings</vt:lpstr>
      <vt:lpstr>微软雅黑</vt:lpstr>
      <vt:lpstr>方正正大黑简体</vt:lpstr>
      <vt:lpstr>黑体</vt:lpstr>
      <vt:lpstr>方正正粗黑简体</vt:lpstr>
      <vt:lpstr>方正正粗黑简体</vt:lpstr>
      <vt:lpstr>等线</vt:lpstr>
      <vt:lpstr>Meiryo UI</vt:lpstr>
      <vt:lpstr>Yu Gothic UI</vt:lpstr>
      <vt:lpstr>Calibri</vt:lpstr>
      <vt:lpstr>Meiryo UI</vt:lpstr>
      <vt:lpstr>AMGDT</vt:lpstr>
      <vt:lpstr>Arial</vt:lpstr>
      <vt:lpstr>1_Office 主题​​</vt:lpstr>
      <vt:lpstr>2_Office 主题​​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Anzichen</dc:creator>
  <cp:lastModifiedBy>Mercy</cp:lastModifiedBy>
  <cp:revision>55</cp:revision>
  <dcterms:created xsi:type="dcterms:W3CDTF">2018-12-01T15:35:00Z</dcterms:created>
  <dcterms:modified xsi:type="dcterms:W3CDTF">2026-05-30T11:10:22Z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82E2BD8C678F437682E59394EE3052AC_12</vt:lpwstr>
  </property>
  <property fmtid="{D5CDD505-2E9C-101B-9397-08002B2CF9AE}" pid="3" name="KSOProductBuildVer">
    <vt:lpwstr>2052-12.1.0.26375</vt:lpwstr>
  </property>
</Properties>
</file>