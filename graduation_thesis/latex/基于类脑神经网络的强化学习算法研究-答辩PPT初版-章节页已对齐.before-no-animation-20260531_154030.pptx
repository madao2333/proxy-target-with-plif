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69" r:id="rId4"/>
  </p:sldMasterIdLst>
  <p:notesMasterIdLst>
    <p:notesMasterId r:id="rId6"/>
  </p:notesMasterIdLst>
  <p:sldIdLst>
    <p:sldId id="289" r:id="rId5"/>
    <p:sldId id="257" r:id="rId7"/>
    <p:sldId id="290" r:id="rId8"/>
    <p:sldId id="4772" r:id="rId9"/>
    <p:sldId id="4774" r:id="rId10"/>
    <p:sldId id="4746" r:id="rId11"/>
    <p:sldId id="4787" r:id="rId12"/>
    <p:sldId id="4788" r:id="rId13"/>
    <p:sldId id="4789" r:id="rId14"/>
    <p:sldId id="4758" r:id="rId15"/>
    <p:sldId id="4796" r:id="rId16"/>
    <p:sldId id="4777" r:id="rId17"/>
    <p:sldId id="4779" r:id="rId18"/>
    <p:sldId id="4784" r:id="rId19"/>
    <p:sldId id="4783" r:id="rId20"/>
    <p:sldId id="4748" r:id="rId21"/>
    <p:sldId id="4762" r:id="rId22"/>
    <p:sldId id="4763" r:id="rId23"/>
    <p:sldId id="4764" r:id="rId24"/>
    <p:sldId id="4765" r:id="rId25"/>
    <p:sldId id="4795" r:id="rId26"/>
    <p:sldId id="4794" r:id="rId27"/>
    <p:sldId id="4766" r:id="rId28"/>
    <p:sldId id="4785" r:id="rId29"/>
    <p:sldId id="4767" r:id="rId30"/>
    <p:sldId id="4750" r:id="rId31"/>
    <p:sldId id="4791" r:id="rId32"/>
    <p:sldId id="4793" r:id="rId33"/>
    <p:sldId id="4769" r:id="rId34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7FC"/>
    <a:srgbClr val="005DA2"/>
    <a:srgbClr val="0070C0"/>
    <a:srgbClr val="00467A"/>
    <a:srgbClr val="E6E6E6"/>
    <a:srgbClr val="F15F24"/>
    <a:srgbClr val="E62D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4" d="100"/>
          <a:sy n="54" d="100"/>
        </p:scale>
        <p:origin x="918" y="60"/>
      </p:cViewPr>
      <p:guideLst>
        <p:guide orient="horz" pos="218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8" Type="http://schemas.openxmlformats.org/officeDocument/2006/relationships/tags" Target="tags/tag37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74421-7DCD-4C8D-83B1-2DD55EC59F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AD8B01-7A3C-40BC-ACCB-ED9631AA4F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C882-A448-4391-8676-F5947BC890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DB73F-1E62-4448-A8B4-8FF89C1E1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1557" t="31222" r="15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1557" t="31222" r="15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775F-4E7C-4FCD-A6F2-7AA01A5C99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1FDC4-C78D-40ED-9A94-247FD0F67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32"/>
          <p:cNvSpPr txBox="1"/>
          <p:nvPr userDrawn="1"/>
        </p:nvSpPr>
        <p:spPr>
          <a:xfrm>
            <a:off x="353633" y="343462"/>
            <a:ext cx="2573094" cy="379441"/>
          </a:xfrm>
          <a:prstGeom prst="rect">
            <a:avLst/>
          </a:prstGeom>
          <a:noFill/>
        </p:spPr>
        <p:txBody>
          <a:bodyPr wrap="none" lIns="91417" tIns="45709" rIns="91417" bIns="45709" rtlCol="0">
            <a:spAutoFit/>
          </a:bodyPr>
          <a:lstStyle/>
          <a:p>
            <a:pPr defTabSz="914400"/>
            <a:r>
              <a:rPr lang="zh-CN" altLang="en-US" sz="186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865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33"/>
          <p:cNvSpPr txBox="1"/>
          <p:nvPr userDrawn="1"/>
        </p:nvSpPr>
        <p:spPr>
          <a:xfrm>
            <a:off x="353634" y="621032"/>
            <a:ext cx="2125087" cy="297432"/>
          </a:xfrm>
          <a:prstGeom prst="rect">
            <a:avLst/>
          </a:prstGeom>
          <a:noFill/>
        </p:spPr>
        <p:txBody>
          <a:bodyPr wrap="none" lIns="91417" tIns="45709" rIns="91417" bIns="45709" rtlCol="0">
            <a:spAutoFit/>
          </a:bodyPr>
          <a:lstStyle/>
          <a:p>
            <a:pPr defTabSz="914400"/>
            <a:r>
              <a:rPr lang="en-US" altLang="zh-CN" sz="1335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1335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90" y="365781"/>
            <a:ext cx="10515223" cy="1324635"/>
          </a:xfrm>
          <a:prstGeom prst="rect">
            <a:avLst/>
          </a:prstGeom>
        </p:spPr>
        <p:txBody>
          <a:bodyPr vert="horz" lIns="65032" tIns="32516" rIns="65032" bIns="3251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90" y="1825891"/>
            <a:ext cx="10515223" cy="4351728"/>
          </a:xfrm>
          <a:prstGeom prst="rect">
            <a:avLst/>
          </a:prstGeom>
        </p:spPr>
        <p:txBody>
          <a:bodyPr vert="horz" lIns="65032" tIns="32516" rIns="65032" bIns="3251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90" y="6356747"/>
            <a:ext cx="2742448" cy="364274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4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8" cy="364274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65" kern="1200">
          <a:solidFill>
            <a:schemeClr val="tx1"/>
          </a:solidFill>
          <a:latin typeface="+mn-lt"/>
          <a:ea typeface="+mn-ea"/>
          <a:cs typeface="+mn-cs"/>
        </a:defRPr>
      </a:lvl2pPr>
      <a:lvl3pPr marL="108331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4pPr>
      <a:lvl5pPr marL="195008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6pPr>
      <a:lvl7pPr marL="281686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7pPr>
      <a:lvl8pPr marL="325056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4pPr>
      <a:lvl5pPr marL="173355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2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8pPr>
      <a:lvl9pPr marL="346710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slide" Target="slide18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0"/>
          <p:cNvSpPr txBox="1"/>
          <p:nvPr/>
        </p:nvSpPr>
        <p:spPr>
          <a:xfrm>
            <a:off x="2805366" y="2308383"/>
            <a:ext cx="688217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sz="2700" b="1">
                <a:solidFill>
                  <a:srgbClr val="00528A"/>
                </a:solidFill>
                <a:latin typeface="方正正大黑简体"/>
              </a:rPr>
              <a:t>基于类脑神经网络的
强化学习算法研究</a:t>
            </a:r>
            <a:endParaRPr sz="2700" b="1">
              <a:solidFill>
                <a:srgbClr val="00528A"/>
              </a:solidFill>
              <a:latin typeface="方正正大黑简体"/>
            </a:endParaRPr>
          </a:p>
        </p:txBody>
      </p:sp>
      <p:sp>
        <p:nvSpPr>
          <p:cNvPr id="9" name="student-graduation-cap-shape_52041"/>
          <p:cNvSpPr>
            <a:spLocks noChangeAspect="1"/>
          </p:cNvSpPr>
          <p:nvPr/>
        </p:nvSpPr>
        <p:spPr bwMode="auto">
          <a:xfrm>
            <a:off x="4213653" y="4445425"/>
            <a:ext cx="332015" cy="350126"/>
          </a:xfrm>
          <a:custGeom>
            <a:avLst/>
            <a:gdLst>
              <a:gd name="connsiteX0" fmla="*/ 329990 w 574402"/>
              <a:gd name="connsiteY0" fmla="*/ 329823 h 605734"/>
              <a:gd name="connsiteX1" fmla="*/ 574402 w 574402"/>
              <a:gd name="connsiteY1" fmla="*/ 573910 h 605734"/>
              <a:gd name="connsiteX2" fmla="*/ 542536 w 574402"/>
              <a:gd name="connsiteY2" fmla="*/ 605734 h 605734"/>
              <a:gd name="connsiteX3" fmla="*/ 117603 w 574402"/>
              <a:gd name="connsiteY3" fmla="*/ 605734 h 605734"/>
              <a:gd name="connsiteX4" fmla="*/ 85737 w 574402"/>
              <a:gd name="connsiteY4" fmla="*/ 573910 h 605734"/>
              <a:gd name="connsiteX5" fmla="*/ 101192 w 574402"/>
              <a:gd name="connsiteY5" fmla="*/ 488782 h 605734"/>
              <a:gd name="connsiteX6" fmla="*/ 276614 w 574402"/>
              <a:gd name="connsiteY6" fmla="*/ 335710 h 605734"/>
              <a:gd name="connsiteX7" fmla="*/ 329990 w 574402"/>
              <a:gd name="connsiteY7" fmla="*/ 329823 h 605734"/>
              <a:gd name="connsiteX8" fmla="*/ 164945 w 574402"/>
              <a:gd name="connsiteY8" fmla="*/ 292282 h 605734"/>
              <a:gd name="connsiteX9" fmla="*/ 198571 w 574402"/>
              <a:gd name="connsiteY9" fmla="*/ 295781 h 605734"/>
              <a:gd name="connsiteX10" fmla="*/ 34104 w 574402"/>
              <a:gd name="connsiteY10" fmla="*/ 488736 h 605734"/>
              <a:gd name="connsiteX11" fmla="*/ 31873 w 574402"/>
              <a:gd name="connsiteY11" fmla="*/ 488736 h 605734"/>
              <a:gd name="connsiteX12" fmla="*/ 0 w 574402"/>
              <a:gd name="connsiteY12" fmla="*/ 456922 h 605734"/>
              <a:gd name="connsiteX13" fmla="*/ 164945 w 574402"/>
              <a:gd name="connsiteY13" fmla="*/ 292282 h 605734"/>
              <a:gd name="connsiteX14" fmla="*/ 157572 w 574402"/>
              <a:gd name="connsiteY14" fmla="*/ 38035 h 605734"/>
              <a:gd name="connsiteX15" fmla="*/ 133033 w 574402"/>
              <a:gd name="connsiteY15" fmla="*/ 133157 h 605734"/>
              <a:gd name="connsiteX16" fmla="*/ 157572 w 574402"/>
              <a:gd name="connsiteY16" fmla="*/ 228280 h 605734"/>
              <a:gd name="connsiteX17" fmla="*/ 69295 w 574402"/>
              <a:gd name="connsiteY17" fmla="*/ 133157 h 605734"/>
              <a:gd name="connsiteX18" fmla="*/ 157572 w 574402"/>
              <a:gd name="connsiteY18" fmla="*/ 38035 h 605734"/>
              <a:gd name="connsiteX19" fmla="*/ 329990 w 574402"/>
              <a:gd name="connsiteY19" fmla="*/ 0 h 605734"/>
              <a:gd name="connsiteX20" fmla="*/ 463332 w 574402"/>
              <a:gd name="connsiteY20" fmla="*/ 133166 h 605734"/>
              <a:gd name="connsiteX21" fmla="*/ 329990 w 574402"/>
              <a:gd name="connsiteY21" fmla="*/ 266173 h 605734"/>
              <a:gd name="connsiteX22" fmla="*/ 221341 w 574402"/>
              <a:gd name="connsiteY22" fmla="*/ 210011 h 605734"/>
              <a:gd name="connsiteX23" fmla="*/ 196807 w 574402"/>
              <a:gd name="connsiteY23" fmla="*/ 133166 h 605734"/>
              <a:gd name="connsiteX24" fmla="*/ 221341 w 574402"/>
              <a:gd name="connsiteY24" fmla="*/ 56162 h 605734"/>
              <a:gd name="connsiteX25" fmla="*/ 329990 w 574402"/>
              <a:gd name="connsiteY25" fmla="*/ 0 h 60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74402" h="605734">
                <a:moveTo>
                  <a:pt x="329990" y="329823"/>
                </a:moveTo>
                <a:cubicBezTo>
                  <a:pt x="464783" y="329823"/>
                  <a:pt x="574402" y="439296"/>
                  <a:pt x="574402" y="573910"/>
                </a:cubicBezTo>
                <a:cubicBezTo>
                  <a:pt x="574402" y="591413"/>
                  <a:pt x="560062" y="605734"/>
                  <a:pt x="542536" y="605734"/>
                </a:cubicBezTo>
                <a:lnTo>
                  <a:pt x="117603" y="605734"/>
                </a:lnTo>
                <a:cubicBezTo>
                  <a:pt x="100077" y="605734"/>
                  <a:pt x="85737" y="591413"/>
                  <a:pt x="85737" y="573910"/>
                </a:cubicBezTo>
                <a:cubicBezTo>
                  <a:pt x="85737" y="543996"/>
                  <a:pt x="91154" y="515196"/>
                  <a:pt x="101192" y="488782"/>
                </a:cubicBezTo>
                <a:cubicBezTo>
                  <a:pt x="129712" y="412246"/>
                  <a:pt x="195675" y="353850"/>
                  <a:pt x="276614" y="335710"/>
                </a:cubicBezTo>
                <a:cubicBezTo>
                  <a:pt x="293822" y="331892"/>
                  <a:pt x="311667" y="329823"/>
                  <a:pt x="329990" y="329823"/>
                </a:cubicBezTo>
                <a:close/>
                <a:moveTo>
                  <a:pt x="164945" y="292282"/>
                </a:moveTo>
                <a:cubicBezTo>
                  <a:pt x="176419" y="292282"/>
                  <a:pt x="187575" y="293395"/>
                  <a:pt x="198571" y="295781"/>
                </a:cubicBezTo>
                <a:cubicBezTo>
                  <a:pt x="119366" y="333164"/>
                  <a:pt x="58647" y="403314"/>
                  <a:pt x="34104" y="488736"/>
                </a:cubicBezTo>
                <a:lnTo>
                  <a:pt x="31873" y="488736"/>
                </a:lnTo>
                <a:cubicBezTo>
                  <a:pt x="14184" y="488736"/>
                  <a:pt x="0" y="474420"/>
                  <a:pt x="0" y="456922"/>
                </a:cubicBezTo>
                <a:cubicBezTo>
                  <a:pt x="0" y="366092"/>
                  <a:pt x="73946" y="292282"/>
                  <a:pt x="164945" y="292282"/>
                </a:cubicBezTo>
                <a:close/>
                <a:moveTo>
                  <a:pt x="157572" y="38035"/>
                </a:moveTo>
                <a:cubicBezTo>
                  <a:pt x="141956" y="66190"/>
                  <a:pt x="133033" y="98640"/>
                  <a:pt x="133033" y="133157"/>
                </a:cubicBezTo>
                <a:cubicBezTo>
                  <a:pt x="133033" y="167516"/>
                  <a:pt x="141956" y="199966"/>
                  <a:pt x="157572" y="228280"/>
                </a:cubicBezTo>
                <a:cubicBezTo>
                  <a:pt x="108335" y="224462"/>
                  <a:pt x="69295" y="183264"/>
                  <a:pt x="69295" y="133157"/>
                </a:cubicBezTo>
                <a:cubicBezTo>
                  <a:pt x="69295" y="82892"/>
                  <a:pt x="108335" y="41693"/>
                  <a:pt x="157572" y="38035"/>
                </a:cubicBezTo>
                <a:close/>
                <a:moveTo>
                  <a:pt x="329990" y="0"/>
                </a:moveTo>
                <a:cubicBezTo>
                  <a:pt x="403591" y="0"/>
                  <a:pt x="463332" y="59662"/>
                  <a:pt x="463332" y="133166"/>
                </a:cubicBezTo>
                <a:cubicBezTo>
                  <a:pt x="463332" y="206511"/>
                  <a:pt x="403591" y="266173"/>
                  <a:pt x="329990" y="266173"/>
                </a:cubicBezTo>
                <a:cubicBezTo>
                  <a:pt x="285224" y="266173"/>
                  <a:pt x="245556" y="244058"/>
                  <a:pt x="221341" y="210011"/>
                </a:cubicBezTo>
                <a:cubicBezTo>
                  <a:pt x="205888" y="188373"/>
                  <a:pt x="196807" y="161804"/>
                  <a:pt x="196807" y="133166"/>
                </a:cubicBezTo>
                <a:cubicBezTo>
                  <a:pt x="196807" y="104528"/>
                  <a:pt x="205888" y="77958"/>
                  <a:pt x="221341" y="56162"/>
                </a:cubicBezTo>
                <a:cubicBezTo>
                  <a:pt x="245556" y="22274"/>
                  <a:pt x="285224" y="0"/>
                  <a:pt x="329990" y="0"/>
                </a:cubicBezTo>
                <a:close/>
              </a:path>
            </a:pathLst>
          </a:custGeom>
          <a:solidFill>
            <a:srgbClr val="005DA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ker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91362" y="4446109"/>
            <a:ext cx="254810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600">
                <a:solidFill>
                  <a:srgbClr val="2A2A2A"/>
                </a:solidFill>
                <a:latin typeface="方正正粗黑简体"/>
              </a:rPr>
              <a:t>陈俊为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11" name="student-graduation-cap-shape_52041"/>
          <p:cNvSpPr>
            <a:spLocks noChangeAspect="1"/>
          </p:cNvSpPr>
          <p:nvPr/>
        </p:nvSpPr>
        <p:spPr bwMode="auto">
          <a:xfrm>
            <a:off x="4204596" y="5117659"/>
            <a:ext cx="350128" cy="309162"/>
          </a:xfrm>
          <a:custGeom>
            <a:avLst/>
            <a:gdLst>
              <a:gd name="connsiteX0" fmla="*/ 198438 w 331788"/>
              <a:gd name="connsiteY0" fmla="*/ 207244 h 292969"/>
              <a:gd name="connsiteX1" fmla="*/ 301626 w 331788"/>
              <a:gd name="connsiteY1" fmla="*/ 207244 h 292969"/>
              <a:gd name="connsiteX2" fmla="*/ 301626 w 331788"/>
              <a:gd name="connsiteY2" fmla="*/ 215182 h 292969"/>
              <a:gd name="connsiteX3" fmla="*/ 198438 w 331788"/>
              <a:gd name="connsiteY3" fmla="*/ 215182 h 292969"/>
              <a:gd name="connsiteX4" fmla="*/ 198438 w 331788"/>
              <a:gd name="connsiteY4" fmla="*/ 178669 h 292969"/>
              <a:gd name="connsiteX5" fmla="*/ 301626 w 331788"/>
              <a:gd name="connsiteY5" fmla="*/ 178669 h 292969"/>
              <a:gd name="connsiteX6" fmla="*/ 301626 w 331788"/>
              <a:gd name="connsiteY6" fmla="*/ 185019 h 292969"/>
              <a:gd name="connsiteX7" fmla="*/ 198438 w 331788"/>
              <a:gd name="connsiteY7" fmla="*/ 185019 h 292969"/>
              <a:gd name="connsiteX8" fmla="*/ 50800 w 331788"/>
              <a:gd name="connsiteY8" fmla="*/ 172319 h 292969"/>
              <a:gd name="connsiteX9" fmla="*/ 139700 w 331788"/>
              <a:gd name="connsiteY9" fmla="*/ 199306 h 292969"/>
              <a:gd name="connsiteX10" fmla="*/ 139700 w 331788"/>
              <a:gd name="connsiteY10" fmla="*/ 207244 h 292969"/>
              <a:gd name="connsiteX11" fmla="*/ 50800 w 331788"/>
              <a:gd name="connsiteY11" fmla="*/ 180256 h 292969"/>
              <a:gd name="connsiteX12" fmla="*/ 198438 w 331788"/>
              <a:gd name="connsiteY12" fmla="*/ 148506 h 292969"/>
              <a:gd name="connsiteX13" fmla="*/ 301626 w 331788"/>
              <a:gd name="connsiteY13" fmla="*/ 148506 h 292969"/>
              <a:gd name="connsiteX14" fmla="*/ 301626 w 331788"/>
              <a:gd name="connsiteY14" fmla="*/ 156444 h 292969"/>
              <a:gd name="connsiteX15" fmla="*/ 198438 w 331788"/>
              <a:gd name="connsiteY15" fmla="*/ 156444 h 292969"/>
              <a:gd name="connsiteX16" fmla="*/ 50800 w 331788"/>
              <a:gd name="connsiteY16" fmla="*/ 142156 h 292969"/>
              <a:gd name="connsiteX17" fmla="*/ 139700 w 331788"/>
              <a:gd name="connsiteY17" fmla="*/ 169143 h 292969"/>
              <a:gd name="connsiteX18" fmla="*/ 139700 w 331788"/>
              <a:gd name="connsiteY18" fmla="*/ 177081 h 292969"/>
              <a:gd name="connsiteX19" fmla="*/ 50800 w 331788"/>
              <a:gd name="connsiteY19" fmla="*/ 150093 h 292969"/>
              <a:gd name="connsiteX20" fmla="*/ 196850 w 331788"/>
              <a:gd name="connsiteY20" fmla="*/ 118344 h 292969"/>
              <a:gd name="connsiteX21" fmla="*/ 301625 w 331788"/>
              <a:gd name="connsiteY21" fmla="*/ 118344 h 292969"/>
              <a:gd name="connsiteX22" fmla="*/ 301625 w 331788"/>
              <a:gd name="connsiteY22" fmla="*/ 126282 h 292969"/>
              <a:gd name="connsiteX23" fmla="*/ 196850 w 331788"/>
              <a:gd name="connsiteY23" fmla="*/ 126282 h 292969"/>
              <a:gd name="connsiteX24" fmla="*/ 50800 w 331788"/>
              <a:gd name="connsiteY24" fmla="*/ 113581 h 292969"/>
              <a:gd name="connsiteX25" fmla="*/ 139700 w 331788"/>
              <a:gd name="connsiteY25" fmla="*/ 140568 h 292969"/>
              <a:gd name="connsiteX26" fmla="*/ 139700 w 331788"/>
              <a:gd name="connsiteY26" fmla="*/ 148506 h 292969"/>
              <a:gd name="connsiteX27" fmla="*/ 50800 w 331788"/>
              <a:gd name="connsiteY27" fmla="*/ 121518 h 292969"/>
              <a:gd name="connsiteX28" fmla="*/ 95250 w 331788"/>
              <a:gd name="connsiteY28" fmla="*/ 97706 h 292969"/>
              <a:gd name="connsiteX29" fmla="*/ 139700 w 331788"/>
              <a:gd name="connsiteY29" fmla="*/ 110406 h 292969"/>
              <a:gd name="connsiteX30" fmla="*/ 139700 w 331788"/>
              <a:gd name="connsiteY30" fmla="*/ 118344 h 292969"/>
              <a:gd name="connsiteX31" fmla="*/ 95250 w 331788"/>
              <a:gd name="connsiteY31" fmla="*/ 105643 h 292969"/>
              <a:gd name="connsiteX32" fmla="*/ 196850 w 331788"/>
              <a:gd name="connsiteY32" fmla="*/ 89769 h 292969"/>
              <a:gd name="connsiteX33" fmla="*/ 301625 w 331788"/>
              <a:gd name="connsiteY33" fmla="*/ 89769 h 292969"/>
              <a:gd name="connsiteX34" fmla="*/ 301625 w 331788"/>
              <a:gd name="connsiteY34" fmla="*/ 97707 h 292969"/>
              <a:gd name="connsiteX35" fmla="*/ 196850 w 331788"/>
              <a:gd name="connsiteY35" fmla="*/ 97707 h 292969"/>
              <a:gd name="connsiteX36" fmla="*/ 95250 w 331788"/>
              <a:gd name="connsiteY36" fmla="*/ 67544 h 292969"/>
              <a:gd name="connsiteX37" fmla="*/ 139700 w 331788"/>
              <a:gd name="connsiteY37" fmla="*/ 81831 h 292969"/>
              <a:gd name="connsiteX38" fmla="*/ 139700 w 331788"/>
              <a:gd name="connsiteY38" fmla="*/ 89769 h 292969"/>
              <a:gd name="connsiteX39" fmla="*/ 95250 w 331788"/>
              <a:gd name="connsiteY39" fmla="*/ 75481 h 292969"/>
              <a:gd name="connsiteX40" fmla="*/ 68263 w 331788"/>
              <a:gd name="connsiteY40" fmla="*/ 67544 h 292969"/>
              <a:gd name="connsiteX41" fmla="*/ 61913 w 331788"/>
              <a:gd name="connsiteY41" fmla="*/ 81832 h 292969"/>
              <a:gd name="connsiteX42" fmla="*/ 71438 w 331788"/>
              <a:gd name="connsiteY42" fmla="*/ 85007 h 292969"/>
              <a:gd name="connsiteX43" fmla="*/ 61913 w 331788"/>
              <a:gd name="connsiteY43" fmla="*/ 56431 h 292969"/>
              <a:gd name="connsiteX44" fmla="*/ 71438 w 331788"/>
              <a:gd name="connsiteY44" fmla="*/ 59606 h 292969"/>
              <a:gd name="connsiteX45" fmla="*/ 84138 w 331788"/>
              <a:gd name="connsiteY45" fmla="*/ 104056 h 292969"/>
              <a:gd name="connsiteX46" fmla="*/ 76200 w 331788"/>
              <a:gd name="connsiteY46" fmla="*/ 102468 h 292969"/>
              <a:gd name="connsiteX47" fmla="*/ 74613 w 331788"/>
              <a:gd name="connsiteY47" fmla="*/ 92943 h 292969"/>
              <a:gd name="connsiteX48" fmla="*/ 60325 w 331788"/>
              <a:gd name="connsiteY48" fmla="*/ 89768 h 292969"/>
              <a:gd name="connsiteX49" fmla="*/ 58737 w 331788"/>
              <a:gd name="connsiteY49" fmla="*/ 96118 h 292969"/>
              <a:gd name="connsiteX50" fmla="*/ 53975 w 331788"/>
              <a:gd name="connsiteY50" fmla="*/ 96118 h 292969"/>
              <a:gd name="connsiteX51" fmla="*/ 50800 w 331788"/>
              <a:gd name="connsiteY51" fmla="*/ 94531 h 292969"/>
              <a:gd name="connsiteX52" fmla="*/ 171450 w 331788"/>
              <a:gd name="connsiteY52" fmla="*/ 54844 h 292969"/>
              <a:gd name="connsiteX53" fmla="*/ 171450 w 331788"/>
              <a:gd name="connsiteY53" fmla="*/ 248519 h 292969"/>
              <a:gd name="connsiteX54" fmla="*/ 320675 w 331788"/>
              <a:gd name="connsiteY54" fmla="*/ 248519 h 292969"/>
              <a:gd name="connsiteX55" fmla="*/ 320675 w 331788"/>
              <a:gd name="connsiteY55" fmla="*/ 54844 h 292969"/>
              <a:gd name="connsiteX56" fmla="*/ 215900 w 331788"/>
              <a:gd name="connsiteY56" fmla="*/ 54844 h 292969"/>
              <a:gd name="connsiteX57" fmla="*/ 215900 w 331788"/>
              <a:gd name="connsiteY57" fmla="*/ 75481 h 292969"/>
              <a:gd name="connsiteX58" fmla="*/ 206375 w 331788"/>
              <a:gd name="connsiteY58" fmla="*/ 67544 h 292969"/>
              <a:gd name="connsiteX59" fmla="*/ 195262 w 331788"/>
              <a:gd name="connsiteY59" fmla="*/ 75481 h 292969"/>
              <a:gd name="connsiteX60" fmla="*/ 195262 w 331788"/>
              <a:gd name="connsiteY60" fmla="*/ 54844 h 292969"/>
              <a:gd name="connsiteX61" fmla="*/ 33338 w 331788"/>
              <a:gd name="connsiteY61" fmla="*/ 13569 h 292969"/>
              <a:gd name="connsiteX62" fmla="*/ 33338 w 331788"/>
              <a:gd name="connsiteY62" fmla="*/ 42144 h 292969"/>
              <a:gd name="connsiteX63" fmla="*/ 33338 w 331788"/>
              <a:gd name="connsiteY63" fmla="*/ 207244 h 292969"/>
              <a:gd name="connsiteX64" fmla="*/ 160338 w 331788"/>
              <a:gd name="connsiteY64" fmla="*/ 245344 h 292969"/>
              <a:gd name="connsiteX65" fmla="*/ 160338 w 331788"/>
              <a:gd name="connsiteY65" fmla="*/ 53256 h 292969"/>
              <a:gd name="connsiteX66" fmla="*/ 146050 w 331788"/>
              <a:gd name="connsiteY66" fmla="*/ 48494 h 292969"/>
              <a:gd name="connsiteX67" fmla="*/ 128588 w 331788"/>
              <a:gd name="connsiteY67" fmla="*/ 42144 h 292969"/>
              <a:gd name="connsiteX68" fmla="*/ 23329 w 331788"/>
              <a:gd name="connsiteY68" fmla="*/ 575 h 292969"/>
              <a:gd name="connsiteX69" fmla="*/ 28513 w 331788"/>
              <a:gd name="connsiteY69" fmla="*/ 575 h 292969"/>
              <a:gd name="connsiteX70" fmla="*/ 167190 w 331788"/>
              <a:gd name="connsiteY70" fmla="*/ 41975 h 292969"/>
              <a:gd name="connsiteX71" fmla="*/ 326604 w 331788"/>
              <a:gd name="connsiteY71" fmla="*/ 41975 h 292969"/>
              <a:gd name="connsiteX72" fmla="*/ 331788 w 331788"/>
              <a:gd name="connsiteY72" fmla="*/ 48444 h 292969"/>
              <a:gd name="connsiteX73" fmla="*/ 331788 w 331788"/>
              <a:gd name="connsiteY73" fmla="*/ 252862 h 292969"/>
              <a:gd name="connsiteX74" fmla="*/ 326604 w 331788"/>
              <a:gd name="connsiteY74" fmla="*/ 258037 h 292969"/>
              <a:gd name="connsiteX75" fmla="*/ 206072 w 331788"/>
              <a:gd name="connsiteY75" fmla="*/ 258037 h 292969"/>
              <a:gd name="connsiteX76" fmla="*/ 206072 w 331788"/>
              <a:gd name="connsiteY76" fmla="*/ 281325 h 292969"/>
              <a:gd name="connsiteX77" fmla="*/ 228104 w 331788"/>
              <a:gd name="connsiteY77" fmla="*/ 281325 h 292969"/>
              <a:gd name="connsiteX78" fmla="*/ 228104 w 331788"/>
              <a:gd name="connsiteY78" fmla="*/ 292969 h 292969"/>
              <a:gd name="connsiteX79" fmla="*/ 103684 w 331788"/>
              <a:gd name="connsiteY79" fmla="*/ 292969 h 292969"/>
              <a:gd name="connsiteX80" fmla="*/ 103684 w 331788"/>
              <a:gd name="connsiteY80" fmla="*/ 281325 h 292969"/>
              <a:gd name="connsiteX81" fmla="*/ 125716 w 331788"/>
              <a:gd name="connsiteY81" fmla="*/ 281325 h 292969"/>
              <a:gd name="connsiteX82" fmla="*/ 125716 w 331788"/>
              <a:gd name="connsiteY82" fmla="*/ 258037 h 292969"/>
              <a:gd name="connsiteX83" fmla="*/ 5184 w 331788"/>
              <a:gd name="connsiteY83" fmla="*/ 258037 h 292969"/>
              <a:gd name="connsiteX84" fmla="*/ 0 w 331788"/>
              <a:gd name="connsiteY84" fmla="*/ 252862 h 292969"/>
              <a:gd name="connsiteX85" fmla="*/ 0 w 331788"/>
              <a:gd name="connsiteY85" fmla="*/ 48444 h 292969"/>
              <a:gd name="connsiteX86" fmla="*/ 5184 w 331788"/>
              <a:gd name="connsiteY86" fmla="*/ 41975 h 292969"/>
              <a:gd name="connsiteX87" fmla="*/ 20737 w 331788"/>
              <a:gd name="connsiteY87" fmla="*/ 41975 h 292969"/>
              <a:gd name="connsiteX88" fmla="*/ 20737 w 331788"/>
              <a:gd name="connsiteY88" fmla="*/ 5750 h 292969"/>
              <a:gd name="connsiteX89" fmla="*/ 23329 w 331788"/>
              <a:gd name="connsiteY89" fmla="*/ 575 h 29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331788" h="292969">
                <a:moveTo>
                  <a:pt x="198438" y="207244"/>
                </a:moveTo>
                <a:lnTo>
                  <a:pt x="301626" y="207244"/>
                </a:lnTo>
                <a:lnTo>
                  <a:pt x="301626" y="215182"/>
                </a:lnTo>
                <a:lnTo>
                  <a:pt x="198438" y="215182"/>
                </a:lnTo>
                <a:close/>
                <a:moveTo>
                  <a:pt x="198438" y="178669"/>
                </a:moveTo>
                <a:lnTo>
                  <a:pt x="301626" y="178669"/>
                </a:lnTo>
                <a:lnTo>
                  <a:pt x="301626" y="185019"/>
                </a:lnTo>
                <a:lnTo>
                  <a:pt x="198438" y="185019"/>
                </a:lnTo>
                <a:close/>
                <a:moveTo>
                  <a:pt x="50800" y="172319"/>
                </a:moveTo>
                <a:lnTo>
                  <a:pt x="139700" y="199306"/>
                </a:lnTo>
                <a:lnTo>
                  <a:pt x="139700" y="207244"/>
                </a:lnTo>
                <a:lnTo>
                  <a:pt x="50800" y="180256"/>
                </a:lnTo>
                <a:close/>
                <a:moveTo>
                  <a:pt x="198438" y="148506"/>
                </a:moveTo>
                <a:lnTo>
                  <a:pt x="301626" y="148506"/>
                </a:lnTo>
                <a:lnTo>
                  <a:pt x="301626" y="156444"/>
                </a:lnTo>
                <a:lnTo>
                  <a:pt x="198438" y="156444"/>
                </a:lnTo>
                <a:close/>
                <a:moveTo>
                  <a:pt x="50800" y="142156"/>
                </a:moveTo>
                <a:lnTo>
                  <a:pt x="139700" y="169143"/>
                </a:lnTo>
                <a:lnTo>
                  <a:pt x="139700" y="177081"/>
                </a:lnTo>
                <a:lnTo>
                  <a:pt x="50800" y="150093"/>
                </a:lnTo>
                <a:close/>
                <a:moveTo>
                  <a:pt x="196850" y="118344"/>
                </a:moveTo>
                <a:lnTo>
                  <a:pt x="301625" y="118344"/>
                </a:lnTo>
                <a:lnTo>
                  <a:pt x="301625" y="126282"/>
                </a:lnTo>
                <a:lnTo>
                  <a:pt x="196850" y="126282"/>
                </a:lnTo>
                <a:close/>
                <a:moveTo>
                  <a:pt x="50800" y="113581"/>
                </a:moveTo>
                <a:lnTo>
                  <a:pt x="139700" y="140568"/>
                </a:lnTo>
                <a:lnTo>
                  <a:pt x="139700" y="148506"/>
                </a:lnTo>
                <a:lnTo>
                  <a:pt x="50800" y="121518"/>
                </a:lnTo>
                <a:close/>
                <a:moveTo>
                  <a:pt x="95250" y="97706"/>
                </a:moveTo>
                <a:lnTo>
                  <a:pt x="139700" y="110406"/>
                </a:lnTo>
                <a:lnTo>
                  <a:pt x="139700" y="118344"/>
                </a:lnTo>
                <a:lnTo>
                  <a:pt x="95250" y="105643"/>
                </a:lnTo>
                <a:close/>
                <a:moveTo>
                  <a:pt x="196850" y="89769"/>
                </a:moveTo>
                <a:lnTo>
                  <a:pt x="301625" y="89769"/>
                </a:lnTo>
                <a:lnTo>
                  <a:pt x="301625" y="97707"/>
                </a:lnTo>
                <a:lnTo>
                  <a:pt x="196850" y="97707"/>
                </a:lnTo>
                <a:close/>
                <a:moveTo>
                  <a:pt x="95250" y="67544"/>
                </a:moveTo>
                <a:lnTo>
                  <a:pt x="139700" y="81831"/>
                </a:lnTo>
                <a:lnTo>
                  <a:pt x="139700" y="89769"/>
                </a:lnTo>
                <a:lnTo>
                  <a:pt x="95250" y="75481"/>
                </a:lnTo>
                <a:close/>
                <a:moveTo>
                  <a:pt x="68263" y="67544"/>
                </a:moveTo>
                <a:lnTo>
                  <a:pt x="61913" y="81832"/>
                </a:lnTo>
                <a:lnTo>
                  <a:pt x="71438" y="85007"/>
                </a:lnTo>
                <a:close/>
                <a:moveTo>
                  <a:pt x="61913" y="56431"/>
                </a:moveTo>
                <a:lnTo>
                  <a:pt x="71438" y="59606"/>
                </a:lnTo>
                <a:lnTo>
                  <a:pt x="84138" y="104056"/>
                </a:lnTo>
                <a:lnTo>
                  <a:pt x="76200" y="102468"/>
                </a:lnTo>
                <a:lnTo>
                  <a:pt x="74613" y="92943"/>
                </a:lnTo>
                <a:lnTo>
                  <a:pt x="60325" y="89768"/>
                </a:lnTo>
                <a:lnTo>
                  <a:pt x="58737" y="96118"/>
                </a:lnTo>
                <a:lnTo>
                  <a:pt x="53975" y="96118"/>
                </a:lnTo>
                <a:lnTo>
                  <a:pt x="50800" y="94531"/>
                </a:lnTo>
                <a:close/>
                <a:moveTo>
                  <a:pt x="171450" y="54844"/>
                </a:moveTo>
                <a:lnTo>
                  <a:pt x="171450" y="248519"/>
                </a:lnTo>
                <a:lnTo>
                  <a:pt x="320675" y="248519"/>
                </a:lnTo>
                <a:lnTo>
                  <a:pt x="320675" y="54844"/>
                </a:lnTo>
                <a:lnTo>
                  <a:pt x="215900" y="54844"/>
                </a:lnTo>
                <a:lnTo>
                  <a:pt x="215900" y="75481"/>
                </a:lnTo>
                <a:lnTo>
                  <a:pt x="206375" y="67544"/>
                </a:lnTo>
                <a:lnTo>
                  <a:pt x="195262" y="75481"/>
                </a:lnTo>
                <a:lnTo>
                  <a:pt x="195262" y="54844"/>
                </a:lnTo>
                <a:close/>
                <a:moveTo>
                  <a:pt x="33338" y="13569"/>
                </a:moveTo>
                <a:lnTo>
                  <a:pt x="33338" y="42144"/>
                </a:lnTo>
                <a:lnTo>
                  <a:pt x="33338" y="207244"/>
                </a:lnTo>
                <a:lnTo>
                  <a:pt x="160338" y="245344"/>
                </a:lnTo>
                <a:lnTo>
                  <a:pt x="160338" y="53256"/>
                </a:lnTo>
                <a:lnTo>
                  <a:pt x="146050" y="48494"/>
                </a:lnTo>
                <a:lnTo>
                  <a:pt x="128588" y="42144"/>
                </a:lnTo>
                <a:close/>
                <a:moveTo>
                  <a:pt x="23329" y="575"/>
                </a:moveTo>
                <a:cubicBezTo>
                  <a:pt x="24625" y="575"/>
                  <a:pt x="27217" y="-719"/>
                  <a:pt x="28513" y="575"/>
                </a:cubicBezTo>
                <a:cubicBezTo>
                  <a:pt x="28513" y="575"/>
                  <a:pt x="28513" y="575"/>
                  <a:pt x="167190" y="41975"/>
                </a:cubicBezTo>
                <a:cubicBezTo>
                  <a:pt x="167190" y="41975"/>
                  <a:pt x="167190" y="41975"/>
                  <a:pt x="326604" y="41975"/>
                </a:cubicBezTo>
                <a:cubicBezTo>
                  <a:pt x="329196" y="41975"/>
                  <a:pt x="331788" y="44563"/>
                  <a:pt x="331788" y="48444"/>
                </a:cubicBezTo>
                <a:cubicBezTo>
                  <a:pt x="331788" y="48444"/>
                  <a:pt x="331788" y="48444"/>
                  <a:pt x="331788" y="252862"/>
                </a:cubicBezTo>
                <a:cubicBezTo>
                  <a:pt x="331788" y="255450"/>
                  <a:pt x="329196" y="258037"/>
                  <a:pt x="326604" y="258037"/>
                </a:cubicBezTo>
                <a:cubicBezTo>
                  <a:pt x="326604" y="258037"/>
                  <a:pt x="326604" y="258037"/>
                  <a:pt x="206072" y="258037"/>
                </a:cubicBezTo>
                <a:cubicBezTo>
                  <a:pt x="206072" y="258037"/>
                  <a:pt x="206072" y="258037"/>
                  <a:pt x="206072" y="281325"/>
                </a:cubicBezTo>
                <a:cubicBezTo>
                  <a:pt x="206072" y="281325"/>
                  <a:pt x="206072" y="281325"/>
                  <a:pt x="228104" y="281325"/>
                </a:cubicBezTo>
                <a:cubicBezTo>
                  <a:pt x="228104" y="281325"/>
                  <a:pt x="228104" y="281325"/>
                  <a:pt x="228104" y="292969"/>
                </a:cubicBezTo>
                <a:cubicBezTo>
                  <a:pt x="228104" y="292969"/>
                  <a:pt x="228104" y="292969"/>
                  <a:pt x="103684" y="292969"/>
                </a:cubicBezTo>
                <a:cubicBezTo>
                  <a:pt x="103684" y="292969"/>
                  <a:pt x="103684" y="292969"/>
                  <a:pt x="103684" y="281325"/>
                </a:cubicBezTo>
                <a:cubicBezTo>
                  <a:pt x="103684" y="281325"/>
                  <a:pt x="103684" y="281325"/>
                  <a:pt x="125716" y="281325"/>
                </a:cubicBezTo>
                <a:cubicBezTo>
                  <a:pt x="125716" y="281325"/>
                  <a:pt x="125716" y="281325"/>
                  <a:pt x="125716" y="258037"/>
                </a:cubicBezTo>
                <a:cubicBezTo>
                  <a:pt x="125716" y="258037"/>
                  <a:pt x="125716" y="258037"/>
                  <a:pt x="5184" y="258037"/>
                </a:cubicBezTo>
                <a:cubicBezTo>
                  <a:pt x="2592" y="258037"/>
                  <a:pt x="0" y="255450"/>
                  <a:pt x="0" y="252862"/>
                </a:cubicBezTo>
                <a:cubicBezTo>
                  <a:pt x="0" y="252862"/>
                  <a:pt x="0" y="252862"/>
                  <a:pt x="0" y="48444"/>
                </a:cubicBezTo>
                <a:cubicBezTo>
                  <a:pt x="0" y="44563"/>
                  <a:pt x="2592" y="41975"/>
                  <a:pt x="5184" y="41975"/>
                </a:cubicBezTo>
                <a:cubicBezTo>
                  <a:pt x="5184" y="41975"/>
                  <a:pt x="5184" y="41975"/>
                  <a:pt x="20737" y="41975"/>
                </a:cubicBezTo>
                <a:cubicBezTo>
                  <a:pt x="20737" y="41975"/>
                  <a:pt x="20737" y="41975"/>
                  <a:pt x="20737" y="5750"/>
                </a:cubicBezTo>
                <a:cubicBezTo>
                  <a:pt x="20737" y="4456"/>
                  <a:pt x="22033" y="1868"/>
                  <a:pt x="23329" y="575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91362" y="5097861"/>
            <a:ext cx="254810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600">
                <a:solidFill>
                  <a:srgbClr val="2A2A2A"/>
                </a:solidFill>
                <a:latin typeface="方正正粗黑简体"/>
              </a:rPr>
              <a:t>软件工程</a:t>
            </a:r>
            <a:endParaRPr sz="1600">
              <a:solidFill>
                <a:srgbClr val="2A2A2A"/>
              </a:solidFill>
              <a:latin typeface="方正正粗黑简体"/>
            </a:endParaRPr>
          </a:p>
        </p:txBody>
      </p:sp>
      <p:sp>
        <p:nvSpPr>
          <p:cNvPr id="13" name="student-graduation-cap-shape_52041"/>
          <p:cNvSpPr>
            <a:spLocks noChangeAspect="1"/>
          </p:cNvSpPr>
          <p:nvPr/>
        </p:nvSpPr>
        <p:spPr bwMode="auto">
          <a:xfrm>
            <a:off x="6789346" y="4445651"/>
            <a:ext cx="276839" cy="350126"/>
          </a:xfrm>
          <a:custGeom>
            <a:avLst/>
            <a:gdLst>
              <a:gd name="connsiteX0" fmla="*/ 147390 w 478363"/>
              <a:gd name="connsiteY0" fmla="*/ 384975 h 604998"/>
              <a:gd name="connsiteX1" fmla="*/ 120362 w 478363"/>
              <a:gd name="connsiteY1" fmla="*/ 463235 h 604998"/>
              <a:gd name="connsiteX2" fmla="*/ 157397 w 478363"/>
              <a:gd name="connsiteY2" fmla="*/ 460340 h 604998"/>
              <a:gd name="connsiteX3" fmla="*/ 239173 w 478363"/>
              <a:gd name="connsiteY3" fmla="*/ 560851 h 604998"/>
              <a:gd name="connsiteX4" fmla="*/ 239188 w 478363"/>
              <a:gd name="connsiteY4" fmla="*/ 560895 h 604998"/>
              <a:gd name="connsiteX5" fmla="*/ 239194 w 478363"/>
              <a:gd name="connsiteY5" fmla="*/ 560877 h 604998"/>
              <a:gd name="connsiteX6" fmla="*/ 239228 w 478363"/>
              <a:gd name="connsiteY6" fmla="*/ 560919 h 604998"/>
              <a:gd name="connsiteX7" fmla="*/ 320966 w 478363"/>
              <a:gd name="connsiteY7" fmla="*/ 460433 h 604998"/>
              <a:gd name="connsiteX8" fmla="*/ 358001 w 478363"/>
              <a:gd name="connsiteY8" fmla="*/ 463328 h 604998"/>
              <a:gd name="connsiteX9" fmla="*/ 331441 w 478363"/>
              <a:gd name="connsiteY9" fmla="*/ 385162 h 604998"/>
              <a:gd name="connsiteX10" fmla="*/ 345843 w 478363"/>
              <a:gd name="connsiteY10" fmla="*/ 392726 h 604998"/>
              <a:gd name="connsiteX11" fmla="*/ 430012 w 478363"/>
              <a:gd name="connsiteY11" fmla="*/ 434191 h 604998"/>
              <a:gd name="connsiteX12" fmla="*/ 471910 w 478363"/>
              <a:gd name="connsiteY12" fmla="*/ 489570 h 604998"/>
              <a:gd name="connsiteX13" fmla="*/ 478363 w 478363"/>
              <a:gd name="connsiteY13" fmla="*/ 525338 h 604998"/>
              <a:gd name="connsiteX14" fmla="*/ 239228 w 478363"/>
              <a:gd name="connsiteY14" fmla="*/ 604998 h 604998"/>
              <a:gd name="connsiteX15" fmla="*/ 0 w 478363"/>
              <a:gd name="connsiteY15" fmla="*/ 525338 h 604998"/>
              <a:gd name="connsiteX16" fmla="*/ 6547 w 478363"/>
              <a:gd name="connsiteY16" fmla="*/ 489570 h 604998"/>
              <a:gd name="connsiteX17" fmla="*/ 48444 w 478363"/>
              <a:gd name="connsiteY17" fmla="*/ 434191 h 604998"/>
              <a:gd name="connsiteX18" fmla="*/ 130556 w 478363"/>
              <a:gd name="connsiteY18" fmla="*/ 393567 h 604998"/>
              <a:gd name="connsiteX19" fmla="*/ 229992 w 478363"/>
              <a:gd name="connsiteY19" fmla="*/ 14 h 604998"/>
              <a:gd name="connsiteX20" fmla="*/ 286137 w 478363"/>
              <a:gd name="connsiteY20" fmla="*/ 23255 h 604998"/>
              <a:gd name="connsiteX21" fmla="*/ 374985 w 478363"/>
              <a:gd name="connsiteY21" fmla="*/ 195621 h 604998"/>
              <a:gd name="connsiteX22" fmla="*/ 418100 w 478363"/>
              <a:gd name="connsiteY22" fmla="*/ 306081 h 604998"/>
              <a:gd name="connsiteX23" fmla="*/ 305777 w 478363"/>
              <a:gd name="connsiteY23" fmla="*/ 340535 h 604998"/>
              <a:gd name="connsiteX24" fmla="*/ 305777 w 478363"/>
              <a:gd name="connsiteY24" fmla="*/ 364625 h 604998"/>
              <a:gd name="connsiteX25" fmla="*/ 305871 w 478363"/>
              <a:gd name="connsiteY25" fmla="*/ 366306 h 604998"/>
              <a:gd name="connsiteX26" fmla="*/ 239194 w 478363"/>
              <a:gd name="connsiteY26" fmla="*/ 560877 h 604998"/>
              <a:gd name="connsiteX27" fmla="*/ 239173 w 478363"/>
              <a:gd name="connsiteY27" fmla="*/ 560851 h 604998"/>
              <a:gd name="connsiteX28" fmla="*/ 172318 w 478363"/>
              <a:gd name="connsiteY28" fmla="*/ 365933 h 604998"/>
              <a:gd name="connsiteX29" fmla="*/ 172318 w 478363"/>
              <a:gd name="connsiteY29" fmla="*/ 341282 h 604998"/>
              <a:gd name="connsiteX30" fmla="*/ 58499 w 478363"/>
              <a:gd name="connsiteY30" fmla="*/ 304493 h 604998"/>
              <a:gd name="connsiteX31" fmla="*/ 105635 w 478363"/>
              <a:gd name="connsiteY31" fmla="*/ 171251 h 604998"/>
              <a:gd name="connsiteX32" fmla="*/ 186440 w 478363"/>
              <a:gd name="connsiteY32" fmla="*/ 8315 h 604998"/>
              <a:gd name="connsiteX33" fmla="*/ 229992 w 478363"/>
              <a:gd name="connsiteY33" fmla="*/ 14 h 60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8363" h="604998">
                <a:moveTo>
                  <a:pt x="147390" y="384975"/>
                </a:moveTo>
                <a:lnTo>
                  <a:pt x="120362" y="463235"/>
                </a:lnTo>
                <a:lnTo>
                  <a:pt x="157397" y="460340"/>
                </a:lnTo>
                <a:lnTo>
                  <a:pt x="239173" y="560851"/>
                </a:lnTo>
                <a:lnTo>
                  <a:pt x="239188" y="560895"/>
                </a:lnTo>
                <a:lnTo>
                  <a:pt x="239194" y="560877"/>
                </a:lnTo>
                <a:lnTo>
                  <a:pt x="239228" y="560919"/>
                </a:lnTo>
                <a:lnTo>
                  <a:pt x="320966" y="460433"/>
                </a:lnTo>
                <a:lnTo>
                  <a:pt x="358001" y="463328"/>
                </a:lnTo>
                <a:lnTo>
                  <a:pt x="331441" y="385162"/>
                </a:lnTo>
                <a:cubicBezTo>
                  <a:pt x="336210" y="387777"/>
                  <a:pt x="340980" y="390392"/>
                  <a:pt x="345843" y="392726"/>
                </a:cubicBezTo>
                <a:lnTo>
                  <a:pt x="430012" y="434191"/>
                </a:lnTo>
                <a:cubicBezTo>
                  <a:pt x="451896" y="445024"/>
                  <a:pt x="467514" y="465569"/>
                  <a:pt x="471910" y="489570"/>
                </a:cubicBezTo>
                <a:lnTo>
                  <a:pt x="478363" y="525338"/>
                </a:lnTo>
                <a:cubicBezTo>
                  <a:pt x="416265" y="574647"/>
                  <a:pt x="332002" y="604998"/>
                  <a:pt x="239228" y="604998"/>
                </a:cubicBezTo>
                <a:cubicBezTo>
                  <a:pt x="146455" y="604998"/>
                  <a:pt x="62098" y="574647"/>
                  <a:pt x="0" y="525338"/>
                </a:cubicBezTo>
                <a:lnTo>
                  <a:pt x="6547" y="489570"/>
                </a:lnTo>
                <a:cubicBezTo>
                  <a:pt x="10849" y="465569"/>
                  <a:pt x="26467" y="445024"/>
                  <a:pt x="48444" y="434191"/>
                </a:cubicBezTo>
                <a:lnTo>
                  <a:pt x="130556" y="393567"/>
                </a:lnTo>
                <a:close/>
                <a:moveTo>
                  <a:pt x="229992" y="14"/>
                </a:moveTo>
                <a:cubicBezTo>
                  <a:pt x="267356" y="670"/>
                  <a:pt x="286137" y="23255"/>
                  <a:pt x="286137" y="23255"/>
                </a:cubicBezTo>
                <a:cubicBezTo>
                  <a:pt x="363108" y="16159"/>
                  <a:pt x="384431" y="100007"/>
                  <a:pt x="374985" y="195621"/>
                </a:cubicBezTo>
                <a:cubicBezTo>
                  <a:pt x="365446" y="291141"/>
                  <a:pt x="418100" y="306081"/>
                  <a:pt x="418100" y="306081"/>
                </a:cubicBezTo>
                <a:cubicBezTo>
                  <a:pt x="381906" y="342963"/>
                  <a:pt x="305777" y="340535"/>
                  <a:pt x="305777" y="340535"/>
                </a:cubicBezTo>
                <a:lnTo>
                  <a:pt x="305777" y="364625"/>
                </a:lnTo>
                <a:lnTo>
                  <a:pt x="305871" y="366306"/>
                </a:lnTo>
                <a:lnTo>
                  <a:pt x="239194" y="560877"/>
                </a:lnTo>
                <a:lnTo>
                  <a:pt x="239173" y="560851"/>
                </a:lnTo>
                <a:lnTo>
                  <a:pt x="172318" y="365933"/>
                </a:lnTo>
                <a:lnTo>
                  <a:pt x="172318" y="341282"/>
                </a:lnTo>
                <a:cubicBezTo>
                  <a:pt x="84405" y="342029"/>
                  <a:pt x="58499" y="304493"/>
                  <a:pt x="58499" y="304493"/>
                </a:cubicBezTo>
                <a:cubicBezTo>
                  <a:pt x="58499" y="304493"/>
                  <a:pt x="108722" y="303746"/>
                  <a:pt x="105635" y="171251"/>
                </a:cubicBezTo>
                <a:cubicBezTo>
                  <a:pt x="102455" y="38755"/>
                  <a:pt x="163620" y="16999"/>
                  <a:pt x="186440" y="8315"/>
                </a:cubicBezTo>
                <a:cubicBezTo>
                  <a:pt x="203017" y="2013"/>
                  <a:pt x="217537" y="-205"/>
                  <a:pt x="229992" y="14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6610"/>
            <a:endParaRPr lang="zh-CN" altLang="en-US" sz="1600" ker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468" y="4446335"/>
            <a:ext cx="254810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600">
                <a:solidFill>
                  <a:srgbClr val="2A2A2A"/>
                </a:solidFill>
                <a:latin typeface="方正正粗黑简体"/>
              </a:rPr>
              <a:t>3022234171</a:t>
            </a:r>
            <a:endParaRPr sz="1600">
              <a:solidFill>
                <a:srgbClr val="2A2A2A"/>
              </a:solidFill>
              <a:latin typeface="方正正粗黑简体"/>
            </a:endParaRPr>
          </a:p>
        </p:txBody>
      </p:sp>
      <p:sp>
        <p:nvSpPr>
          <p:cNvPr id="15" name="student-graduation-cap-shape_52041"/>
          <p:cNvSpPr>
            <a:spLocks noChangeAspect="1"/>
          </p:cNvSpPr>
          <p:nvPr/>
        </p:nvSpPr>
        <p:spPr bwMode="auto">
          <a:xfrm>
            <a:off x="6752703" y="5099049"/>
            <a:ext cx="350126" cy="346838"/>
          </a:xfrm>
          <a:custGeom>
            <a:avLst/>
            <a:gdLst>
              <a:gd name="connsiteX0" fmla="*/ 248024 w 338138"/>
              <a:gd name="connsiteY0" fmla="*/ 246062 h 334963"/>
              <a:gd name="connsiteX1" fmla="*/ 266327 w 338138"/>
              <a:gd name="connsiteY1" fmla="*/ 246062 h 334963"/>
              <a:gd name="connsiteX2" fmla="*/ 279400 w 338138"/>
              <a:gd name="connsiteY2" fmla="*/ 260350 h 334963"/>
              <a:gd name="connsiteX3" fmla="*/ 266327 w 338138"/>
              <a:gd name="connsiteY3" fmla="*/ 274637 h 334963"/>
              <a:gd name="connsiteX4" fmla="*/ 248024 w 338138"/>
              <a:gd name="connsiteY4" fmla="*/ 274637 h 334963"/>
              <a:gd name="connsiteX5" fmla="*/ 234950 w 338138"/>
              <a:gd name="connsiteY5" fmla="*/ 260350 h 334963"/>
              <a:gd name="connsiteX6" fmla="*/ 248024 w 338138"/>
              <a:gd name="connsiteY6" fmla="*/ 246062 h 334963"/>
              <a:gd name="connsiteX7" fmla="*/ 160519 w 338138"/>
              <a:gd name="connsiteY7" fmla="*/ 246062 h 334963"/>
              <a:gd name="connsiteX8" fmla="*/ 177619 w 338138"/>
              <a:gd name="connsiteY8" fmla="*/ 246062 h 334963"/>
              <a:gd name="connsiteX9" fmla="*/ 192088 w 338138"/>
              <a:gd name="connsiteY9" fmla="*/ 260350 h 334963"/>
              <a:gd name="connsiteX10" fmla="*/ 177619 w 338138"/>
              <a:gd name="connsiteY10" fmla="*/ 274637 h 334963"/>
              <a:gd name="connsiteX11" fmla="*/ 160519 w 338138"/>
              <a:gd name="connsiteY11" fmla="*/ 274637 h 334963"/>
              <a:gd name="connsiteX12" fmla="*/ 146050 w 338138"/>
              <a:gd name="connsiteY12" fmla="*/ 260350 h 334963"/>
              <a:gd name="connsiteX13" fmla="*/ 160519 w 338138"/>
              <a:gd name="connsiteY13" fmla="*/ 246062 h 334963"/>
              <a:gd name="connsiteX14" fmla="*/ 71811 w 338138"/>
              <a:gd name="connsiteY14" fmla="*/ 246062 h 334963"/>
              <a:gd name="connsiteX15" fmla="*/ 90114 w 338138"/>
              <a:gd name="connsiteY15" fmla="*/ 246062 h 334963"/>
              <a:gd name="connsiteX16" fmla="*/ 103188 w 338138"/>
              <a:gd name="connsiteY16" fmla="*/ 260350 h 334963"/>
              <a:gd name="connsiteX17" fmla="*/ 90114 w 338138"/>
              <a:gd name="connsiteY17" fmla="*/ 274637 h 334963"/>
              <a:gd name="connsiteX18" fmla="*/ 71811 w 338138"/>
              <a:gd name="connsiteY18" fmla="*/ 274637 h 334963"/>
              <a:gd name="connsiteX19" fmla="*/ 58738 w 338138"/>
              <a:gd name="connsiteY19" fmla="*/ 260350 h 334963"/>
              <a:gd name="connsiteX20" fmla="*/ 71811 w 338138"/>
              <a:gd name="connsiteY20" fmla="*/ 246062 h 334963"/>
              <a:gd name="connsiteX21" fmla="*/ 248024 w 338138"/>
              <a:gd name="connsiteY21" fmla="*/ 185737 h 334963"/>
              <a:gd name="connsiteX22" fmla="*/ 266327 w 338138"/>
              <a:gd name="connsiteY22" fmla="*/ 185737 h 334963"/>
              <a:gd name="connsiteX23" fmla="*/ 279400 w 338138"/>
              <a:gd name="connsiteY23" fmla="*/ 200024 h 334963"/>
              <a:gd name="connsiteX24" fmla="*/ 266327 w 338138"/>
              <a:gd name="connsiteY24" fmla="*/ 214312 h 334963"/>
              <a:gd name="connsiteX25" fmla="*/ 248024 w 338138"/>
              <a:gd name="connsiteY25" fmla="*/ 214312 h 334963"/>
              <a:gd name="connsiteX26" fmla="*/ 234950 w 338138"/>
              <a:gd name="connsiteY26" fmla="*/ 200024 h 334963"/>
              <a:gd name="connsiteX27" fmla="*/ 248024 w 338138"/>
              <a:gd name="connsiteY27" fmla="*/ 185737 h 334963"/>
              <a:gd name="connsiteX28" fmla="*/ 160519 w 338138"/>
              <a:gd name="connsiteY28" fmla="*/ 185737 h 334963"/>
              <a:gd name="connsiteX29" fmla="*/ 177619 w 338138"/>
              <a:gd name="connsiteY29" fmla="*/ 185737 h 334963"/>
              <a:gd name="connsiteX30" fmla="*/ 192088 w 338138"/>
              <a:gd name="connsiteY30" fmla="*/ 200024 h 334963"/>
              <a:gd name="connsiteX31" fmla="*/ 177619 w 338138"/>
              <a:gd name="connsiteY31" fmla="*/ 214312 h 334963"/>
              <a:gd name="connsiteX32" fmla="*/ 160519 w 338138"/>
              <a:gd name="connsiteY32" fmla="*/ 214312 h 334963"/>
              <a:gd name="connsiteX33" fmla="*/ 146050 w 338138"/>
              <a:gd name="connsiteY33" fmla="*/ 200024 h 334963"/>
              <a:gd name="connsiteX34" fmla="*/ 160519 w 338138"/>
              <a:gd name="connsiteY34" fmla="*/ 185737 h 334963"/>
              <a:gd name="connsiteX35" fmla="*/ 71811 w 338138"/>
              <a:gd name="connsiteY35" fmla="*/ 185737 h 334963"/>
              <a:gd name="connsiteX36" fmla="*/ 90114 w 338138"/>
              <a:gd name="connsiteY36" fmla="*/ 185737 h 334963"/>
              <a:gd name="connsiteX37" fmla="*/ 103188 w 338138"/>
              <a:gd name="connsiteY37" fmla="*/ 200024 h 334963"/>
              <a:gd name="connsiteX38" fmla="*/ 90114 w 338138"/>
              <a:gd name="connsiteY38" fmla="*/ 214312 h 334963"/>
              <a:gd name="connsiteX39" fmla="*/ 71811 w 338138"/>
              <a:gd name="connsiteY39" fmla="*/ 214312 h 334963"/>
              <a:gd name="connsiteX40" fmla="*/ 58738 w 338138"/>
              <a:gd name="connsiteY40" fmla="*/ 200024 h 334963"/>
              <a:gd name="connsiteX41" fmla="*/ 71811 w 338138"/>
              <a:gd name="connsiteY41" fmla="*/ 185737 h 334963"/>
              <a:gd name="connsiteX42" fmla="*/ 248024 w 338138"/>
              <a:gd name="connsiteY42" fmla="*/ 125412 h 334963"/>
              <a:gd name="connsiteX43" fmla="*/ 266327 w 338138"/>
              <a:gd name="connsiteY43" fmla="*/ 125412 h 334963"/>
              <a:gd name="connsiteX44" fmla="*/ 279400 w 338138"/>
              <a:gd name="connsiteY44" fmla="*/ 139699 h 334963"/>
              <a:gd name="connsiteX45" fmla="*/ 266327 w 338138"/>
              <a:gd name="connsiteY45" fmla="*/ 153987 h 334963"/>
              <a:gd name="connsiteX46" fmla="*/ 248024 w 338138"/>
              <a:gd name="connsiteY46" fmla="*/ 153987 h 334963"/>
              <a:gd name="connsiteX47" fmla="*/ 234950 w 338138"/>
              <a:gd name="connsiteY47" fmla="*/ 139699 h 334963"/>
              <a:gd name="connsiteX48" fmla="*/ 248024 w 338138"/>
              <a:gd name="connsiteY48" fmla="*/ 125412 h 334963"/>
              <a:gd name="connsiteX49" fmla="*/ 160519 w 338138"/>
              <a:gd name="connsiteY49" fmla="*/ 125412 h 334963"/>
              <a:gd name="connsiteX50" fmla="*/ 177619 w 338138"/>
              <a:gd name="connsiteY50" fmla="*/ 125412 h 334963"/>
              <a:gd name="connsiteX51" fmla="*/ 192088 w 338138"/>
              <a:gd name="connsiteY51" fmla="*/ 139699 h 334963"/>
              <a:gd name="connsiteX52" fmla="*/ 177619 w 338138"/>
              <a:gd name="connsiteY52" fmla="*/ 153987 h 334963"/>
              <a:gd name="connsiteX53" fmla="*/ 160519 w 338138"/>
              <a:gd name="connsiteY53" fmla="*/ 153987 h 334963"/>
              <a:gd name="connsiteX54" fmla="*/ 146050 w 338138"/>
              <a:gd name="connsiteY54" fmla="*/ 139699 h 334963"/>
              <a:gd name="connsiteX55" fmla="*/ 160519 w 338138"/>
              <a:gd name="connsiteY55" fmla="*/ 125412 h 334963"/>
              <a:gd name="connsiteX56" fmla="*/ 71811 w 338138"/>
              <a:gd name="connsiteY56" fmla="*/ 125412 h 334963"/>
              <a:gd name="connsiteX57" fmla="*/ 90114 w 338138"/>
              <a:gd name="connsiteY57" fmla="*/ 125412 h 334963"/>
              <a:gd name="connsiteX58" fmla="*/ 103188 w 338138"/>
              <a:gd name="connsiteY58" fmla="*/ 139699 h 334963"/>
              <a:gd name="connsiteX59" fmla="*/ 90114 w 338138"/>
              <a:gd name="connsiteY59" fmla="*/ 153987 h 334963"/>
              <a:gd name="connsiteX60" fmla="*/ 71811 w 338138"/>
              <a:gd name="connsiteY60" fmla="*/ 153987 h 334963"/>
              <a:gd name="connsiteX61" fmla="*/ 58738 w 338138"/>
              <a:gd name="connsiteY61" fmla="*/ 139699 h 334963"/>
              <a:gd name="connsiteX62" fmla="*/ 71811 w 338138"/>
              <a:gd name="connsiteY62" fmla="*/ 125412 h 334963"/>
              <a:gd name="connsiteX63" fmla="*/ 51107 w 338138"/>
              <a:gd name="connsiteY63" fmla="*/ 52387 h 334963"/>
              <a:gd name="connsiteX64" fmla="*/ 28575 w 338138"/>
              <a:gd name="connsiteY64" fmla="*/ 73466 h 334963"/>
              <a:gd name="connsiteX65" fmla="*/ 28575 w 338138"/>
              <a:gd name="connsiteY65" fmla="*/ 285578 h 334963"/>
              <a:gd name="connsiteX66" fmla="*/ 51107 w 338138"/>
              <a:gd name="connsiteY66" fmla="*/ 307975 h 334963"/>
              <a:gd name="connsiteX67" fmla="*/ 287031 w 338138"/>
              <a:gd name="connsiteY67" fmla="*/ 307975 h 334963"/>
              <a:gd name="connsiteX68" fmla="*/ 309563 w 338138"/>
              <a:gd name="connsiteY68" fmla="*/ 285578 h 334963"/>
              <a:gd name="connsiteX69" fmla="*/ 309563 w 338138"/>
              <a:gd name="connsiteY69" fmla="*/ 74784 h 334963"/>
              <a:gd name="connsiteX70" fmla="*/ 287031 w 338138"/>
              <a:gd name="connsiteY70" fmla="*/ 52387 h 334963"/>
              <a:gd name="connsiteX71" fmla="*/ 264499 w 338138"/>
              <a:gd name="connsiteY71" fmla="*/ 52387 h 334963"/>
              <a:gd name="connsiteX72" fmla="*/ 264499 w 338138"/>
              <a:gd name="connsiteY72" fmla="*/ 61609 h 334963"/>
              <a:gd name="connsiteX73" fmla="*/ 249919 w 338138"/>
              <a:gd name="connsiteY73" fmla="*/ 74784 h 334963"/>
              <a:gd name="connsiteX74" fmla="*/ 235340 w 338138"/>
              <a:gd name="connsiteY74" fmla="*/ 61609 h 334963"/>
              <a:gd name="connsiteX75" fmla="*/ 235340 w 338138"/>
              <a:gd name="connsiteY75" fmla="*/ 52387 h 334963"/>
              <a:gd name="connsiteX76" fmla="*/ 101473 w 338138"/>
              <a:gd name="connsiteY76" fmla="*/ 52387 h 334963"/>
              <a:gd name="connsiteX77" fmla="*/ 101473 w 338138"/>
              <a:gd name="connsiteY77" fmla="*/ 61609 h 334963"/>
              <a:gd name="connsiteX78" fmla="*/ 86893 w 338138"/>
              <a:gd name="connsiteY78" fmla="*/ 74784 h 334963"/>
              <a:gd name="connsiteX79" fmla="*/ 73639 w 338138"/>
              <a:gd name="connsiteY79" fmla="*/ 61609 h 334963"/>
              <a:gd name="connsiteX80" fmla="*/ 73639 w 338138"/>
              <a:gd name="connsiteY80" fmla="*/ 52387 h 334963"/>
              <a:gd name="connsiteX81" fmla="*/ 51107 w 338138"/>
              <a:gd name="connsiteY81" fmla="*/ 52387 h 334963"/>
              <a:gd name="connsiteX82" fmla="*/ 87176 w 338138"/>
              <a:gd name="connsiteY82" fmla="*/ 0 h 334963"/>
              <a:gd name="connsiteX83" fmla="*/ 101706 w 338138"/>
              <a:gd name="connsiteY83" fmla="*/ 14449 h 334963"/>
              <a:gd name="connsiteX84" fmla="*/ 101706 w 338138"/>
              <a:gd name="connsiteY84" fmla="*/ 23644 h 334963"/>
              <a:gd name="connsiteX85" fmla="*/ 235112 w 338138"/>
              <a:gd name="connsiteY85" fmla="*/ 23644 h 334963"/>
              <a:gd name="connsiteX86" fmla="*/ 235112 w 338138"/>
              <a:gd name="connsiteY86" fmla="*/ 14449 h 334963"/>
              <a:gd name="connsiteX87" fmla="*/ 249641 w 338138"/>
              <a:gd name="connsiteY87" fmla="*/ 0 h 334963"/>
              <a:gd name="connsiteX88" fmla="*/ 264170 w 338138"/>
              <a:gd name="connsiteY88" fmla="*/ 14449 h 334963"/>
              <a:gd name="connsiteX89" fmla="*/ 264170 w 338138"/>
              <a:gd name="connsiteY89" fmla="*/ 23644 h 334963"/>
              <a:gd name="connsiteX90" fmla="*/ 286625 w 338138"/>
              <a:gd name="connsiteY90" fmla="*/ 23644 h 334963"/>
              <a:gd name="connsiteX91" fmla="*/ 338138 w 338138"/>
              <a:gd name="connsiteY91" fmla="*/ 74874 h 334963"/>
              <a:gd name="connsiteX92" fmla="*/ 338138 w 338138"/>
              <a:gd name="connsiteY92" fmla="*/ 285047 h 334963"/>
              <a:gd name="connsiteX93" fmla="*/ 286625 w 338138"/>
              <a:gd name="connsiteY93" fmla="*/ 334963 h 334963"/>
              <a:gd name="connsiteX94" fmla="*/ 51513 w 338138"/>
              <a:gd name="connsiteY94" fmla="*/ 334963 h 334963"/>
              <a:gd name="connsiteX95" fmla="*/ 0 w 338138"/>
              <a:gd name="connsiteY95" fmla="*/ 285047 h 334963"/>
              <a:gd name="connsiteX96" fmla="*/ 0 w 338138"/>
              <a:gd name="connsiteY96" fmla="*/ 74874 h 334963"/>
              <a:gd name="connsiteX97" fmla="*/ 51513 w 338138"/>
              <a:gd name="connsiteY97" fmla="*/ 23644 h 334963"/>
              <a:gd name="connsiteX98" fmla="*/ 73968 w 338138"/>
              <a:gd name="connsiteY98" fmla="*/ 23644 h 334963"/>
              <a:gd name="connsiteX99" fmla="*/ 73968 w 338138"/>
              <a:gd name="connsiteY99" fmla="*/ 14449 h 334963"/>
              <a:gd name="connsiteX100" fmla="*/ 87176 w 338138"/>
              <a:gd name="connsiteY100" fmla="*/ 0 h 334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38138" h="334963">
                <a:moveTo>
                  <a:pt x="248024" y="246062"/>
                </a:moveTo>
                <a:cubicBezTo>
                  <a:pt x="248024" y="246062"/>
                  <a:pt x="248024" y="246062"/>
                  <a:pt x="266327" y="246062"/>
                </a:cubicBezTo>
                <a:cubicBezTo>
                  <a:pt x="272863" y="246062"/>
                  <a:pt x="279400" y="252557"/>
                  <a:pt x="279400" y="260350"/>
                </a:cubicBezTo>
                <a:cubicBezTo>
                  <a:pt x="279400" y="268143"/>
                  <a:pt x="272863" y="274637"/>
                  <a:pt x="266327" y="274637"/>
                </a:cubicBezTo>
                <a:cubicBezTo>
                  <a:pt x="266327" y="274637"/>
                  <a:pt x="266327" y="274637"/>
                  <a:pt x="248024" y="274637"/>
                </a:cubicBezTo>
                <a:cubicBezTo>
                  <a:pt x="241487" y="274637"/>
                  <a:pt x="234950" y="268143"/>
                  <a:pt x="234950" y="260350"/>
                </a:cubicBezTo>
                <a:cubicBezTo>
                  <a:pt x="234950" y="252557"/>
                  <a:pt x="241487" y="246062"/>
                  <a:pt x="248024" y="246062"/>
                </a:cubicBezTo>
                <a:close/>
                <a:moveTo>
                  <a:pt x="160519" y="246062"/>
                </a:moveTo>
                <a:cubicBezTo>
                  <a:pt x="160519" y="246062"/>
                  <a:pt x="160519" y="246062"/>
                  <a:pt x="177619" y="246062"/>
                </a:cubicBezTo>
                <a:cubicBezTo>
                  <a:pt x="185511" y="246062"/>
                  <a:pt x="192088" y="252557"/>
                  <a:pt x="192088" y="260350"/>
                </a:cubicBezTo>
                <a:cubicBezTo>
                  <a:pt x="192088" y="268143"/>
                  <a:pt x="185511" y="274637"/>
                  <a:pt x="177619" y="274637"/>
                </a:cubicBezTo>
                <a:cubicBezTo>
                  <a:pt x="177619" y="274637"/>
                  <a:pt x="177619" y="274637"/>
                  <a:pt x="160519" y="274637"/>
                </a:cubicBezTo>
                <a:cubicBezTo>
                  <a:pt x="152627" y="274637"/>
                  <a:pt x="146050" y="268143"/>
                  <a:pt x="146050" y="260350"/>
                </a:cubicBezTo>
                <a:cubicBezTo>
                  <a:pt x="146050" y="252557"/>
                  <a:pt x="152627" y="246062"/>
                  <a:pt x="160519" y="246062"/>
                </a:cubicBezTo>
                <a:close/>
                <a:moveTo>
                  <a:pt x="71811" y="246062"/>
                </a:moveTo>
                <a:cubicBezTo>
                  <a:pt x="71811" y="246062"/>
                  <a:pt x="71811" y="246062"/>
                  <a:pt x="90114" y="246062"/>
                </a:cubicBezTo>
                <a:cubicBezTo>
                  <a:pt x="96651" y="246062"/>
                  <a:pt x="103188" y="252557"/>
                  <a:pt x="103188" y="260350"/>
                </a:cubicBezTo>
                <a:cubicBezTo>
                  <a:pt x="103188" y="268143"/>
                  <a:pt x="96651" y="274637"/>
                  <a:pt x="90114" y="274637"/>
                </a:cubicBezTo>
                <a:cubicBezTo>
                  <a:pt x="90114" y="274637"/>
                  <a:pt x="90114" y="274637"/>
                  <a:pt x="71811" y="274637"/>
                </a:cubicBezTo>
                <a:cubicBezTo>
                  <a:pt x="65275" y="274637"/>
                  <a:pt x="58738" y="268143"/>
                  <a:pt x="58738" y="260350"/>
                </a:cubicBezTo>
                <a:cubicBezTo>
                  <a:pt x="58738" y="252557"/>
                  <a:pt x="65275" y="246062"/>
                  <a:pt x="71811" y="246062"/>
                </a:cubicBezTo>
                <a:close/>
                <a:moveTo>
                  <a:pt x="248024" y="185737"/>
                </a:moveTo>
                <a:cubicBezTo>
                  <a:pt x="248024" y="185737"/>
                  <a:pt x="248024" y="185737"/>
                  <a:pt x="266327" y="185737"/>
                </a:cubicBezTo>
                <a:cubicBezTo>
                  <a:pt x="272863" y="185737"/>
                  <a:pt x="279400" y="192231"/>
                  <a:pt x="279400" y="200024"/>
                </a:cubicBezTo>
                <a:cubicBezTo>
                  <a:pt x="279400" y="209116"/>
                  <a:pt x="272863" y="214312"/>
                  <a:pt x="266327" y="214312"/>
                </a:cubicBezTo>
                <a:cubicBezTo>
                  <a:pt x="266327" y="214312"/>
                  <a:pt x="266327" y="214312"/>
                  <a:pt x="248024" y="214312"/>
                </a:cubicBezTo>
                <a:cubicBezTo>
                  <a:pt x="241487" y="214312"/>
                  <a:pt x="234950" y="207817"/>
                  <a:pt x="234950" y="200024"/>
                </a:cubicBezTo>
                <a:cubicBezTo>
                  <a:pt x="234950" y="192231"/>
                  <a:pt x="241487" y="185737"/>
                  <a:pt x="248024" y="185737"/>
                </a:cubicBezTo>
                <a:close/>
                <a:moveTo>
                  <a:pt x="160519" y="185737"/>
                </a:moveTo>
                <a:cubicBezTo>
                  <a:pt x="160519" y="185737"/>
                  <a:pt x="160519" y="185737"/>
                  <a:pt x="177619" y="185737"/>
                </a:cubicBezTo>
                <a:cubicBezTo>
                  <a:pt x="185511" y="185737"/>
                  <a:pt x="192088" y="192231"/>
                  <a:pt x="192088" y="200024"/>
                </a:cubicBezTo>
                <a:cubicBezTo>
                  <a:pt x="192088" y="209116"/>
                  <a:pt x="185511" y="214312"/>
                  <a:pt x="177619" y="214312"/>
                </a:cubicBezTo>
                <a:cubicBezTo>
                  <a:pt x="177619" y="214312"/>
                  <a:pt x="177619" y="214312"/>
                  <a:pt x="160519" y="214312"/>
                </a:cubicBezTo>
                <a:cubicBezTo>
                  <a:pt x="152627" y="214312"/>
                  <a:pt x="146050" y="207817"/>
                  <a:pt x="146050" y="200024"/>
                </a:cubicBezTo>
                <a:cubicBezTo>
                  <a:pt x="146050" y="192231"/>
                  <a:pt x="152627" y="185737"/>
                  <a:pt x="160519" y="185737"/>
                </a:cubicBezTo>
                <a:close/>
                <a:moveTo>
                  <a:pt x="71811" y="185737"/>
                </a:moveTo>
                <a:cubicBezTo>
                  <a:pt x="71811" y="185737"/>
                  <a:pt x="71811" y="185737"/>
                  <a:pt x="90114" y="185737"/>
                </a:cubicBezTo>
                <a:cubicBezTo>
                  <a:pt x="96651" y="185737"/>
                  <a:pt x="103188" y="192231"/>
                  <a:pt x="103188" y="200024"/>
                </a:cubicBezTo>
                <a:cubicBezTo>
                  <a:pt x="103188" y="209116"/>
                  <a:pt x="96651" y="214312"/>
                  <a:pt x="90114" y="214312"/>
                </a:cubicBezTo>
                <a:cubicBezTo>
                  <a:pt x="90114" y="214312"/>
                  <a:pt x="90114" y="214312"/>
                  <a:pt x="71811" y="214312"/>
                </a:cubicBezTo>
                <a:cubicBezTo>
                  <a:pt x="65275" y="214312"/>
                  <a:pt x="58738" y="207817"/>
                  <a:pt x="58738" y="200024"/>
                </a:cubicBezTo>
                <a:cubicBezTo>
                  <a:pt x="58738" y="192231"/>
                  <a:pt x="65275" y="185737"/>
                  <a:pt x="71811" y="185737"/>
                </a:cubicBezTo>
                <a:close/>
                <a:moveTo>
                  <a:pt x="248024" y="125412"/>
                </a:moveTo>
                <a:cubicBezTo>
                  <a:pt x="248024" y="125412"/>
                  <a:pt x="248024" y="125412"/>
                  <a:pt x="266327" y="125412"/>
                </a:cubicBezTo>
                <a:cubicBezTo>
                  <a:pt x="272863" y="125412"/>
                  <a:pt x="279400" y="131906"/>
                  <a:pt x="279400" y="139699"/>
                </a:cubicBezTo>
                <a:cubicBezTo>
                  <a:pt x="279400" y="147492"/>
                  <a:pt x="272863" y="153987"/>
                  <a:pt x="266327" y="153987"/>
                </a:cubicBezTo>
                <a:cubicBezTo>
                  <a:pt x="266327" y="153987"/>
                  <a:pt x="266327" y="153987"/>
                  <a:pt x="248024" y="153987"/>
                </a:cubicBezTo>
                <a:cubicBezTo>
                  <a:pt x="241487" y="153987"/>
                  <a:pt x="234950" y="147492"/>
                  <a:pt x="234950" y="139699"/>
                </a:cubicBezTo>
                <a:cubicBezTo>
                  <a:pt x="234950" y="131906"/>
                  <a:pt x="241487" y="125412"/>
                  <a:pt x="248024" y="125412"/>
                </a:cubicBezTo>
                <a:close/>
                <a:moveTo>
                  <a:pt x="160519" y="125412"/>
                </a:moveTo>
                <a:cubicBezTo>
                  <a:pt x="160519" y="125412"/>
                  <a:pt x="160519" y="125412"/>
                  <a:pt x="177619" y="125412"/>
                </a:cubicBezTo>
                <a:cubicBezTo>
                  <a:pt x="185511" y="125412"/>
                  <a:pt x="192088" y="131906"/>
                  <a:pt x="192088" y="139699"/>
                </a:cubicBezTo>
                <a:cubicBezTo>
                  <a:pt x="192088" y="147492"/>
                  <a:pt x="185511" y="153987"/>
                  <a:pt x="177619" y="153987"/>
                </a:cubicBezTo>
                <a:cubicBezTo>
                  <a:pt x="177619" y="153987"/>
                  <a:pt x="177619" y="153987"/>
                  <a:pt x="160519" y="153987"/>
                </a:cubicBezTo>
                <a:cubicBezTo>
                  <a:pt x="152627" y="153987"/>
                  <a:pt x="146050" y="147492"/>
                  <a:pt x="146050" y="139699"/>
                </a:cubicBezTo>
                <a:cubicBezTo>
                  <a:pt x="146050" y="131906"/>
                  <a:pt x="152627" y="125412"/>
                  <a:pt x="160519" y="125412"/>
                </a:cubicBezTo>
                <a:close/>
                <a:moveTo>
                  <a:pt x="71811" y="125412"/>
                </a:moveTo>
                <a:cubicBezTo>
                  <a:pt x="71811" y="125412"/>
                  <a:pt x="71811" y="125412"/>
                  <a:pt x="90114" y="125412"/>
                </a:cubicBezTo>
                <a:cubicBezTo>
                  <a:pt x="96651" y="125412"/>
                  <a:pt x="103188" y="131906"/>
                  <a:pt x="103188" y="139699"/>
                </a:cubicBezTo>
                <a:cubicBezTo>
                  <a:pt x="103188" y="147492"/>
                  <a:pt x="96651" y="153987"/>
                  <a:pt x="90114" y="153987"/>
                </a:cubicBezTo>
                <a:cubicBezTo>
                  <a:pt x="90114" y="153987"/>
                  <a:pt x="90114" y="153987"/>
                  <a:pt x="71811" y="153987"/>
                </a:cubicBezTo>
                <a:cubicBezTo>
                  <a:pt x="65275" y="153987"/>
                  <a:pt x="58738" y="147492"/>
                  <a:pt x="58738" y="139699"/>
                </a:cubicBezTo>
                <a:cubicBezTo>
                  <a:pt x="58738" y="131906"/>
                  <a:pt x="65275" y="125412"/>
                  <a:pt x="71811" y="125412"/>
                </a:cubicBezTo>
                <a:close/>
                <a:moveTo>
                  <a:pt x="51107" y="52387"/>
                </a:moveTo>
                <a:cubicBezTo>
                  <a:pt x="39178" y="52387"/>
                  <a:pt x="28575" y="61609"/>
                  <a:pt x="28575" y="73466"/>
                </a:cubicBezTo>
                <a:cubicBezTo>
                  <a:pt x="28575" y="73466"/>
                  <a:pt x="28575" y="73466"/>
                  <a:pt x="28575" y="285578"/>
                </a:cubicBezTo>
                <a:cubicBezTo>
                  <a:pt x="28575" y="297436"/>
                  <a:pt x="39178" y="307975"/>
                  <a:pt x="51107" y="307975"/>
                </a:cubicBezTo>
                <a:cubicBezTo>
                  <a:pt x="51107" y="307975"/>
                  <a:pt x="51107" y="307975"/>
                  <a:pt x="287031" y="307975"/>
                </a:cubicBezTo>
                <a:cubicBezTo>
                  <a:pt x="298960" y="307975"/>
                  <a:pt x="309563" y="297436"/>
                  <a:pt x="309563" y="285578"/>
                </a:cubicBezTo>
                <a:cubicBezTo>
                  <a:pt x="309563" y="285578"/>
                  <a:pt x="309563" y="285578"/>
                  <a:pt x="309563" y="74784"/>
                </a:cubicBezTo>
                <a:cubicBezTo>
                  <a:pt x="309563" y="62926"/>
                  <a:pt x="298960" y="52387"/>
                  <a:pt x="287031" y="52387"/>
                </a:cubicBezTo>
                <a:cubicBezTo>
                  <a:pt x="287031" y="52387"/>
                  <a:pt x="287031" y="52387"/>
                  <a:pt x="264499" y="52387"/>
                </a:cubicBezTo>
                <a:cubicBezTo>
                  <a:pt x="264499" y="52387"/>
                  <a:pt x="264499" y="52387"/>
                  <a:pt x="264499" y="61609"/>
                </a:cubicBezTo>
                <a:cubicBezTo>
                  <a:pt x="263174" y="69514"/>
                  <a:pt x="256546" y="74784"/>
                  <a:pt x="249919" y="74784"/>
                </a:cubicBezTo>
                <a:cubicBezTo>
                  <a:pt x="241967" y="74784"/>
                  <a:pt x="235340" y="69514"/>
                  <a:pt x="235340" y="61609"/>
                </a:cubicBezTo>
                <a:cubicBezTo>
                  <a:pt x="235340" y="61609"/>
                  <a:pt x="235340" y="61609"/>
                  <a:pt x="235340" y="52387"/>
                </a:cubicBezTo>
                <a:cubicBezTo>
                  <a:pt x="235340" y="52387"/>
                  <a:pt x="235340" y="52387"/>
                  <a:pt x="101473" y="52387"/>
                </a:cubicBezTo>
                <a:cubicBezTo>
                  <a:pt x="101473" y="52387"/>
                  <a:pt x="101473" y="52387"/>
                  <a:pt x="101473" y="61609"/>
                </a:cubicBezTo>
                <a:cubicBezTo>
                  <a:pt x="101473" y="69514"/>
                  <a:pt x="94846" y="74784"/>
                  <a:pt x="86893" y="74784"/>
                </a:cubicBezTo>
                <a:cubicBezTo>
                  <a:pt x="80266" y="74784"/>
                  <a:pt x="73639" y="68196"/>
                  <a:pt x="73639" y="61609"/>
                </a:cubicBezTo>
                <a:cubicBezTo>
                  <a:pt x="73639" y="61609"/>
                  <a:pt x="73639" y="61609"/>
                  <a:pt x="73639" y="52387"/>
                </a:cubicBezTo>
                <a:cubicBezTo>
                  <a:pt x="73639" y="52387"/>
                  <a:pt x="73639" y="52387"/>
                  <a:pt x="51107" y="52387"/>
                </a:cubicBezTo>
                <a:close/>
                <a:moveTo>
                  <a:pt x="87176" y="0"/>
                </a:moveTo>
                <a:cubicBezTo>
                  <a:pt x="95101" y="0"/>
                  <a:pt x="101706" y="6568"/>
                  <a:pt x="101706" y="14449"/>
                </a:cubicBezTo>
                <a:cubicBezTo>
                  <a:pt x="101706" y="14449"/>
                  <a:pt x="101706" y="14449"/>
                  <a:pt x="101706" y="23644"/>
                </a:cubicBezTo>
                <a:cubicBezTo>
                  <a:pt x="101706" y="23644"/>
                  <a:pt x="101706" y="23644"/>
                  <a:pt x="235112" y="23644"/>
                </a:cubicBezTo>
                <a:cubicBezTo>
                  <a:pt x="235112" y="23644"/>
                  <a:pt x="235112" y="23644"/>
                  <a:pt x="235112" y="14449"/>
                </a:cubicBezTo>
                <a:cubicBezTo>
                  <a:pt x="235112" y="6568"/>
                  <a:pt x="241716" y="0"/>
                  <a:pt x="249641" y="0"/>
                </a:cubicBezTo>
                <a:cubicBezTo>
                  <a:pt x="257566" y="0"/>
                  <a:pt x="264170" y="6568"/>
                  <a:pt x="264170" y="14449"/>
                </a:cubicBezTo>
                <a:cubicBezTo>
                  <a:pt x="264170" y="14449"/>
                  <a:pt x="264170" y="14449"/>
                  <a:pt x="264170" y="23644"/>
                </a:cubicBezTo>
                <a:cubicBezTo>
                  <a:pt x="264170" y="23644"/>
                  <a:pt x="264170" y="23644"/>
                  <a:pt x="286625" y="23644"/>
                </a:cubicBezTo>
                <a:cubicBezTo>
                  <a:pt x="314363" y="23644"/>
                  <a:pt x="338138" y="47289"/>
                  <a:pt x="338138" y="74874"/>
                </a:cubicBezTo>
                <a:cubicBezTo>
                  <a:pt x="338138" y="74874"/>
                  <a:pt x="338138" y="74874"/>
                  <a:pt x="338138" y="285047"/>
                </a:cubicBezTo>
                <a:cubicBezTo>
                  <a:pt x="336817" y="312632"/>
                  <a:pt x="314363" y="334963"/>
                  <a:pt x="286625" y="334963"/>
                </a:cubicBezTo>
                <a:cubicBezTo>
                  <a:pt x="286625" y="334963"/>
                  <a:pt x="286625" y="334963"/>
                  <a:pt x="51513" y="334963"/>
                </a:cubicBezTo>
                <a:cubicBezTo>
                  <a:pt x="23775" y="334963"/>
                  <a:pt x="0" y="312632"/>
                  <a:pt x="0" y="285047"/>
                </a:cubicBezTo>
                <a:cubicBezTo>
                  <a:pt x="0" y="285047"/>
                  <a:pt x="0" y="285047"/>
                  <a:pt x="0" y="74874"/>
                </a:cubicBezTo>
                <a:cubicBezTo>
                  <a:pt x="0" y="47289"/>
                  <a:pt x="23775" y="23644"/>
                  <a:pt x="51513" y="23644"/>
                </a:cubicBezTo>
                <a:cubicBezTo>
                  <a:pt x="51513" y="23644"/>
                  <a:pt x="51513" y="23644"/>
                  <a:pt x="73968" y="23644"/>
                </a:cubicBezTo>
                <a:cubicBezTo>
                  <a:pt x="73968" y="23644"/>
                  <a:pt x="73968" y="23644"/>
                  <a:pt x="73968" y="14449"/>
                </a:cubicBezTo>
                <a:cubicBezTo>
                  <a:pt x="73968" y="6568"/>
                  <a:pt x="79251" y="0"/>
                  <a:pt x="87176" y="0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9468" y="5098088"/>
            <a:ext cx="2548106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600">
                <a:solidFill>
                  <a:srgbClr val="2A2A2A"/>
                </a:solidFill>
                <a:latin typeface="方正正粗黑简体"/>
              </a:rPr>
              <a:t>指导教师：于强</a:t>
            </a:r>
            <a:r>
              <a:rPr lang="zh-CN" sz="1600">
                <a:solidFill>
                  <a:srgbClr val="2A2A2A"/>
                </a:solidFill>
                <a:latin typeface="方正正粗黑简体"/>
              </a:rPr>
              <a:t>教授</a:t>
            </a:r>
            <a:endParaRPr lang="zh-CN" sz="1600">
              <a:solidFill>
                <a:srgbClr val="2A2A2A"/>
              </a:solidFill>
              <a:latin typeface="方正正粗黑简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472" y="535252"/>
            <a:ext cx="1528713" cy="15312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777740" y="3599942"/>
            <a:ext cx="28803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528A"/>
                </a:solidFill>
                <a:latin typeface="微软雅黑" panose="020B0503020204020204" pitchFamily="34" charset="-122"/>
              </a:rPr>
              <a:t>本科毕业论文答辩</a:t>
            </a:r>
            <a:endParaRPr sz="1400" b="1">
              <a:solidFill>
                <a:srgbClr val="00528A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663313" y="5737098"/>
            <a:ext cx="3108960" cy="3003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26C76"/>
                </a:solidFill>
                <a:latin typeface="微软雅黑" panose="020B0503020204020204" pitchFamily="34" charset="-122"/>
              </a:rPr>
              <a:t>天津大学    2026 年 5 月</a:t>
            </a:r>
            <a:endParaRPr sz="1600" b="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74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74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74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74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74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274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774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274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c-refresh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094798"/>
            <a:ext cx="8255000" cy="3067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研究背景、问题提出</a:t>
            </a:r>
            <a:endParaRPr lang="zh-CN" sz="1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sz="3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34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01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881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ch1_bg_diagram_background"/>
          <p:cNvSpPr/>
          <p:nvPr/>
        </p:nvSpPr>
        <p:spPr>
          <a:xfrm>
            <a:off x="1092200" y="1295400"/>
            <a:ext cx="10591800" cy="4381500"/>
          </a:xfrm>
          <a:prstGeom prst="rect">
            <a:avLst/>
          </a:prstGeom>
          <a:solidFill>
            <a:srgbClr val="ECF6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ch1_bg_diagram_box"/>
          <p:cNvSpPr/>
          <p:nvPr/>
        </p:nvSpPr>
        <p:spPr>
          <a:xfrm>
            <a:off x="1422400" y="2108200"/>
            <a:ext cx="2794000" cy="215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5C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ch1_bg_diagram_title"/>
          <p:cNvSpPr txBox="1"/>
          <p:nvPr/>
        </p:nvSpPr>
        <p:spPr>
          <a:xfrm>
            <a:off x="1651000" y="2413000"/>
            <a:ext cx="23368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b="1">
                <a:solidFill>
                  <a:srgbClr val="005C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连续控制任务</a:t>
            </a:r>
            <a:endParaRPr lang="zh-CN" altLang="en-US" b="1">
              <a:solidFill>
                <a:srgbClr val="005C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h1_bg_diagram_body"/>
          <p:cNvSpPr txBox="1"/>
          <p:nvPr/>
        </p:nvSpPr>
        <p:spPr>
          <a:xfrm>
            <a:off x="1651000" y="3048000"/>
            <a:ext cx="2336800" cy="6616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100"/>
              </a:spcAft>
            </a:pP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机器人与仿真运动控制中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状态、动作均为连续变量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actor </a:t>
            </a: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需输出稳定实值动作</a:t>
            </a:r>
            <a:endParaRPr lang="zh-CN" altLang="en-US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ch1_bg_diagram_box"/>
          <p:cNvSpPr/>
          <p:nvPr/>
        </p:nvSpPr>
        <p:spPr>
          <a:xfrm>
            <a:off x="4699000" y="2108200"/>
            <a:ext cx="2794000" cy="215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5C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ch1_bg_diagram_title"/>
          <p:cNvSpPr txBox="1"/>
          <p:nvPr/>
        </p:nvSpPr>
        <p:spPr>
          <a:xfrm>
            <a:off x="4927600" y="2413000"/>
            <a:ext cx="23368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b="1">
                <a:solidFill>
                  <a:srgbClr val="005C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SNN Actor</a:t>
            </a:r>
            <a:endParaRPr lang="en-US" altLang="en-US" b="1">
              <a:solidFill>
                <a:srgbClr val="005C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ch1_bg_diagram_body"/>
          <p:cNvSpPr txBox="1"/>
          <p:nvPr/>
        </p:nvSpPr>
        <p:spPr>
          <a:xfrm>
            <a:off x="4927600" y="3048000"/>
            <a:ext cx="2336800" cy="85852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100"/>
              </a:spcAft>
            </a:pP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事件驱动脉冲计算具备低功耗潜力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但离散脉冲使连续动作读出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和梯度传播更加困难</a:t>
            </a:r>
            <a:endParaRPr lang="zh-CN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h1_bg_diagram_box"/>
          <p:cNvSpPr/>
          <p:nvPr/>
        </p:nvSpPr>
        <p:spPr>
          <a:xfrm>
            <a:off x="7975600" y="2108200"/>
            <a:ext cx="2794000" cy="215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5C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ch1_bg_diagram_title"/>
          <p:cNvSpPr txBox="1"/>
          <p:nvPr/>
        </p:nvSpPr>
        <p:spPr>
          <a:xfrm>
            <a:off x="8204200" y="2413000"/>
            <a:ext cx="23368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b="1">
                <a:solidFill>
                  <a:srgbClr val="005C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Proxy Target</a:t>
            </a:r>
            <a:endParaRPr lang="en-US" altLang="en-US" b="1">
              <a:solidFill>
                <a:srgbClr val="005C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ch1_bg_diagram_body"/>
          <p:cNvSpPr txBox="1"/>
          <p:nvPr/>
        </p:nvSpPr>
        <p:spPr>
          <a:xfrm>
            <a:off x="8204200" y="3048000"/>
            <a:ext cx="2336800" cy="85852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100"/>
              </a:spcAft>
            </a:pP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用连续可微代理目标拟合</a:t>
            </a: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SNN actor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TD3 </a:t>
            </a: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提供更平滑目标动作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部署阶段仍保留脉冲</a:t>
            </a: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actor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3" name="ch1_bg_diagram_arrow"/>
          <p:cNvCxnSpPr/>
          <p:nvPr/>
        </p:nvCxnSpPr>
        <p:spPr>
          <a:xfrm>
            <a:off x="4318000" y="3175000"/>
            <a:ext cx="304800" cy="0"/>
          </a:xfrm>
          <a:prstGeom prst="line">
            <a:avLst/>
          </a:prstGeom>
          <a:ln w="38100">
            <a:solidFill>
              <a:srgbClr val="005CA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ch1_bg_diagram_arrow"/>
          <p:cNvCxnSpPr/>
          <p:nvPr/>
        </p:nvCxnSpPr>
        <p:spPr>
          <a:xfrm>
            <a:off x="7594600" y="3175000"/>
            <a:ext cx="304800" cy="0"/>
          </a:xfrm>
          <a:prstGeom prst="line">
            <a:avLst/>
          </a:prstGeom>
          <a:ln w="38100">
            <a:solidFill>
              <a:srgbClr val="005CA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01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881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codex_slide5_lif_block"/>
          <p:cNvSpPr/>
          <p:nvPr/>
        </p:nvSpPr>
        <p:spPr>
          <a:xfrm>
            <a:off x="1498600" y="1701800"/>
            <a:ext cx="3708400" cy="1346200"/>
          </a:xfrm>
          <a:prstGeom prst="roundRect">
            <a:avLst/>
          </a:prstGeom>
          <a:solidFill>
            <a:srgbClr val="EEF5FC"/>
          </a:solidFill>
          <a:ln w="15240">
            <a:solidFill>
              <a:srgbClr val="BFD4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codex_slide5_text"/>
          <p:cNvSpPr txBox="1"/>
          <p:nvPr/>
        </p:nvSpPr>
        <p:spPr>
          <a:xfrm>
            <a:off x="1765300" y="1917700"/>
            <a:ext cx="3111500" cy="31940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en-US" altLang="en-US" sz="17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</a:t>
            </a:r>
            <a:r>
              <a:rPr lang="zh-CN" altLang="en-US" sz="17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：固定时间尺度</a:t>
            </a:r>
            <a:endParaRPr lang="zh-CN" altLang="en-US" sz="1700" b="1">
              <a:solidFill>
                <a:srgbClr val="006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codex_slide5_text"/>
          <p:cNvSpPr txBox="1"/>
          <p:nvPr/>
        </p:nvSpPr>
        <p:spPr>
          <a:xfrm>
            <a:off x="1828800" y="2336800"/>
            <a:ext cx="2997200" cy="42735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zh-CN" altLang="en-US" sz="1200">
                <a:solidFill>
                  <a:srgbClr val="5363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各层使用固定保留系数，结构简单、可解释，但难以适应不同层和任务的记忆长度。</a:t>
            </a:r>
            <a:endParaRPr lang="zh-CN" altLang="en-US" sz="1200">
              <a:solidFill>
                <a:srgbClr val="5363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dex_slide5_arrow"/>
          <p:cNvSpPr/>
          <p:nvPr/>
        </p:nvSpPr>
        <p:spPr>
          <a:xfrm>
            <a:off x="5461000" y="2146300"/>
            <a:ext cx="914400" cy="482600"/>
          </a:xfrm>
          <a:prstGeom prst="rightArrow">
            <a:avLst/>
          </a:prstGeom>
          <a:solidFill>
            <a:srgbClr val="0060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codex_slide5_plif_block"/>
          <p:cNvSpPr/>
          <p:nvPr/>
        </p:nvSpPr>
        <p:spPr>
          <a:xfrm>
            <a:off x="6629400" y="1701800"/>
            <a:ext cx="3708400" cy="1346200"/>
          </a:xfrm>
          <a:prstGeom prst="roundRect">
            <a:avLst/>
          </a:prstGeom>
          <a:solidFill>
            <a:srgbClr val="F6FAF7"/>
          </a:solidFill>
          <a:ln w="15240">
            <a:solidFill>
              <a:srgbClr val="BFDE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codex_slide5_text"/>
          <p:cNvSpPr txBox="1"/>
          <p:nvPr/>
        </p:nvSpPr>
        <p:spPr>
          <a:xfrm>
            <a:off x="6896100" y="1917700"/>
            <a:ext cx="3111500" cy="31940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en-US" altLang="en-US" sz="1700" b="1">
                <a:solidFill>
                  <a:srgbClr val="1987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</a:t>
            </a:r>
            <a:r>
              <a:rPr lang="zh-CN" altLang="en-US" sz="1700" b="1">
                <a:solidFill>
                  <a:srgbClr val="1987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：可学习时间尺度</a:t>
            </a:r>
            <a:endParaRPr lang="zh-CN" altLang="en-US" sz="1700" b="1">
              <a:solidFill>
                <a:srgbClr val="1987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codex_slide5_text"/>
          <p:cNvSpPr txBox="1"/>
          <p:nvPr/>
        </p:nvSpPr>
        <p:spPr>
          <a:xfrm>
            <a:off x="6959600" y="2336800"/>
            <a:ext cx="2997200" cy="42735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zh-CN" altLang="en-US" sz="1200">
                <a:solidFill>
                  <a:srgbClr val="5363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将膜电位保留能力设为可学习参数，为连续控制中的层间自适应提供可能。</a:t>
            </a:r>
            <a:endParaRPr lang="zh-CN" altLang="en-US" sz="1200">
              <a:solidFill>
                <a:srgbClr val="5363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odex_slide5_text"/>
          <p:cNvSpPr txBox="1"/>
          <p:nvPr/>
        </p:nvSpPr>
        <p:spPr>
          <a:xfrm>
            <a:off x="1498600" y="3429000"/>
            <a:ext cx="27940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本文进一步回答三个问题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codex_slide5_rule"/>
          <p:cNvSpPr/>
          <p:nvPr/>
        </p:nvSpPr>
        <p:spPr>
          <a:xfrm>
            <a:off x="4292600" y="3556000"/>
            <a:ext cx="61214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codex_slide5_problem_card"/>
          <p:cNvSpPr/>
          <p:nvPr/>
        </p:nvSpPr>
        <p:spPr>
          <a:xfrm>
            <a:off x="1498600" y="3937000"/>
            <a:ext cx="28702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codex_slide5_problem_card_bar"/>
          <p:cNvSpPr/>
          <p:nvPr/>
        </p:nvSpPr>
        <p:spPr>
          <a:xfrm>
            <a:off x="1498600" y="3937000"/>
            <a:ext cx="2870200" cy="63500"/>
          </a:xfrm>
          <a:prstGeom prst="rect">
            <a:avLst/>
          </a:prstGeom>
          <a:solidFill>
            <a:srgbClr val="0060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codex_slide5_text"/>
          <p:cNvSpPr txBox="1"/>
          <p:nvPr/>
        </p:nvSpPr>
        <p:spPr>
          <a:xfrm>
            <a:off x="1676400" y="4127500"/>
            <a:ext cx="571500" cy="27368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4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en-US" sz="1400" b="1">
              <a:solidFill>
                <a:srgbClr val="006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codex_slide5_text"/>
          <p:cNvSpPr txBox="1"/>
          <p:nvPr/>
        </p:nvSpPr>
        <p:spPr>
          <a:xfrm>
            <a:off x="2235200" y="4127500"/>
            <a:ext cx="19558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性能是否提升？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codex_slide5_text"/>
          <p:cNvSpPr txBox="1"/>
          <p:nvPr/>
        </p:nvSpPr>
        <p:spPr>
          <a:xfrm>
            <a:off x="1727200" y="4508500"/>
            <a:ext cx="2413000" cy="39687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相较于固定时间常数的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LIF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，是否能够带来更稳定的训练回报。</a:t>
            </a:r>
            <a:endParaRPr lang="zh-CN" altLang="en-US" sz="1100">
              <a:solidFill>
                <a:srgbClr val="46556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codex_slide5_problem_card"/>
          <p:cNvSpPr/>
          <p:nvPr/>
        </p:nvSpPr>
        <p:spPr>
          <a:xfrm>
            <a:off x="4699000" y="3937000"/>
            <a:ext cx="28702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codex_slide5_problem_card_bar"/>
          <p:cNvSpPr/>
          <p:nvPr/>
        </p:nvSpPr>
        <p:spPr>
          <a:xfrm>
            <a:off x="4699000" y="3937000"/>
            <a:ext cx="2870200" cy="63500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codex_slide5_text"/>
          <p:cNvSpPr txBox="1"/>
          <p:nvPr/>
        </p:nvSpPr>
        <p:spPr>
          <a:xfrm>
            <a:off x="4876800" y="4127500"/>
            <a:ext cx="571500" cy="27368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400" b="1">
                <a:solidFill>
                  <a:srgbClr val="1987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en-US" sz="1400" b="1">
              <a:solidFill>
                <a:srgbClr val="1987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codex_slide5_text"/>
          <p:cNvSpPr txBox="1"/>
          <p:nvPr/>
        </p:nvSpPr>
        <p:spPr>
          <a:xfrm>
            <a:off x="5435600" y="4127500"/>
            <a:ext cx="19558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时间常数如何演化？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codex_slide5_text"/>
          <p:cNvSpPr txBox="1"/>
          <p:nvPr/>
        </p:nvSpPr>
        <p:spPr>
          <a:xfrm>
            <a:off x="4927600" y="4508500"/>
            <a:ext cx="2413000" cy="39687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成功训练中，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时间常数是否呈现可解释的层间调节。</a:t>
            </a:r>
            <a:endParaRPr lang="zh-CN" altLang="en-US" sz="1100">
              <a:solidFill>
                <a:srgbClr val="46556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codex_slide5_problem_card"/>
          <p:cNvSpPr/>
          <p:nvPr/>
        </p:nvSpPr>
        <p:spPr>
          <a:xfrm>
            <a:off x="7899400" y="3937000"/>
            <a:ext cx="28702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codex_slide5_problem_card_bar"/>
          <p:cNvSpPr/>
          <p:nvPr/>
        </p:nvSpPr>
        <p:spPr>
          <a:xfrm>
            <a:off x="7899400" y="3937000"/>
            <a:ext cx="2870200" cy="63500"/>
          </a:xfrm>
          <a:prstGeom prst="rect">
            <a:avLst/>
          </a:prstGeom>
          <a:solidFill>
            <a:srgbClr val="D17B2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codex_slide5_text"/>
          <p:cNvSpPr txBox="1"/>
          <p:nvPr/>
        </p:nvSpPr>
        <p:spPr>
          <a:xfrm>
            <a:off x="8077200" y="4127500"/>
            <a:ext cx="571500" cy="27368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400" b="1">
                <a:solidFill>
                  <a:srgbClr val="D1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en-US" sz="1400" b="1">
              <a:solidFill>
                <a:srgbClr val="D17B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codex_slide5_text"/>
          <p:cNvSpPr txBox="1"/>
          <p:nvPr/>
        </p:nvSpPr>
        <p:spPr>
          <a:xfrm>
            <a:off x="8636000" y="4127500"/>
            <a:ext cx="19558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内部机制是否不同？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codex_slide5_text"/>
          <p:cNvSpPr txBox="1"/>
          <p:nvPr/>
        </p:nvSpPr>
        <p:spPr>
          <a:xfrm>
            <a:off x="8128000" y="4508500"/>
            <a:ext cx="2413000" cy="39687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在相近性能条件下，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是否形成显著不同的内部训练机制。</a:t>
            </a:r>
            <a:endParaRPr lang="zh-CN" altLang="en-US" sz="1100">
              <a:solidFill>
                <a:srgbClr val="46556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3644900"/>
            <a:ext cx="8255000" cy="12065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强化学习与连续控制、脉冲神经网络、</a:t>
            </a:r>
            <a:r>
              <a:rPr lang="en-US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神经元</a:t>
            </a:r>
            <a:endParaRPr lang="en-US" altLang="zh-CN" sz="12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代理梯度与</a:t>
            </a:r>
            <a:r>
              <a:rPr lang="en-US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STBP</a:t>
            </a:r>
            <a:r>
              <a:rPr lang="zh-CN" altLang="en-US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Proxy Target </a:t>
            </a:r>
            <a:r>
              <a:rPr lang="zh-CN" altLang="en-US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</a:t>
            </a:r>
            <a:endParaRPr lang="zh-CN" altLang="en-US" sz="12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相关理论与方法基础</a:t>
            </a:r>
            <a:endParaRPr lang="zh-CN"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formula_plain_white_background"/>
          <p:cNvSpPr/>
          <p:nvPr/>
        </p:nvSpPr>
        <p:spPr>
          <a:xfrm>
            <a:off x="566928" y="548640"/>
            <a:ext cx="11622024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5CAB"/>
                </a:solidFill>
                <a:latin typeface="微软雅黑" panose="020B0503020204020204" pitchFamily="34" charset="-122"/>
              </a:rPr>
              <a:t>脉冲神经网络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3000" y="1042415"/>
            <a:ext cx="100584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3000" y="1042415"/>
            <a:ext cx="73152" cy="155448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07592" y="1188719"/>
            <a:ext cx="132588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脉冲触发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1" name="Picture 60" descr="snn_spi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245" y="1719580"/>
            <a:ext cx="3247390" cy="73533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1143000" y="2886710"/>
            <a:ext cx="10058400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3000" y="2880360"/>
            <a:ext cx="73152" cy="27889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07592" y="3026664"/>
            <a:ext cx="12344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LIF 递推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5" name="Picture 64" descr="snn_lif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637" y="3429000"/>
            <a:ext cx="3915988" cy="2075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formula_plain_white_background"/>
          <p:cNvSpPr/>
          <p:nvPr/>
        </p:nvSpPr>
        <p:spPr>
          <a:xfrm>
            <a:off x="566928" y="548640"/>
            <a:ext cx="11622024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5CAB"/>
                </a:solidFill>
                <a:latin typeface="微软雅黑" panose="020B0503020204020204" pitchFamily="34" charset="-122"/>
              </a:rPr>
              <a:t>PLIF 神经元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3000" y="932688"/>
            <a:ext cx="100584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3000" y="932688"/>
            <a:ext cx="73152" cy="14173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07592" y="1078992"/>
            <a:ext cx="141732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膜电位更新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1" name="Picture 60" descr="plif_upd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225" y="1542415"/>
            <a:ext cx="4613275" cy="64262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1143000" y="2615184"/>
            <a:ext cx="1005840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3000" y="2615184"/>
            <a:ext cx="73152" cy="150876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07592" y="2761488"/>
            <a:ext cx="1627632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时间常数映射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5" name="Picture 64" descr="plif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148" y="3163824"/>
            <a:ext cx="3464966" cy="795527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1143000" y="4407408"/>
            <a:ext cx="100584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43000" y="4407408"/>
            <a:ext cx="73152" cy="132588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07592" y="4553712"/>
            <a:ext cx="12344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初始对齐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9" name="Picture 68" descr="plif_i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732" y="4956048"/>
            <a:ext cx="1701799" cy="612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formula_plain_white_background"/>
          <p:cNvSpPr/>
          <p:nvPr/>
        </p:nvSpPr>
        <p:spPr>
          <a:xfrm>
            <a:off x="566928" y="548640"/>
            <a:ext cx="11622024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5CAB"/>
                </a:solidFill>
                <a:latin typeface="微软雅黑" panose="020B0503020204020204" pitchFamily="34" charset="-122"/>
              </a:rPr>
              <a:t>代理梯度与 STBP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3000" y="1097280"/>
            <a:ext cx="100584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3000" y="1097280"/>
            <a:ext cx="73152" cy="214884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07592" y="1243584"/>
            <a:ext cx="16916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代理梯度窗口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1" name="Picture 60" descr="surrogat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975" y="1769745"/>
            <a:ext cx="4478655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Proxy Target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proxy_target_framework_formula_imagegen_v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915" y="704215"/>
            <a:ext cx="10482580" cy="5900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Proxy Target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proxy_target_algorithm_crop_fu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0" y="698500"/>
            <a:ext cx="7835900" cy="5842000"/>
          </a:xfrm>
          <a:prstGeom prst="rect">
            <a:avLst/>
          </a:prstGeom>
          <a:ln w="6350">
            <a:solidFill>
              <a:srgbClr val="C0C0C0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2755900" y="6604000"/>
            <a:ext cx="7835900" cy="114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图源：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Xu </a:t>
            </a:r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(2025)</a:t>
            </a:r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，第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</a:t>
            </a:r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Algorithm 1</a:t>
            </a:r>
            <a:endParaRPr lang="en-US" altLang="zh-CN" sz="75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codex_link_back_slide19">
            <a:hlinkClick r:id="rId2" action="ppaction://hlinksldjump"/>
          </p:cNvPr>
          <p:cNvSpPr/>
          <p:nvPr/>
        </p:nvSpPr>
        <p:spPr>
          <a:xfrm>
            <a:off x="10642600" y="6146800"/>
            <a:ext cx="1320800" cy="304800"/>
          </a:xfrm>
          <a:prstGeom prst="roundRect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01600" tIns="25400" rIns="101600" rtlCol="0" anchor="ctr"/>
          <a:p>
            <a:pPr algn="ctr"/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106545"/>
            <a:ext cx="8255000" cy="283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整体网络结构</a:t>
            </a:r>
            <a:endParaRPr lang="zh-CN" altLang="en-US" sz="12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28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脉冲</a:t>
            </a:r>
            <a:r>
              <a:rPr lang="en-US" altLang="zh-CN" sz="28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Actor </a:t>
            </a:r>
            <a:r>
              <a:rPr lang="zh-CN" altLang="en-US" sz="28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</a:t>
            </a:r>
            <a:endParaRPr lang="zh-CN" altLang="en-US" sz="28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03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整体网络结构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25578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SNN_Actor_Network_Chinese_No_TD3" descr="snn_actor_network_structure_chinese_no_td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935" y="932815"/>
            <a:ext cx="10246360" cy="576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114165"/>
            <a:ext cx="8255000" cy="267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实验设置与比较对象</a:t>
            </a:r>
            <a:endParaRPr lang="zh-CN" altLang="en-US" sz="11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altLang="en-US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实验设计与配置说明</a:t>
            </a:r>
            <a:endParaRPr lang="zh-CN" altLang="en-US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实验设置与比较对象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04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33960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mujoco_env_table_4_1_body_onl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939800"/>
            <a:ext cx="10414000" cy="3053080"/>
          </a:xfrm>
          <a:prstGeom prst="rect">
            <a:avLst/>
          </a:prstGeom>
        </p:spPr>
      </p:pic>
      <p:sp>
        <p:nvSpPr>
          <p:cNvPr id="4" name="codex_slide15_separator"/>
          <p:cNvSpPr/>
          <p:nvPr/>
        </p:nvSpPr>
        <p:spPr>
          <a:xfrm>
            <a:off x="1219200" y="4165600"/>
            <a:ext cx="10312400" cy="20320"/>
          </a:xfrm>
          <a:prstGeom prst="rect">
            <a:avLst/>
          </a:prstGeom>
          <a:solidFill>
            <a:srgbClr val="BC2A2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codex_slide15_block"/>
          <p:cNvSpPr/>
          <p:nvPr/>
        </p:nvSpPr>
        <p:spPr>
          <a:xfrm>
            <a:off x="1270000" y="4419600"/>
            <a:ext cx="48260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codex_slide15_block_bar"/>
          <p:cNvSpPr/>
          <p:nvPr/>
        </p:nvSpPr>
        <p:spPr>
          <a:xfrm>
            <a:off x="1270000" y="4419600"/>
            <a:ext cx="4826000" cy="63500"/>
          </a:xfrm>
          <a:prstGeom prst="rect">
            <a:avLst/>
          </a:prstGeom>
          <a:solidFill>
            <a:srgbClr val="83060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codex_slide15_text"/>
          <p:cNvSpPr txBox="1"/>
          <p:nvPr/>
        </p:nvSpPr>
        <p:spPr>
          <a:xfrm>
            <a:off x="1473200" y="4635500"/>
            <a:ext cx="4419600" cy="30416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zh-CN" altLang="en-US" sz="1600" b="1">
                <a:solidFill>
                  <a:srgbClr val="83060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评估协议</a:t>
            </a:r>
            <a:endParaRPr lang="zh-CN" altLang="en-US" sz="1600" b="1">
              <a:solidFill>
                <a:srgbClr val="83060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codex_slide15_text"/>
          <p:cNvSpPr txBox="1"/>
          <p:nvPr/>
        </p:nvSpPr>
        <p:spPr>
          <a:xfrm>
            <a:off x="1498600" y="5029200"/>
            <a:ext cx="4368800" cy="8223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en-US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随机种子：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10991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22297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33431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75183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95718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评估频率：每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5000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个环境交互步评估一次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评估方式：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episode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平均回报；最终性能取训练过程最大评估回报</a:t>
            </a:r>
            <a:endParaRPr lang="zh-CN" altLang="en-US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codex_slide15_block"/>
          <p:cNvSpPr/>
          <p:nvPr/>
        </p:nvSpPr>
        <p:spPr>
          <a:xfrm>
            <a:off x="6502400" y="4419600"/>
            <a:ext cx="48260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codex_slide15_block_bar"/>
          <p:cNvSpPr/>
          <p:nvPr/>
        </p:nvSpPr>
        <p:spPr>
          <a:xfrm>
            <a:off x="6502400" y="4419600"/>
            <a:ext cx="4826000" cy="63500"/>
          </a:xfrm>
          <a:prstGeom prst="rect">
            <a:avLst/>
          </a:prstGeom>
          <a:solidFill>
            <a:srgbClr val="0060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codex_slide15_text"/>
          <p:cNvSpPr txBox="1"/>
          <p:nvPr/>
        </p:nvSpPr>
        <p:spPr>
          <a:xfrm>
            <a:off x="6705600" y="4635500"/>
            <a:ext cx="4419600" cy="30416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en-US" altLang="en-US" sz="16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Actor </a:t>
            </a:r>
            <a:r>
              <a:rPr lang="zh-CN" altLang="en-US" sz="16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对照对象</a:t>
            </a:r>
            <a:endParaRPr lang="zh-CN" altLang="en-US" sz="1600" b="1">
              <a:solidFill>
                <a:srgbClr val="006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codex_slide15_text"/>
          <p:cNvSpPr txBox="1"/>
          <p:nvPr/>
        </p:nvSpPr>
        <p:spPr>
          <a:xfrm>
            <a:off x="6731000" y="5029200"/>
            <a:ext cx="4368800" cy="1019810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en-US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背景参照：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ANN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CLIF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核心比较：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PT-LIF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PT-PLIF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保持一致：编码、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Spike MLP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、解码、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critic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Proxy Target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endParaRPr lang="zh-CN" altLang="en-US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025583"/>
            <a:ext cx="8255000" cy="4451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总体实验结果展示、学习失败现象的复现与缓解</a:t>
            </a:r>
            <a:endParaRPr lang="en-US" altLang="zh-CN" sz="11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STBP </a:t>
            </a:r>
            <a:r>
              <a:rPr lang="zh-CN" altLang="en-US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</a:t>
            </a:r>
            <a:r>
              <a:rPr lang="zh-CN" altLang="en-US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消失与放电状态诊断、</a:t>
            </a:r>
            <a:r>
              <a:rPr lang="en-US" altLang="zh-CN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时间常数演化、机制近似等价性分析</a:t>
            </a:r>
            <a:endParaRPr lang="zh-CN" altLang="en-US" sz="11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  <a:endParaRPr lang="zh-CN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总体实验结果展示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960120" y="804672"/>
            <a:ext cx="10652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algorithm_max_ev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20859"/>
            <a:ext cx="10287000" cy="484488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总体实验结果展示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960120" y="804672"/>
            <a:ext cx="10652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algorithm_lear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0258" y="914400"/>
            <a:ext cx="5772484" cy="5257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学习失败现象的复现和缓解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960120" y="868680"/>
            <a:ext cx="7360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plif_hopper_seed10991_repeat_lear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504706"/>
            <a:ext cx="7086600" cy="3949172"/>
          </a:xfrm>
          <a:prstGeom prst="rect">
            <a:avLst/>
          </a:prstGeom>
        </p:spPr>
      </p:pic>
      <p:sp>
        <p:nvSpPr>
          <p:cNvPr id="111" name="Rounded Rectangle 110"/>
          <p:cNvSpPr/>
          <p:nvPr/>
        </p:nvSpPr>
        <p:spPr>
          <a:xfrm>
            <a:off x="8321040" y="12344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321040" y="1234440"/>
            <a:ext cx="82296" cy="1508760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22208" y="1353312"/>
            <a:ext cx="24231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66AA"/>
                </a:solidFill>
                <a:latin typeface="微软雅黑" panose="020B0503020204020204" pitchFamily="34" charset="-122"/>
              </a:rPr>
              <a:t>默认失败组</a:t>
            </a:r>
            <a:endParaRPr sz="1700" b="1">
              <a:solidFill>
                <a:srgbClr val="0066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522208" y="1709928"/>
            <a:ext cx="2395728" cy="9418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policy_freq=2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长期停留低回报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最大评估回报约 239.393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321040" y="30632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321040" y="3063240"/>
            <a:ext cx="82296" cy="1508760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2208" y="3182112"/>
            <a:ext cx="24231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66AA"/>
                </a:solidFill>
                <a:latin typeface="微软雅黑" panose="020B0503020204020204" pitchFamily="34" charset="-122"/>
              </a:rPr>
              <a:t>调整组</a:t>
            </a:r>
            <a:endParaRPr sz="1700" b="1">
              <a:solidFill>
                <a:srgbClr val="0066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522208" y="3538728"/>
            <a:ext cx="2395728" cy="9418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policy_freq=4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进入高回报区间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最大评估回报约 3563.550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dex_link_to_slide11">
            <a:hlinkClick r:id="rId2" action="ppaction://hlinksldjump"/>
          </p:cNvPr>
          <p:cNvSpPr/>
          <p:nvPr/>
        </p:nvSpPr>
        <p:spPr>
          <a:xfrm>
            <a:off x="8559800" y="5994400"/>
            <a:ext cx="2413000" cy="330200"/>
          </a:xfrm>
          <a:prstGeom prst="roundRect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01600" tIns="25400" rIns="101600" rtlCol="0" anchor="ctr"/>
          <a:p>
            <a:pPr algn="ctr"/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policy_freq </a:t>
            </a:r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STBP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消失与放电状态诊断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49808" y="804672"/>
            <a:ext cx="11045952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plif_stbp_gradient_collap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1853459"/>
            <a:ext cx="5440680" cy="33796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8" name="阈值前后放电状态诊断图" descr="plif_stbp_spik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537098"/>
            <a:ext cx="5440680" cy="40124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STBP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消失与放电状态诊断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49808" y="804672"/>
            <a:ext cx="11045952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plif_default_surrogate_window_earl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1879600"/>
            <a:ext cx="5293995" cy="2632075"/>
          </a:xfrm>
          <a:prstGeom prst="rect">
            <a:avLst/>
          </a:prstGeom>
        </p:spPr>
      </p:pic>
      <p:pic>
        <p:nvPicPr>
          <p:cNvPr id="6" name="图片 5" descr="plif_success_20260530_204900_surrogate_win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5" y="1737995"/>
            <a:ext cx="5576570" cy="2773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STBP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消失的公式解释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49808" y="804672"/>
            <a:ext cx="11045952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350" y="948055"/>
            <a:ext cx="8686800" cy="952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" y="2132330"/>
            <a:ext cx="9610725" cy="10858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" y="3218180"/>
            <a:ext cx="10591800" cy="10668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625" y="4331335"/>
            <a:ext cx="9286875" cy="1838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时间常数的层间演化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87" name="单图边框"/>
          <p:cNvSpPr/>
          <p:nvPr/>
        </p:nvSpPr>
        <p:spPr>
          <a:xfrm>
            <a:off x="2926080" y="804672"/>
            <a:ext cx="658368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plif_tau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4270" y="914400"/>
            <a:ext cx="5727300" cy="5257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时间常数的层间演化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87" name="单图边框"/>
          <p:cNvSpPr/>
          <p:nvPr/>
        </p:nvSpPr>
        <p:spPr>
          <a:xfrm>
            <a:off x="960120" y="804545"/>
            <a:ext cx="9813290" cy="46812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025" y="1106805"/>
            <a:ext cx="6965315" cy="1173480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590" y="2335530"/>
            <a:ext cx="7397750" cy="2896870"/>
          </a:xfrm>
          <a:prstGeom prst="rect">
            <a:avLst/>
          </a:prstGeom>
        </p:spPr>
      </p:pic>
      <p:sp>
        <p:nvSpPr>
          <p:cNvPr id="3" name="统计说明"/>
          <p:cNvSpPr txBox="1"/>
          <p:nvPr/>
        </p:nvSpPr>
        <p:spPr>
          <a:xfrm>
            <a:off x="1016000" y="5943600"/>
            <a:ext cx="10700385" cy="4724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Hopper-v4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，随机种子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10991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policy_freq=4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，五次重复运行。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tau_l 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最终值取首次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末次观测；早期为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train_it&lt;=20000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endParaRPr lang="zh-CN" altLang="en-US" sz="1200">
              <a:solidFill>
                <a:srgbClr val="5C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后期为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train_it&gt;=700000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；有效保留项按对应窗口内</a:t>
            </a:r>
            <a:r>
              <a:rPr lang="en-US" altLang="zh-CN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tau_l </a:t>
            </a:r>
            <a:r>
              <a:rPr lang="zh-CN" altLang="en-US" sz="120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与阈值后放电率均值计算。</a:t>
            </a:r>
            <a:endParaRPr lang="zh-CN" altLang="en-US" sz="1200">
              <a:solidFill>
                <a:srgbClr val="5C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成功机制的近似等价性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60000" y="805000"/>
            <a:ext cx="10980000" cy="5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if_plif_success_mechanism_pai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964565"/>
            <a:ext cx="5585460" cy="52349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Picture 65" descr="table_5_3_no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280" y="1459865"/>
            <a:ext cx="4914265" cy="3795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114165"/>
            <a:ext cx="3006090" cy="267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150" b="0">
                <a:solidFill>
                  <a:srgbClr val="FFFFFF"/>
                </a:solidFill>
                <a:latin typeface="微软雅黑" panose="020B0503020204020204" pitchFamily="34" charset="-122"/>
              </a:rPr>
              <a:t>全文总结与主要结论、研究不足、未来展望</a:t>
            </a:r>
            <a:endParaRPr lang="zh-CN" sz="11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3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sz="34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>
                <a:solidFill>
                  <a:srgbClr val="FFFFFF"/>
                </a:solidFill>
              </a:rPr>
              <a:t>06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0">
                <a:solidFill>
                  <a:srgbClr val="0070C0"/>
                </a:solidFill>
                <a:latin typeface="微软雅黑" panose="020B0503020204020204" pitchFamily="34" charset="-122"/>
              </a:rPr>
              <a:t>全文总结与主要结论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5072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0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52" name="Rounded Rectangle 51"/>
          <p:cNvSpPr/>
          <p:nvPr>
            <p:custDataLst>
              <p:tags r:id="rId2"/>
            </p:custDataLst>
          </p:nvPr>
        </p:nvSpPr>
        <p:spPr>
          <a:xfrm>
            <a:off x="972820" y="1213485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>
            <p:custDataLst>
              <p:tags r:id="rId3"/>
            </p:custDataLst>
          </p:nvPr>
        </p:nvSpPr>
        <p:spPr>
          <a:xfrm>
            <a:off x="1119124" y="1368933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4" name="TextBox 53"/>
          <p:cNvSpPr txBox="1"/>
          <p:nvPr>
            <p:custDataLst>
              <p:tags r:id="rId4"/>
            </p:custDataLst>
          </p:nvPr>
        </p:nvSpPr>
        <p:spPr>
          <a:xfrm>
            <a:off x="1567180" y="1369631"/>
            <a:ext cx="2130552" cy="30035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443730"/>
                </a:solidFill>
                <a:latin typeface="微软雅黑" panose="020B0503020204020204" pitchFamily="34" charset="-122"/>
              </a:rPr>
              <a:t>整体表现接近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>
            <p:custDataLst>
              <p:tags r:id="rId5"/>
            </p:custDataLst>
          </p:nvPr>
        </p:nvSpPr>
        <p:spPr>
          <a:xfrm>
            <a:off x="1173988" y="2152015"/>
            <a:ext cx="2478024" cy="4546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443730"/>
                </a:solidFill>
                <a:latin typeface="微软雅黑" panose="020B0503020204020204" pitchFamily="34" charset="-122"/>
              </a:rPr>
              <a:t>PT-PLIF 与 PT-LIF 未形成稳定、普适的性能优势差距。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Rounded Rectangle 55"/>
          <p:cNvSpPr/>
          <p:nvPr>
            <p:custDataLst>
              <p:tags r:id="rId6"/>
            </p:custDataLst>
          </p:nvPr>
        </p:nvSpPr>
        <p:spPr>
          <a:xfrm>
            <a:off x="4145787" y="1213485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>
            <p:custDataLst>
              <p:tags r:id="rId7"/>
            </p:custDataLst>
          </p:nvPr>
        </p:nvSpPr>
        <p:spPr>
          <a:xfrm>
            <a:off x="4292092" y="1368933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>
            <p:custDataLst>
              <p:tags r:id="rId8"/>
            </p:custDataLst>
          </p:nvPr>
        </p:nvSpPr>
        <p:spPr>
          <a:xfrm>
            <a:off x="4740148" y="1369631"/>
            <a:ext cx="2130552" cy="30035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443730"/>
                </a:solidFill>
                <a:latin typeface="微软雅黑" panose="020B0503020204020204" pitchFamily="34" charset="-122"/>
              </a:rPr>
              <a:t>失败模式诊断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>
            <p:custDataLst>
              <p:tags r:id="rId9"/>
            </p:custDataLst>
          </p:nvPr>
        </p:nvSpPr>
        <p:spPr>
          <a:xfrm>
            <a:off x="4346955" y="2152015"/>
            <a:ext cx="2478024" cy="4546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443730"/>
                </a:solidFill>
                <a:latin typeface="微软雅黑" panose="020B0503020204020204" pitchFamily="34" charset="-122"/>
              </a:rPr>
              <a:t>Hopper-v4 失败组表现为“前向仍放电、反向已失效”。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Rounded Rectangle 59"/>
          <p:cNvSpPr/>
          <p:nvPr>
            <p:custDataLst>
              <p:tags r:id="rId10"/>
            </p:custDataLst>
          </p:nvPr>
        </p:nvSpPr>
        <p:spPr>
          <a:xfrm>
            <a:off x="7318756" y="1213485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>
            <p:custDataLst>
              <p:tags r:id="rId11"/>
            </p:custDataLst>
          </p:nvPr>
        </p:nvSpPr>
        <p:spPr>
          <a:xfrm>
            <a:off x="7465060" y="1368933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2" name="TextBox 61"/>
          <p:cNvSpPr txBox="1"/>
          <p:nvPr>
            <p:custDataLst>
              <p:tags r:id="rId12"/>
            </p:custDataLst>
          </p:nvPr>
        </p:nvSpPr>
        <p:spPr>
          <a:xfrm>
            <a:off x="7913116" y="1369631"/>
            <a:ext cx="2130552" cy="30035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443730"/>
                </a:solidFill>
                <a:latin typeface="微软雅黑" panose="020B0503020204020204" pitchFamily="34" charset="-122"/>
              </a:rPr>
              <a:t>更新频率缓解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>
            <p:custDataLst>
              <p:tags r:id="rId13"/>
            </p:custDataLst>
          </p:nvPr>
        </p:nvSpPr>
        <p:spPr>
          <a:xfrm>
            <a:off x="7519924" y="2052002"/>
            <a:ext cx="2478024" cy="65468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443730"/>
                </a:solidFill>
                <a:latin typeface="微软雅黑" panose="020B0503020204020204" pitchFamily="34" charset="-122"/>
              </a:rPr>
              <a:t>调整 actor 更新间隔后，代表性案例能够从低回报停滞转向有效学习。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Rounded Rectangle 63"/>
          <p:cNvSpPr/>
          <p:nvPr>
            <p:custDataLst>
              <p:tags r:id="rId14"/>
            </p:custDataLst>
          </p:nvPr>
        </p:nvSpPr>
        <p:spPr>
          <a:xfrm>
            <a:off x="2554732" y="3910965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>
            <p:custDataLst>
              <p:tags r:id="rId15"/>
            </p:custDataLst>
          </p:nvPr>
        </p:nvSpPr>
        <p:spPr>
          <a:xfrm>
            <a:off x="2701036" y="4066413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>
            <p:custDataLst>
              <p:tags r:id="rId16"/>
            </p:custDataLst>
          </p:nvPr>
        </p:nvSpPr>
        <p:spPr>
          <a:xfrm>
            <a:off x="3149091" y="4067112"/>
            <a:ext cx="2130552" cy="30035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443730"/>
                </a:solidFill>
                <a:latin typeface="微软雅黑" panose="020B0503020204020204" pitchFamily="34" charset="-122"/>
              </a:rPr>
              <a:t>时间常数分化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>
            <p:custDataLst>
              <p:tags r:id="rId17"/>
            </p:custDataLst>
          </p:nvPr>
        </p:nvSpPr>
        <p:spPr>
          <a:xfrm>
            <a:off x="2755900" y="4849495"/>
            <a:ext cx="2478024" cy="4546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443730"/>
                </a:solidFill>
                <a:latin typeface="微软雅黑" panose="020B0503020204020204" pitchFamily="34" charset="-122"/>
              </a:rPr>
              <a:t>隐藏层更强调历史信息保留，动作输出层更服务于即时动作读出。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Rounded Rectangle 67"/>
          <p:cNvSpPr/>
          <p:nvPr>
            <p:custDataLst>
              <p:tags r:id="rId18"/>
            </p:custDataLst>
          </p:nvPr>
        </p:nvSpPr>
        <p:spPr>
          <a:xfrm>
            <a:off x="5727700" y="3910965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>
            <p:custDataLst>
              <p:tags r:id="rId19"/>
            </p:custDataLst>
          </p:nvPr>
        </p:nvSpPr>
        <p:spPr>
          <a:xfrm>
            <a:off x="5874004" y="4066413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0" name="TextBox 69"/>
          <p:cNvSpPr txBox="1"/>
          <p:nvPr>
            <p:custDataLst>
              <p:tags r:id="rId20"/>
            </p:custDataLst>
          </p:nvPr>
        </p:nvSpPr>
        <p:spPr>
          <a:xfrm>
            <a:off x="6322060" y="4067112"/>
            <a:ext cx="2130552" cy="30035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443730"/>
                </a:solidFill>
                <a:latin typeface="微软雅黑" panose="020B0503020204020204" pitchFamily="34" charset="-122"/>
              </a:rPr>
              <a:t>机制近似等价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TextBox 70"/>
          <p:cNvSpPr txBox="1"/>
          <p:nvPr>
            <p:custDataLst>
              <p:tags r:id="rId21"/>
            </p:custDataLst>
          </p:nvPr>
        </p:nvSpPr>
        <p:spPr>
          <a:xfrm>
            <a:off x="5928868" y="4849495"/>
            <a:ext cx="2478024" cy="4546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443730"/>
                </a:solidFill>
                <a:latin typeface="微软雅黑" panose="020B0503020204020204" pitchFamily="34" charset="-122"/>
              </a:rPr>
              <a:t>成功训练状态下，LIF 与 PLIF 多数诊断指标保持高度一致。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2" name="6.1 merged lead"/>
          <p:cNvSpPr txBox="1"/>
          <p:nvPr/>
        </p:nvSpPr>
        <p:spPr>
          <a:xfrm>
            <a:off x="1161288" y="546705"/>
            <a:ext cx="9966960" cy="335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5C4F47"/>
                </a:solidFill>
                <a:latin typeface="微软雅黑" panose="020B0503020204020204" pitchFamily="34" charset="-122"/>
              </a:rPr>
              <a:t>围绕 Proxy Target + TD3 下 LIF 与 PLIF 脉冲 actor 的性能表现和训练机制，形成以下主要结论。</a:t>
            </a:r>
            <a:endParaRPr sz="1300">
              <a:solidFill>
                <a:srgbClr val="5C4F4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>
                <a:solidFill>
                  <a:srgbClr val="FFFFFF"/>
                </a:solidFill>
              </a:rPr>
              <a:t>06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>
                <a:solidFill>
                  <a:srgbClr val="0066B3"/>
                </a:solidFill>
                <a:latin typeface="微软雅黑" panose="020B0503020204020204" pitchFamily="34" charset="-122"/>
              </a:rPr>
              <a:t>研究不足与未来展望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5072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0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52" name="Rounded Rectangle 51"/>
          <p:cNvSpPr/>
          <p:nvPr>
            <p:custDataLst>
              <p:tags r:id="rId2"/>
            </p:custDataLst>
          </p:nvPr>
        </p:nvSpPr>
        <p:spPr>
          <a:xfrm>
            <a:off x="1051560" y="114300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>
            <p:custDataLst>
              <p:tags r:id="rId3"/>
            </p:custDataLst>
          </p:nvPr>
        </p:nvSpPr>
        <p:spPr>
          <a:xfrm>
            <a:off x="1197863" y="129844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4" name="TextBox 53"/>
          <p:cNvSpPr txBox="1"/>
          <p:nvPr>
            <p:custDataLst>
              <p:tags r:id="rId4"/>
            </p:custDataLst>
          </p:nvPr>
        </p:nvSpPr>
        <p:spPr>
          <a:xfrm>
            <a:off x="1645919" y="128930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实验覆盖范围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>
            <p:custDataLst>
              <p:tags r:id="rId5"/>
            </p:custDataLst>
          </p:nvPr>
        </p:nvSpPr>
        <p:spPr>
          <a:xfrm>
            <a:off x="1252728" y="1709928"/>
            <a:ext cx="4169663" cy="12893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0">
                <a:solidFill>
                  <a:srgbClr val="2A3038"/>
                </a:solidFill>
                <a:latin typeface="微软雅黑" panose="020B0503020204020204" pitchFamily="34" charset="-122"/>
              </a:rPr>
              <a:t>扩展任务、网络规模和随机种子数量，进一步检验 LIF 与 PLIF 近似等价结论的稳健性。</a:t>
            </a:r>
            <a:endParaRPr sz="135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Rounded Rectangle 55"/>
          <p:cNvSpPr/>
          <p:nvPr>
            <p:custDataLst>
              <p:tags r:id="rId6"/>
            </p:custDataLst>
          </p:nvPr>
        </p:nvSpPr>
        <p:spPr>
          <a:xfrm>
            <a:off x="6263640" y="114300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>
            <p:custDataLst>
              <p:tags r:id="rId7"/>
            </p:custDataLst>
          </p:nvPr>
        </p:nvSpPr>
        <p:spPr>
          <a:xfrm>
            <a:off x="6409944" y="129844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>
            <p:custDataLst>
              <p:tags r:id="rId8"/>
            </p:custDataLst>
          </p:nvPr>
        </p:nvSpPr>
        <p:spPr>
          <a:xfrm>
            <a:off x="6858000" y="128930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失败机制推广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>
            <p:custDataLst>
              <p:tags r:id="rId9"/>
            </p:custDataLst>
          </p:nvPr>
        </p:nvSpPr>
        <p:spPr>
          <a:xfrm>
            <a:off x="6464807" y="2119630"/>
            <a:ext cx="4169663" cy="4699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r>
              <a:rPr sz="1350"/>
              <a:t>在更多环境中验证 Hopper-v4 所揭示的梯度消失现象及其触发条件。</a:t>
            </a:r>
            <a:endParaRPr sz="1350"/>
          </a:p>
        </p:txBody>
      </p:sp>
      <p:sp>
        <p:nvSpPr>
          <p:cNvPr id="60" name="Rounded Rectangle 59"/>
          <p:cNvSpPr/>
          <p:nvPr>
            <p:custDataLst>
              <p:tags r:id="rId10"/>
            </p:custDataLst>
          </p:nvPr>
        </p:nvSpPr>
        <p:spPr>
          <a:xfrm>
            <a:off x="1051560" y="370332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>
            <p:custDataLst>
              <p:tags r:id="rId11"/>
            </p:custDataLst>
          </p:nvPr>
        </p:nvSpPr>
        <p:spPr>
          <a:xfrm>
            <a:off x="1197863" y="385876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2" name="TextBox 61"/>
          <p:cNvSpPr txBox="1"/>
          <p:nvPr>
            <p:custDataLst>
              <p:tags r:id="rId12"/>
            </p:custDataLst>
          </p:nvPr>
        </p:nvSpPr>
        <p:spPr>
          <a:xfrm>
            <a:off x="1645919" y="384962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超参数交互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>
            <p:custDataLst>
              <p:tags r:id="rId13"/>
            </p:custDataLst>
          </p:nvPr>
        </p:nvSpPr>
        <p:spPr>
          <a:xfrm>
            <a:off x="1252728" y="4270248"/>
            <a:ext cx="4169663" cy="12893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0">
                <a:solidFill>
                  <a:srgbClr val="2A3038"/>
                </a:solidFill>
                <a:latin typeface="微软雅黑" panose="020B0503020204020204" pitchFamily="34" charset="-122"/>
              </a:rPr>
              <a:t>系统分析 proxy_lr、policy_freq、actor 学习率和 PLIF 时间常数学习率之间的耦合关系。</a:t>
            </a:r>
            <a:endParaRPr sz="135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Rounded Rectangle 63"/>
          <p:cNvSpPr/>
          <p:nvPr>
            <p:custDataLst>
              <p:tags r:id="rId14"/>
            </p:custDataLst>
          </p:nvPr>
        </p:nvSpPr>
        <p:spPr>
          <a:xfrm>
            <a:off x="6263640" y="370332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>
            <p:custDataLst>
              <p:tags r:id="rId15"/>
            </p:custDataLst>
          </p:nvPr>
        </p:nvSpPr>
        <p:spPr>
          <a:xfrm>
            <a:off x="6409944" y="385876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>
            <p:custDataLst>
              <p:tags r:id="rId16"/>
            </p:custDataLst>
          </p:nvPr>
        </p:nvSpPr>
        <p:spPr>
          <a:xfrm>
            <a:off x="6858000" y="384962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部署效率评估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>
            <p:custDataLst>
              <p:tags r:id="rId17"/>
            </p:custDataLst>
          </p:nvPr>
        </p:nvSpPr>
        <p:spPr>
          <a:xfrm>
            <a:off x="6464807" y="4270248"/>
            <a:ext cx="4169663" cy="12893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0">
                <a:solidFill>
                  <a:srgbClr val="2A3038"/>
                </a:solidFill>
                <a:latin typeface="微软雅黑" panose="020B0503020204020204" pitchFamily="34" charset="-122"/>
              </a:rPr>
              <a:t>比较平均放电率、事件稀疏性、推理延迟和理论能耗，推进神经形态硬件适配。</a:t>
            </a:r>
            <a:endParaRPr sz="135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0"/>
          <p:cNvSpPr txBox="1"/>
          <p:nvPr/>
        </p:nvSpPr>
        <p:spPr>
          <a:xfrm>
            <a:off x="2805366" y="2524432"/>
            <a:ext cx="6882173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sz="3200" b="1">
                <a:solidFill>
                  <a:srgbClr val="00528A"/>
                </a:solidFill>
                <a:latin typeface="方正正大黑简体"/>
              </a:rPr>
              <a:t>谢谢各位老师</a:t>
            </a:r>
            <a:endParaRPr sz="3200" b="1">
              <a:solidFill>
                <a:srgbClr val="00528A"/>
              </a:solidFill>
              <a:latin typeface="方正正大黑简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472" y="535252"/>
            <a:ext cx="1528713" cy="15312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021580" y="3613785"/>
            <a:ext cx="2560320" cy="33147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0">
                <a:solidFill>
                  <a:srgbClr val="626C76"/>
                </a:solidFill>
                <a:latin typeface="微软雅黑" panose="020B0503020204020204" pitchFamily="34" charset="-122"/>
              </a:rPr>
              <a:t>敬请批评指正</a:t>
            </a:r>
            <a:endParaRPr b="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2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3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4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5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6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7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8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9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0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1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2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3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4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5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6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7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8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19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20.xml><?xml version="1.0" encoding="utf-8"?>
<p:tagLst xmlns:p="http://schemas.openxmlformats.org/presentationml/2006/main">
  <p:tag name="KSO_WM_DIAGRAM_VIRTUALLY_FRAME" val="{&quot;height&quot;:359.99992125984255,&quot;left&quot;:76.6,&quot;top&quot;:95.55,&quot;width&quot;:726.4800000000001}"/>
</p:tagLst>
</file>

<file path=ppt/tags/tag21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2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3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4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5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6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7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8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29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0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1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2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3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4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5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6.xml><?xml version="1.0" encoding="utf-8"?>
<p:tagLst xmlns:p="http://schemas.openxmlformats.org/presentationml/2006/main">
  <p:tag name="KSO_WM_DIAGRAM_VIRTUALLY_FRAME" val="{&quot;height&quot;:356.4,&quot;left&quot;:82.8,&quot;top&quot;:90,&quot;width&quot;:770.4}"/>
</p:tagLst>
</file>

<file path=ppt/tags/tag37.xml><?xml version="1.0" encoding="utf-8"?>
<p:tagLst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 118">
      <a:dk1>
        <a:sysClr val="windowText" lastClr="000000"/>
      </a:dk1>
      <a:lt1>
        <a:sysClr val="window" lastClr="FFFFFF"/>
      </a:lt1>
      <a:dk2>
        <a:srgbClr val="5A6378"/>
      </a:dk2>
      <a:lt2>
        <a:srgbClr val="7F7F7F"/>
      </a:lt2>
      <a:accent1>
        <a:srgbClr val="0070C0"/>
      </a:accent1>
      <a:accent2>
        <a:srgbClr val="009AD0"/>
      </a:accent2>
      <a:accent3>
        <a:srgbClr val="0070C0"/>
      </a:accent3>
      <a:accent4>
        <a:srgbClr val="009AD0"/>
      </a:accent4>
      <a:accent5>
        <a:srgbClr val="0070C0"/>
      </a:accent5>
      <a:accent6>
        <a:srgbClr val="009AD0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2132</Words>
  <Application>WPS 演示</Application>
  <PresentationFormat>宽屏</PresentationFormat>
  <Paragraphs>524</Paragraphs>
  <Slides>29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方正正大黑简体</vt:lpstr>
      <vt:lpstr>黑体</vt:lpstr>
      <vt:lpstr>方正正粗黑简体</vt:lpstr>
      <vt:lpstr>方正正粗黑简体</vt:lpstr>
      <vt:lpstr>等线</vt:lpstr>
      <vt:lpstr>Meiryo UI</vt:lpstr>
      <vt:lpstr>Yu Gothic UI</vt:lpstr>
      <vt:lpstr>Calibri</vt:lpstr>
      <vt:lpstr>Meiryo UI</vt:lpstr>
      <vt:lpstr>AMGDT</vt:lpstr>
      <vt:lpstr>Arial Unicode MS</vt:lpstr>
      <vt:lpstr>Arial</vt:lpstr>
      <vt:lpstr>等线 Light</vt:lpstr>
      <vt:lpstr>1_Office 主题​​</vt:lpstr>
      <vt:lpstr>2_Office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Mercy</cp:lastModifiedBy>
  <cp:revision>75</cp:revision>
  <dcterms:created xsi:type="dcterms:W3CDTF">2018-12-01T15:35:00Z</dcterms:created>
  <dcterms:modified xsi:type="dcterms:W3CDTF">2026-05-31T07:36:28Z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82E2BD8C678F437682E59394EE3052AC_12</vt:lpwstr>
  </property>
  <property fmtid="{D5CDD505-2E9C-101B-9397-08002B2CF9AE}" pid="3" name="KSOProductBuildVer">
    <vt:lpwstr>2052-12.1.0.26375</vt:lpwstr>
  </property>
</Properties>
</file>